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61" r:id="rId6"/>
    <p:sldId id="262" r:id="rId7"/>
    <p:sldId id="418" r:id="rId8"/>
    <p:sldId id="419" r:id="rId9"/>
    <p:sldId id="429" r:id="rId10"/>
    <p:sldId id="430" r:id="rId11"/>
    <p:sldId id="420" r:id="rId12"/>
    <p:sldId id="263" r:id="rId13"/>
    <p:sldId id="421" r:id="rId14"/>
    <p:sldId id="264" r:id="rId15"/>
    <p:sldId id="265" r:id="rId16"/>
    <p:sldId id="284" r:id="rId17"/>
    <p:sldId id="286" r:id="rId18"/>
    <p:sldId id="287" r:id="rId19"/>
    <p:sldId id="432" r:id="rId20"/>
    <p:sldId id="424" r:id="rId21"/>
    <p:sldId id="433" r:id="rId22"/>
    <p:sldId id="273" r:id="rId23"/>
    <p:sldId id="268" r:id="rId24"/>
    <p:sldId id="313" r:id="rId25"/>
    <p:sldId id="269" r:id="rId26"/>
    <p:sldId id="270" r:id="rId27"/>
    <p:sldId id="271" r:id="rId28"/>
    <p:sldId id="434" r:id="rId29"/>
  </p:sldIdLst>
  <p:sldSz cx="9144000" cy="6858000" type="screen4x3"/>
  <p:notesSz cx="7010400" cy="92964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BC705DC-5D6A-41F2-8CCB-E4D72B94E113}">
          <p14:sldIdLst>
            <p14:sldId id="256"/>
            <p14:sldId id="261"/>
            <p14:sldId id="262"/>
            <p14:sldId id="418"/>
            <p14:sldId id="419"/>
            <p14:sldId id="429"/>
            <p14:sldId id="430"/>
            <p14:sldId id="420"/>
            <p14:sldId id="263"/>
            <p14:sldId id="421"/>
            <p14:sldId id="264"/>
            <p14:sldId id="265"/>
            <p14:sldId id="284"/>
            <p14:sldId id="286"/>
            <p14:sldId id="287"/>
            <p14:sldId id="432"/>
            <p14:sldId id="424"/>
            <p14:sldId id="433"/>
            <p14:sldId id="273"/>
            <p14:sldId id="268"/>
            <p14:sldId id="313"/>
            <p14:sldId id="269"/>
            <p14:sldId id="270"/>
            <p14:sldId id="271"/>
            <p14:sldId id="4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0600"/>
    <a:srgbClr val="0000FF"/>
    <a:srgbClr val="E75798"/>
    <a:srgbClr val="D00600"/>
    <a:srgbClr val="E61C0E"/>
    <a:srgbClr val="FC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79" autoAdjust="0"/>
  </p:normalViewPr>
  <p:slideViewPr>
    <p:cSldViewPr>
      <p:cViewPr varScale="1">
        <p:scale>
          <a:sx n="79" d="100"/>
          <a:sy n="79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71BFA950-4D9B-49C1-88BC-71CD835B4ACB}" type="datetimeFigureOut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5F7101-7CBB-40B9-BA2A-FB97EE2A556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6DC33ECA-595C-4C90-93AC-B3C8AC50E9E0}" type="datetimeFigureOut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BCC7E6-2CF8-46C3-9098-1DABD60058C4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306FE17-8C9C-45FE-A0CC-E1BE1F6A9DB4}" type="datetime1">
              <a:rPr lang="zh-TW" altLang="en-US" smtClean="0"/>
              <a:pPr eaLnBrk="1" hangingPunct="1">
                <a:spcBef>
                  <a:spcPct val="0"/>
                </a:spcBef>
              </a:pPr>
              <a:t>2026/5/27</a:t>
            </a:fld>
            <a:endParaRPr lang="zh-TW" altLang="en-US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067A20B-1C54-437C-B8C8-900806B3B756}" type="slidenum">
              <a:rPr lang="zh-TW" altLang="en-US"/>
              <a:pPr eaLnBrk="1" hangingPunct="1">
                <a:spcBef>
                  <a:spcPct val="0"/>
                </a:spcBef>
              </a:pPr>
              <a:t>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98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57066" indent="-291179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64717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30604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96491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fld id="{550F2036-0CFA-4F19-9585-F765E4EEDFDB}" type="slidenum">
              <a:rPr kumimoji="0" lang="zh-TW" altLang="en-US" smtClean="0">
                <a:ea typeface="標楷體" pitchFamily="65" charset="-120"/>
              </a:rPr>
              <a:pPr eaLnBrk="1" hangingPunct="1"/>
              <a:t>2</a:t>
            </a:fld>
            <a:endParaRPr kumimoji="0" lang="zh-TW" altLang="en-US"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6808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44016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CD423D62-69AB-4776-9D27-A481614011A3}" type="datetime1">
              <a:rPr lang="zh-TW" altLang="en-US"/>
              <a:pPr>
                <a:defRPr/>
              </a:pPr>
              <a:t>2026/5/27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fld id="{44A231B3-5E4C-4D1B-95D4-C7E3DBA05F1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7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680D2-7FDF-4135-982B-42BBCB547B39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0B2432-A20E-4E26-94E6-104434F1F06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2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D114F-B2F7-49D6-84C2-BEBF7C5739ED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8C9091-334D-4D2D-81D2-8FCC512423D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26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2379-5E08-4DCD-8D58-414798F05313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CFAE55-6585-4179-99E2-ACF000E4A3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82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EBB0F-14A2-4190-86A3-9636FD7A888E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A4EB1E-05BF-4B7D-BD16-48CA8D78EE4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94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4DBA1-126E-41A1-A531-A26B3F9257A6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10F7A5-06E4-4075-B789-BD63EF0624B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4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334A2-72CE-4E4F-B739-E3603839837D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A3647F-B5CB-4C0D-A009-B847CBF56D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0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EEA13-B897-446A-9E05-35D1B64E177F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009B8-C727-446A-BB14-3FF14188E03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4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96E2F-0C21-4EB4-8701-E162043E43C4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18E4B5-6C1A-476F-A70A-20E87078FF2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1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DDC33-D226-41A8-9FBF-FDBA94F444A2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8670BE-EA1A-47B4-A2A3-6C3BD5E6F1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7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B1025-4FFF-40E2-A260-42D6146E33EA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3ED241-944F-41C1-99C2-C0CEA3245B4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67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A5CD9D-9D6D-4889-90A9-F8A0134ABA04}" type="datetime1">
              <a:rPr lang="zh-TW" altLang="en-US"/>
              <a:pPr>
                <a:defRPr/>
              </a:pPr>
              <a:t>2026/5/27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537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7F7F7F"/>
                </a:solidFill>
              </a:defRPr>
            </a:lvl1pPr>
          </a:lstStyle>
          <a:p>
            <a:fld id="{D419ED81-ED36-436D-8B37-3EE69C92156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70204" y="1080269"/>
            <a:ext cx="879433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defRPr/>
            </a:pPr>
            <a:r>
              <a:rPr lang="en-US" altLang="zh-TW" sz="3200" dirty="0">
                <a:solidFill>
                  <a:srgbClr val="000000"/>
                </a:solidFill>
                <a:latin typeface="+mj-lt"/>
              </a:rPr>
              <a:t>20251002</a:t>
            </a:r>
            <a:r>
              <a:rPr lang="zh-TW" altLang="en-US" sz="32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+mj-lt"/>
              </a:rPr>
              <a:t>F45</a:t>
            </a:r>
            <a:r>
              <a:rPr lang="zh-TW" altLang="en-US" sz="32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+mj-lt"/>
              </a:rPr>
              <a:t>Run C05 unload transfer </a:t>
            </a:r>
            <a:r>
              <a:rPr lang="zh-TW" altLang="en-US" sz="3200" dirty="0">
                <a:solidFill>
                  <a:srgbClr val="000000"/>
                </a:solidFill>
                <a:latin typeface="+mj-lt"/>
              </a:rPr>
              <a:t>破片</a:t>
            </a:r>
            <a:endParaRPr kumimoji="1" lang="zh-TW" altLang="zh-TW" sz="320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11163" y="188913"/>
            <a:ext cx="696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1. 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選定團隊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Form the Team</a:t>
            </a:r>
            <a:endParaRPr lang="zh-TW" altLang="en-US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411163" y="908720"/>
            <a:ext cx="319523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+mn-lt"/>
              </a:rPr>
              <a:t>團隊負責人</a:t>
            </a:r>
            <a:r>
              <a:rPr lang="en-US" altLang="zh-TW" sz="1600" dirty="0">
                <a:latin typeface="+mn-lt"/>
              </a:rPr>
              <a:t>Team Leader/Dept.: </a:t>
            </a:r>
            <a:endParaRPr lang="en-US" altLang="zh-TW" b="1" dirty="0">
              <a:latin typeface="+mn-lt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11163" y="1290208"/>
            <a:ext cx="26870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+mn-lt"/>
              </a:rPr>
              <a:t>成員</a:t>
            </a:r>
            <a:r>
              <a:rPr lang="en-US" altLang="zh-TW" sz="1600" dirty="0">
                <a:latin typeface="+mn-lt"/>
              </a:rPr>
              <a:t>Team Member/Dept.: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94E63A-D9FF-C2A8-BB88-AC0AABA1A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803872"/>
              </p:ext>
            </p:extLst>
          </p:nvPr>
        </p:nvGraphicFramePr>
        <p:xfrm>
          <a:off x="789343" y="1873451"/>
          <a:ext cx="7943494" cy="16491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67806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382336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6471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Department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Position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S210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邱敏知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Diffusion Engineering Process Section  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ENGINEER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蔡孟哲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Diffusion Engineering Equipment Section  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TECHNOLOGY ASSISTANT MANAGER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5991941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黃建華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Diffusion Engineering Equipment Section  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PRINCIPAL ENGINEER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188316253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林韋志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Diffusion Engineering Equipment Section  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PRINCIPAL ENGINEER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138524950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歐陽以橫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Diffusion Engineering Equipment Section  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SENIOR ENGINEER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249694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13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138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705395013"/>
              </p:ext>
            </p:extLst>
          </p:nvPr>
        </p:nvGraphicFramePr>
        <p:xfrm>
          <a:off x="341313" y="1358769"/>
          <a:ext cx="8685212" cy="5130571"/>
        </p:xfrm>
        <a:graphic>
          <a:graphicData uri="http://schemas.openxmlformats.org/drawingml/2006/table">
            <a:tbl>
              <a:tblPr/>
              <a:tblGrid>
                <a:gridCol w="104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7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What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Run C05 unload C1 wafer to cassette, ENCODER MISMATCH 19 WAFR_RT—ROTATE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Robot 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撞擊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C4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stage cassette, 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導致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C4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slot1~15 wafer broken </a:t>
                      </a: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Where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F45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When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2025/10/02</a:t>
                      </a: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3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Extent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Total impact: 5lot/103pcs, scrap:15pcs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C4 #11~25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wafer broken, other PTC impact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OM check other stage by PTC impact</a:t>
                      </a: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206515" y="335579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D0CDB485-AE25-D6FC-550D-FC5E770A25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194321"/>
              </p:ext>
            </p:extLst>
          </p:nvPr>
        </p:nvGraphicFramePr>
        <p:xfrm>
          <a:off x="1475657" y="4437112"/>
          <a:ext cx="54006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743542" imgH="1266761" progId="Excel.Sheet.12">
                  <p:embed/>
                </p:oleObj>
              </mc:Choice>
              <mc:Fallback>
                <p:oleObj name="Worksheet" r:id="rId3" imgW="5743542" imgH="12667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7" y="4437112"/>
                        <a:ext cx="5400600" cy="1266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A133CB8-383A-2B23-8D6A-B54585CDD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353" y="3472195"/>
            <a:ext cx="1682496" cy="223723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35C4D6F-8CBF-187E-1CAC-56686E1734D2}"/>
              </a:ext>
            </a:extLst>
          </p:cNvPr>
          <p:cNvSpPr txBox="1"/>
          <p:nvPr/>
        </p:nvSpPr>
        <p:spPr>
          <a:xfrm>
            <a:off x="7460594" y="5229200"/>
            <a:ext cx="41549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空</a:t>
            </a:r>
            <a:endParaRPr lang="en-US" dirty="0"/>
          </a:p>
        </p:txBody>
      </p:sp>
      <p:sp>
        <p:nvSpPr>
          <p:cNvPr id="5" name="爆炸: 八角 4">
            <a:extLst>
              <a:ext uri="{FF2B5EF4-FFF2-40B4-BE49-F238E27FC236}">
                <a16:creationId xmlns:a16="http://schemas.microsoft.com/office/drawing/2014/main" id="{7B7D8AF8-ACE6-7B00-1DE3-685875B7A8A8}"/>
              </a:ext>
            </a:extLst>
          </p:cNvPr>
          <p:cNvSpPr/>
          <p:nvPr/>
        </p:nvSpPr>
        <p:spPr>
          <a:xfrm>
            <a:off x="7308304" y="4449287"/>
            <a:ext cx="487506" cy="591263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/>
          <a:lstStyle/>
          <a:p>
            <a:r>
              <a:rPr lang="en-US" altLang="zh-TW" dirty="0"/>
              <a:t>Run cards at impact station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4BB6F7-93A4-B60C-1688-3B251658592C}"/>
              </a:ext>
            </a:extLst>
          </p:cNvPr>
          <p:cNvSpPr/>
          <p:nvPr/>
        </p:nvSpPr>
        <p:spPr>
          <a:xfrm>
            <a:off x="464488" y="1104709"/>
            <a:ext cx="3747472" cy="49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A061TI, G061DI,  G0414I, A0412I</a:t>
            </a:r>
          </a:p>
        </p:txBody>
      </p:sp>
      <p:pic>
        <p:nvPicPr>
          <p:cNvPr id="6" name="圖片 5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865B4F76-CCFF-8126-D777-C7A4BA43A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89" y="1916832"/>
            <a:ext cx="8183117" cy="3591426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E3E497C-2D9E-95B9-F508-104DE919057F}"/>
              </a:ext>
            </a:extLst>
          </p:cNvPr>
          <p:cNvSpPr/>
          <p:nvPr/>
        </p:nvSpPr>
        <p:spPr>
          <a:xfrm>
            <a:off x="323528" y="5013176"/>
            <a:ext cx="8496944" cy="21602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7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/>
          <a:lstStyle/>
          <a:p>
            <a:r>
              <a:rPr lang="en-US" altLang="zh-TW" dirty="0"/>
              <a:t>Run cards at impact station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4BB6F7-93A4-B60C-1688-3B251658592C}"/>
              </a:ext>
            </a:extLst>
          </p:cNvPr>
          <p:cNvSpPr/>
          <p:nvPr/>
        </p:nvSpPr>
        <p:spPr>
          <a:xfrm>
            <a:off x="464488" y="1104709"/>
            <a:ext cx="939160" cy="49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V0418I</a:t>
            </a:r>
          </a:p>
        </p:txBody>
      </p:sp>
      <p:pic>
        <p:nvPicPr>
          <p:cNvPr id="5" name="圖片 4" descr="一張含有 文字, 數字, 螢幕擷取畫面, 字型 的圖片&#10;&#10;自動產生的描述">
            <a:extLst>
              <a:ext uri="{FF2B5EF4-FFF2-40B4-BE49-F238E27FC236}">
                <a16:creationId xmlns:a16="http://schemas.microsoft.com/office/drawing/2014/main" id="{E6BBA8AA-074F-E9FB-68D6-A9DC3D361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25" y="1699971"/>
            <a:ext cx="8230749" cy="3458058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095AB665-1A81-1A8A-1180-9C9922E73C36}"/>
              </a:ext>
            </a:extLst>
          </p:cNvPr>
          <p:cNvSpPr/>
          <p:nvPr/>
        </p:nvSpPr>
        <p:spPr>
          <a:xfrm>
            <a:off x="323528" y="4633382"/>
            <a:ext cx="8496944" cy="21602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2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9035618-D3CC-3907-BAAF-129637CE90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C2812AF-59A4-2EC8-55EA-A873C6B2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332656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8C30A1-466C-3EA6-6224-0EA2DC337F5A}"/>
              </a:ext>
            </a:extLst>
          </p:cNvPr>
          <p:cNvSpPr txBox="1"/>
          <p:nvPr/>
        </p:nvSpPr>
        <p:spPr>
          <a:xfrm>
            <a:off x="419140" y="1124744"/>
            <a:ext cx="7708329" cy="1155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​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un C05 unload C1 slot 11~15 (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倒數第三抓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obot assembly 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轉錯邊撞破 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C4 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slot 01~15</a:t>
            </a:r>
            <a:endParaRPr lang="en-US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T-BAWL mapping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正常，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 code </a:t>
            </a:r>
            <a:r>
              <a:rPr 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servo control alarm 17 WEL5 UD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26DE6760-DBD1-5EE4-0353-B2FA70C98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28" y="3129984"/>
            <a:ext cx="3840000" cy="28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6A7037CB-9768-97B5-62A7-AAD0BBBA3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456" y="3129984"/>
            <a:ext cx="3840000" cy="28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箭號: 弧形右彎 23">
            <a:extLst>
              <a:ext uri="{FF2B5EF4-FFF2-40B4-BE49-F238E27FC236}">
                <a16:creationId xmlns:a16="http://schemas.microsoft.com/office/drawing/2014/main" id="{BB508781-BD43-03DB-D7D2-2317B9F506B0}"/>
              </a:ext>
            </a:extLst>
          </p:cNvPr>
          <p:cNvSpPr/>
          <p:nvPr/>
        </p:nvSpPr>
        <p:spPr>
          <a:xfrm rot="747716">
            <a:off x="1667142" y="3899792"/>
            <a:ext cx="476962" cy="1079648"/>
          </a:xfrm>
          <a:prstGeom prst="curved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箭號: 弧形左彎 24">
            <a:extLst>
              <a:ext uri="{FF2B5EF4-FFF2-40B4-BE49-F238E27FC236}">
                <a16:creationId xmlns:a16="http://schemas.microsoft.com/office/drawing/2014/main" id="{28BDE868-ED94-9E95-C1E6-EA75F8552FDB}"/>
              </a:ext>
            </a:extLst>
          </p:cNvPr>
          <p:cNvSpPr/>
          <p:nvPr/>
        </p:nvSpPr>
        <p:spPr>
          <a:xfrm rot="1031259">
            <a:off x="3909089" y="4297316"/>
            <a:ext cx="498945" cy="1098721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0819E86-AD36-5549-3283-6FBB973FC7B2}"/>
              </a:ext>
            </a:extLst>
          </p:cNvPr>
          <p:cNvSpPr txBox="1"/>
          <p:nvPr/>
        </p:nvSpPr>
        <p:spPr>
          <a:xfrm>
            <a:off x="777075" y="5738270"/>
            <a:ext cx="296940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Robot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轉錯邊撞擊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C4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594F257-E5FB-57D4-D7A8-5295EC758703}"/>
              </a:ext>
            </a:extLst>
          </p:cNvPr>
          <p:cNvSpPr txBox="1"/>
          <p:nvPr/>
        </p:nvSpPr>
        <p:spPr>
          <a:xfrm>
            <a:off x="740078" y="2492896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正常：逆時針轉</a:t>
            </a:r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異常：順時針轉</a:t>
            </a:r>
            <a:endParaRPr 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4635F35-448B-FDE6-8F37-A285FF2767CE}"/>
              </a:ext>
            </a:extLst>
          </p:cNvPr>
          <p:cNvSpPr txBox="1"/>
          <p:nvPr/>
        </p:nvSpPr>
        <p:spPr>
          <a:xfrm>
            <a:off x="4827403" y="5738269"/>
            <a:ext cx="1889941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當下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alarm 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 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627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73148F7-AC4D-4E0B-41A0-20D7486AD3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E5E943C-B20E-0F40-A8B5-00406B787DF1}"/>
              </a:ext>
            </a:extLst>
          </p:cNvPr>
          <p:cNvSpPr txBox="1"/>
          <p:nvPr/>
        </p:nvSpPr>
        <p:spPr>
          <a:xfrm>
            <a:off x="413332" y="1340768"/>
            <a:ext cx="5382344" cy="416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RMS log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，當機前無發生其餘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</a:t>
            </a:r>
            <a:endParaRPr lang="en-US" sz="16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EBCA1-B65E-03C7-7A49-15B515852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332656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pic>
        <p:nvPicPr>
          <p:cNvPr id="12" name="圖片 11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F288997A-A9A7-3934-3A98-79CE3848B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99" y="2099355"/>
            <a:ext cx="6623866" cy="8002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63134D0-868A-108C-496D-7D5112A313A2}"/>
              </a:ext>
            </a:extLst>
          </p:cNvPr>
          <p:cNvSpPr/>
          <p:nvPr/>
        </p:nvSpPr>
        <p:spPr>
          <a:xfrm>
            <a:off x="751669" y="2512873"/>
            <a:ext cx="6651895" cy="4163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4F99762-0C5A-BD74-B1F0-05903A501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69" y="3241758"/>
            <a:ext cx="7872854" cy="285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399" y="1177561"/>
            <a:ext cx="79504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C4-25102550 #11~25 broken on C4 stage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OM check C4 lot by PTC impact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C1/C2/C3/C5 by PTC impact</a:t>
            </a:r>
          </a:p>
          <a:p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0D8C14-ECA2-5D7F-257D-CC2C8C20C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543" y="2636912"/>
            <a:ext cx="36484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EBB0586-CEB7-99A2-DDAF-1E5301193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2636912"/>
            <a:ext cx="3648405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38CFD77B-E11D-F280-BAFC-32376F06A789}"/>
              </a:ext>
            </a:extLst>
          </p:cNvPr>
          <p:cNvSpPr/>
          <p:nvPr/>
        </p:nvSpPr>
        <p:spPr>
          <a:xfrm>
            <a:off x="899592" y="3140968"/>
            <a:ext cx="3096344" cy="1656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3DC99-5489-5CA5-8F27-AED87212E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332656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3006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297190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Is/Is Not Analysis table 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釐清問題</a:t>
            </a:r>
            <a:r>
              <a:rPr lang="en-US" altLang="zh-TW" sz="2000" dirty="0"/>
              <a:t>):</a:t>
            </a:r>
            <a:endParaRPr lang="zh-TW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86838C9-599C-4541-07D5-A44566FFF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387801"/>
              </p:ext>
            </p:extLst>
          </p:nvPr>
        </p:nvGraphicFramePr>
        <p:xfrm>
          <a:off x="395536" y="1988840"/>
          <a:ext cx="8229600" cy="2413456"/>
        </p:xfrm>
        <a:graphic>
          <a:graphicData uri="http://schemas.openxmlformats.org/drawingml/2006/table">
            <a:tbl>
              <a:tblPr/>
              <a:tblGrid>
                <a:gridCol w="1071716">
                  <a:extLst>
                    <a:ext uri="{9D8B030D-6E8A-4147-A177-3AD203B41FA5}">
                      <a16:colId xmlns:a16="http://schemas.microsoft.com/office/drawing/2014/main" val="956814940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507271339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773316266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420031959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820988365"/>
                    </a:ext>
                  </a:extLst>
                </a:gridCol>
              </a:tblGrid>
              <a:tr h="4783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 Not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Difference/Conclusion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669038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wafer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M/W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0" lvl="1" indent="0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Wafer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不同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557674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wafer broken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wafer no broken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 rotate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異常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撞擊</a:t>
                      </a:r>
                      <a:b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cassette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內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wafer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714792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B-Tunnel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E-Tunnel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184150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FAB-Tunnel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不同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881455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F45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F44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機台不同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38079"/>
                  </a:ext>
                </a:extLst>
              </a:tr>
              <a:tr h="300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time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2025/10/2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Before 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2025/5/15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時間不同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56506"/>
                  </a:ext>
                </a:extLst>
              </a:tr>
              <a:tr h="300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other 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Wafer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有無遭受碰撞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824573"/>
                  </a:ext>
                </a:extLst>
              </a:tr>
            </a:tbl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98880D9A-7F28-903E-7453-BF47AB398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332656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011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96525" y="548680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C75610-FE7E-962C-4647-875213F8A665}"/>
              </a:ext>
            </a:extLst>
          </p:cNvPr>
          <p:cNvSpPr txBox="1"/>
          <p:nvPr/>
        </p:nvSpPr>
        <p:spPr>
          <a:xfrm>
            <a:off x="791580" y="1772816"/>
            <a:ext cx="7560840" cy="2201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OM check wafer by PTC impact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All do scrubber clean then SOG-REBAKING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After SOG-REBAKING C1~C5 to AOI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5X check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AOI def%&lt;5%, pass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Total impact:15pcs (25102550 #11~25 broken)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61A82A1-1B53-1405-987D-6F44CB2C9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119614"/>
              </p:ext>
            </p:extLst>
          </p:nvPr>
        </p:nvGraphicFramePr>
        <p:xfrm>
          <a:off x="547210" y="4581128"/>
          <a:ext cx="8229600" cy="1442364"/>
        </p:xfrm>
        <a:graphic>
          <a:graphicData uri="http://schemas.openxmlformats.org/drawingml/2006/table">
            <a:tbl>
              <a:tblPr/>
              <a:tblGrid>
                <a:gridCol w="1047007">
                  <a:extLst>
                    <a:ext uri="{9D8B030D-6E8A-4147-A177-3AD203B41FA5}">
                      <a16:colId xmlns:a16="http://schemas.microsoft.com/office/drawing/2014/main" val="207442676"/>
                    </a:ext>
                  </a:extLst>
                </a:gridCol>
                <a:gridCol w="364583">
                  <a:extLst>
                    <a:ext uri="{9D8B030D-6E8A-4147-A177-3AD203B41FA5}">
                      <a16:colId xmlns:a16="http://schemas.microsoft.com/office/drawing/2014/main" val="2787371099"/>
                    </a:ext>
                  </a:extLst>
                </a:gridCol>
                <a:gridCol w="535968">
                  <a:extLst>
                    <a:ext uri="{9D8B030D-6E8A-4147-A177-3AD203B41FA5}">
                      <a16:colId xmlns:a16="http://schemas.microsoft.com/office/drawing/2014/main" val="280859079"/>
                    </a:ext>
                  </a:extLst>
                </a:gridCol>
                <a:gridCol w="327190">
                  <a:extLst>
                    <a:ext uri="{9D8B030D-6E8A-4147-A177-3AD203B41FA5}">
                      <a16:colId xmlns:a16="http://schemas.microsoft.com/office/drawing/2014/main" val="1117794257"/>
                    </a:ext>
                  </a:extLst>
                </a:gridCol>
                <a:gridCol w="663728">
                  <a:extLst>
                    <a:ext uri="{9D8B030D-6E8A-4147-A177-3AD203B41FA5}">
                      <a16:colId xmlns:a16="http://schemas.microsoft.com/office/drawing/2014/main" val="2414876501"/>
                    </a:ext>
                  </a:extLst>
                </a:gridCol>
                <a:gridCol w="922363">
                  <a:extLst>
                    <a:ext uri="{9D8B030D-6E8A-4147-A177-3AD203B41FA5}">
                      <a16:colId xmlns:a16="http://schemas.microsoft.com/office/drawing/2014/main" val="4060496328"/>
                    </a:ext>
                  </a:extLst>
                </a:gridCol>
                <a:gridCol w="673076">
                  <a:extLst>
                    <a:ext uri="{9D8B030D-6E8A-4147-A177-3AD203B41FA5}">
                      <a16:colId xmlns:a16="http://schemas.microsoft.com/office/drawing/2014/main" val="2488716138"/>
                    </a:ext>
                  </a:extLst>
                </a:gridCol>
                <a:gridCol w="364583">
                  <a:extLst>
                    <a:ext uri="{9D8B030D-6E8A-4147-A177-3AD203B41FA5}">
                      <a16:colId xmlns:a16="http://schemas.microsoft.com/office/drawing/2014/main" val="981817042"/>
                    </a:ext>
                  </a:extLst>
                </a:gridCol>
                <a:gridCol w="286680">
                  <a:extLst>
                    <a:ext uri="{9D8B030D-6E8A-4147-A177-3AD203B41FA5}">
                      <a16:colId xmlns:a16="http://schemas.microsoft.com/office/drawing/2014/main" val="3364622899"/>
                    </a:ext>
                  </a:extLst>
                </a:gridCol>
                <a:gridCol w="785255">
                  <a:extLst>
                    <a:ext uri="{9D8B030D-6E8A-4147-A177-3AD203B41FA5}">
                      <a16:colId xmlns:a16="http://schemas.microsoft.com/office/drawing/2014/main" val="692261784"/>
                    </a:ext>
                  </a:extLst>
                </a:gridCol>
                <a:gridCol w="925480">
                  <a:extLst>
                    <a:ext uri="{9D8B030D-6E8A-4147-A177-3AD203B41FA5}">
                      <a16:colId xmlns:a16="http://schemas.microsoft.com/office/drawing/2014/main" val="1521988654"/>
                    </a:ext>
                  </a:extLst>
                </a:gridCol>
                <a:gridCol w="1333687">
                  <a:extLst>
                    <a:ext uri="{9D8B030D-6E8A-4147-A177-3AD203B41FA5}">
                      <a16:colId xmlns:a16="http://schemas.microsoft.com/office/drawing/2014/main" val="3921109319"/>
                    </a:ext>
                  </a:extLst>
                </a:gridCol>
              </a:tblGrid>
              <a:tr h="206052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上貨時間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機台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程式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Lot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Product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Route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Oper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Qty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AOI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Def count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Note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556426"/>
                  </a:ext>
                </a:extLst>
              </a:tr>
              <a:tr h="20605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2025/10/2 08:56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F45C05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25361390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RC5D66     A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A061TI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9605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0.7~1.32%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46~98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Pass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0005"/>
                  </a:ext>
                </a:extLst>
              </a:tr>
              <a:tr h="20605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2025/10/2 08:56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F45C05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25361830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RA5E01     B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G061DI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9605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1.01~2.09%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54~152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Pass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898779"/>
                  </a:ext>
                </a:extLst>
              </a:tr>
              <a:tr h="20605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2025/10/2 08:56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F45C05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25102570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Y5Y08Y     W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G0414I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9605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0.56~1.09%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198~466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Pass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07233"/>
                  </a:ext>
                </a:extLst>
              </a:tr>
              <a:tr h="41210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2025/10/2 08:56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F45C05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25102550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Y5Y08Y     J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A0412I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9605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0.78~3.16%</a:t>
                      </a:r>
                    </a:p>
                  </a:txBody>
                  <a:tcPr marL="9366" marR="9366" marT="936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318~823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Under defect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#11~25 broken scrap</a:t>
                      </a:r>
                      <a:b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Other pass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607437"/>
                  </a:ext>
                </a:extLst>
              </a:tr>
              <a:tr h="20605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2025/10/2 08:56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F45C05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25309030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Y47K4Y     A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V0418I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9755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data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data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Mulit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chip, pass</a:t>
                      </a:r>
                    </a:p>
                  </a:txBody>
                  <a:tcPr marL="9366" marR="9366" marT="93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85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990869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96525" y="548680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244958"/>
              </p:ext>
            </p:extLst>
          </p:nvPr>
        </p:nvGraphicFramePr>
        <p:xfrm>
          <a:off x="701570" y="1919104"/>
          <a:ext cx="8075238" cy="1005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0460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21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/>
                        <a:t>25102550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#11~25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破片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Scrap 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李治中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2025/10/2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2025/10/2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#11~25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wafer broken scrap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Other do SCR clean AOI check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Check def%:0.78~3.16%, pass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7210" y="150981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3.1 </a:t>
            </a:r>
            <a:r>
              <a:rPr lang="zh-TW" altLang="en-US" sz="1600" b="1" dirty="0">
                <a:solidFill>
                  <a:srgbClr val="0000FF"/>
                </a:solidFill>
              </a:rPr>
              <a:t>異常產品 </a:t>
            </a:r>
            <a:r>
              <a:rPr lang="en-US" altLang="zh-TW" sz="1600" b="1" dirty="0">
                <a:solidFill>
                  <a:srgbClr val="0000FF"/>
                </a:solidFill>
              </a:rPr>
              <a:t>(Defect Lots)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210" y="350100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3.2 </a:t>
            </a:r>
            <a:r>
              <a:rPr lang="zh-TW" altLang="en-US" sz="1600" b="1" dirty="0">
                <a:solidFill>
                  <a:srgbClr val="0000FF"/>
                </a:solidFill>
              </a:rPr>
              <a:t>波及產品 </a:t>
            </a:r>
            <a:r>
              <a:rPr lang="en-US" altLang="zh-TW" sz="1600" b="1" dirty="0">
                <a:solidFill>
                  <a:srgbClr val="0000FF"/>
                </a:solidFill>
              </a:rPr>
              <a:t>(Impact Lots)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921098"/>
              </p:ext>
            </p:extLst>
          </p:nvPr>
        </p:nvGraphicFramePr>
        <p:xfrm>
          <a:off x="701570" y="3933873"/>
          <a:ext cx="8075238" cy="9353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0460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325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69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/>
                        <a:t>NA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NA</a:t>
                      </a:r>
                      <a:endParaRPr lang="zh-TW" altLang="en-US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NA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NA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NA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NA</a:t>
                      </a:r>
                      <a:endParaRPr lang="zh-TW" altLang="en-US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695974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60521" y="558382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10" y="2996952"/>
            <a:ext cx="83452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3.4</a:t>
            </a:r>
            <a:r>
              <a:rPr lang="zh-TW" altLang="en-US" sz="1600" b="1" dirty="0">
                <a:solidFill>
                  <a:srgbClr val="0000FF"/>
                </a:solidFill>
              </a:rPr>
              <a:t> 波及製程 </a:t>
            </a:r>
            <a:r>
              <a:rPr lang="en-US" altLang="zh-TW" sz="1600" b="1" dirty="0">
                <a:solidFill>
                  <a:srgbClr val="0000FF"/>
                </a:solidFill>
              </a:rPr>
              <a:t>(Impact Route) : 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是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(YES)/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5556" y="4556506"/>
            <a:ext cx="81009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3.5 </a:t>
            </a:r>
            <a:r>
              <a:rPr lang="zh-TW" altLang="en-US" sz="1600" b="1" dirty="0">
                <a:solidFill>
                  <a:srgbClr val="0000FF"/>
                </a:solidFill>
              </a:rPr>
              <a:t>產品召回選項，是否需進行客戶端波及產品的召回</a:t>
            </a:r>
            <a:r>
              <a:rPr lang="en-US" altLang="zh-TW" sz="1600" b="1" dirty="0">
                <a:solidFill>
                  <a:srgbClr val="0000FF"/>
                </a:solidFill>
              </a:rPr>
              <a:t>?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是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(YES)/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066020"/>
              </p:ext>
            </p:extLst>
          </p:nvPr>
        </p:nvGraphicFramePr>
        <p:xfrm>
          <a:off x="708076" y="4925838"/>
          <a:ext cx="8068733" cy="7046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12965">
                  <a:extLst>
                    <a:ext uri="{9D8B030D-6E8A-4147-A177-3AD203B41FA5}">
                      <a16:colId xmlns:a16="http://schemas.microsoft.com/office/drawing/2014/main" val="86909870"/>
                    </a:ext>
                  </a:extLst>
                </a:gridCol>
                <a:gridCol w="18129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998365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44438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3338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Customer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Product No.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Lot</a:t>
                      </a:r>
                      <a:r>
                        <a:rPr lang="en-US" altLang="zh-TW" sz="1200" b="0" kern="100" baseline="0" dirty="0">
                          <a:effectLst/>
                        </a:rPr>
                        <a:t> number / Wafer number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Approx.</a:t>
                      </a:r>
                      <a:r>
                        <a:rPr lang="en-US" altLang="zh-TW" sz="1200" b="0" kern="100" baseline="0" dirty="0">
                          <a:effectLst/>
                        </a:rPr>
                        <a:t> Quantity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7210" y="1460111"/>
            <a:ext cx="67610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3.3</a:t>
            </a:r>
            <a:r>
              <a:rPr lang="zh-TW" altLang="en-US" sz="1600" b="1" dirty="0">
                <a:solidFill>
                  <a:srgbClr val="0000FF"/>
                </a:solidFill>
              </a:rPr>
              <a:t> 波及設備 </a:t>
            </a:r>
            <a:r>
              <a:rPr lang="en-US" altLang="zh-TW" sz="1600" b="1" dirty="0">
                <a:solidFill>
                  <a:srgbClr val="0000FF"/>
                </a:solidFill>
              </a:rPr>
              <a:t>(Impact Machine)</a:t>
            </a:r>
            <a:r>
              <a:rPr lang="zh-TW" altLang="en-US" sz="1600" b="1" dirty="0">
                <a:solidFill>
                  <a:srgbClr val="0000FF"/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868908"/>
              </p:ext>
            </p:extLst>
          </p:nvPr>
        </p:nvGraphicFramePr>
        <p:xfrm>
          <a:off x="701570" y="1919104"/>
          <a:ext cx="8075238" cy="90668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34126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Item</a:t>
                      </a:r>
                      <a:endParaRPr lang="zh-TW" sz="12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Action</a:t>
                      </a:r>
                      <a:endParaRPr lang="zh-TW" sz="12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Resp</a:t>
                      </a:r>
                      <a:endParaRPr lang="zh-TW" sz="12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Due</a:t>
                      </a:r>
                      <a:endParaRPr lang="zh-TW" sz="12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Imp.</a:t>
                      </a:r>
                      <a:endParaRPr lang="zh-TW" sz="12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 CP3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排線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Replace Robot CP3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排線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黃建華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2025/10/02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2025/10/02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Check transfer &amp; test run ok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50125"/>
              </p:ext>
            </p:extLst>
          </p:nvPr>
        </p:nvGraphicFramePr>
        <p:xfrm>
          <a:off x="694719" y="3497284"/>
          <a:ext cx="8075238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/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11819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258407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747" y="885641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2502B1D5-96B2-422B-FA2A-2D2876E1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395" y="3813282"/>
            <a:ext cx="3329817" cy="24973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箭號: 弧形左彎 27">
            <a:extLst>
              <a:ext uri="{FF2B5EF4-FFF2-40B4-BE49-F238E27FC236}">
                <a16:creationId xmlns:a16="http://schemas.microsoft.com/office/drawing/2014/main" id="{ADFDFEDA-957E-2169-BD4B-E28D1FF7077A}"/>
              </a:ext>
            </a:extLst>
          </p:cNvPr>
          <p:cNvSpPr/>
          <p:nvPr/>
        </p:nvSpPr>
        <p:spPr>
          <a:xfrm rot="1031259">
            <a:off x="7221519" y="4707619"/>
            <a:ext cx="498945" cy="1098721"/>
          </a:xfrm>
          <a:prstGeom prst="curved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6D73B70-D1A9-1C92-294D-1D57BEFAEF40}"/>
              </a:ext>
            </a:extLst>
          </p:cNvPr>
          <p:cNvSpPr txBox="1"/>
          <p:nvPr/>
        </p:nvSpPr>
        <p:spPr>
          <a:xfrm>
            <a:off x="4755395" y="6048208"/>
            <a:ext cx="296940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Robot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轉錯邊撞擊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C4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1E3A139-21BC-224B-470C-2D02FC461A71}"/>
              </a:ext>
            </a:extLst>
          </p:cNvPr>
          <p:cNvSpPr txBox="1"/>
          <p:nvPr/>
        </p:nvSpPr>
        <p:spPr>
          <a:xfrm>
            <a:off x="4639826" y="3429000"/>
            <a:ext cx="2287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異常：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Robot 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順時針轉</a:t>
            </a:r>
            <a:endParaRPr lang="en-US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050" name="AutoShape 2">
            <a:extLst>
              <a:ext uri="{FF2B5EF4-FFF2-40B4-BE49-F238E27FC236}">
                <a16:creationId xmlns:a16="http://schemas.microsoft.com/office/drawing/2014/main" id="{AB9890D6-4F2F-B2F9-CFA3-D6697D2F92D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66539" y="3940655"/>
            <a:ext cx="468052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7">
            <a:extLst>
              <a:ext uri="{FF2B5EF4-FFF2-40B4-BE49-F238E27FC236}">
                <a16:creationId xmlns:a16="http://schemas.microsoft.com/office/drawing/2014/main" id="{A578911C-84C0-16E1-F024-C78646179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591" y="3797968"/>
            <a:ext cx="936104" cy="2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Forward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 Box 7">
            <a:extLst>
              <a:ext uri="{FF2B5EF4-FFF2-40B4-BE49-F238E27FC236}">
                <a16:creationId xmlns:a16="http://schemas.microsoft.com/office/drawing/2014/main" id="{2483B60E-8E41-5EDE-AA5B-07EE6F18F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3789040"/>
            <a:ext cx="1042269" cy="27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Back</a:t>
            </a:r>
            <a:r>
              <a:rPr kumimoji="0" lang="en-US" altLang="zh-TW" sz="1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ward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9AB9B43-E6D4-0070-C59E-F6E0E85C5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20" y="3813283"/>
            <a:ext cx="3186644" cy="2511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箭號: 弧形右彎 26">
            <a:extLst>
              <a:ext uri="{FF2B5EF4-FFF2-40B4-BE49-F238E27FC236}">
                <a16:creationId xmlns:a16="http://schemas.microsoft.com/office/drawing/2014/main" id="{DBA87A22-F7BB-BFE3-002D-9607A4C99068}"/>
              </a:ext>
            </a:extLst>
          </p:cNvPr>
          <p:cNvSpPr/>
          <p:nvPr/>
        </p:nvSpPr>
        <p:spPr>
          <a:xfrm rot="1543723">
            <a:off x="1470333" y="4166114"/>
            <a:ext cx="476962" cy="1079648"/>
          </a:xfrm>
          <a:prstGeom prst="curved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A322A4C-F671-10FF-49B8-C3C832371C81}"/>
              </a:ext>
            </a:extLst>
          </p:cNvPr>
          <p:cNvSpPr txBox="1"/>
          <p:nvPr/>
        </p:nvSpPr>
        <p:spPr>
          <a:xfrm>
            <a:off x="700540" y="3429000"/>
            <a:ext cx="22872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正常：</a:t>
            </a:r>
            <a:r>
              <a:rPr lang="en-US" altLang="zh-TW" sz="1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Robot </a:t>
            </a:r>
            <a:r>
              <a:rPr lang="zh-TW" altLang="en-US" sz="1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逆時針轉 </a:t>
            </a:r>
            <a:endParaRPr 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CB3FA8-00D0-729F-66C4-1E43A9BD1CFF}"/>
              </a:ext>
            </a:extLst>
          </p:cNvPr>
          <p:cNvSpPr txBox="1"/>
          <p:nvPr/>
        </p:nvSpPr>
        <p:spPr>
          <a:xfrm>
            <a:off x="414788" y="1474660"/>
            <a:ext cx="8549700" cy="1022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 unload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傳送方式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Cassette stage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Forward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</a:t>
            </a: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朝向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進去抓取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 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由下往上抓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→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逆時針旋轉 →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朝向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stage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放下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由上往下放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，依序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Unload Boat wafer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C6~C1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6C8A44B-232E-FEAF-BFE9-A76DE57DD34F}"/>
              </a:ext>
            </a:extLst>
          </p:cNvPr>
          <p:cNvSpPr txBox="1"/>
          <p:nvPr/>
        </p:nvSpPr>
        <p:spPr>
          <a:xfrm>
            <a:off x="414788" y="2545744"/>
            <a:ext cx="8635774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F45 unload wafer Robot Fork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抓片放置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C5→C4→C3→C2→ unload C1 wafer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旋轉異常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逆時針轉變成順時針轉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assembly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撞擊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C4 Cassette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造成破片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3335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19" y="256578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4" y="915431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3" name="组合 1">
            <a:extLst>
              <a:ext uri="{FF2B5EF4-FFF2-40B4-BE49-F238E27FC236}">
                <a16:creationId xmlns:a16="http://schemas.microsoft.com/office/drawing/2014/main" id="{06579EF3-02D5-DE8B-6CB6-218A227C713E}"/>
              </a:ext>
            </a:extLst>
          </p:cNvPr>
          <p:cNvGrpSpPr>
            <a:grpSpLocks/>
          </p:cNvGrpSpPr>
          <p:nvPr/>
        </p:nvGrpSpPr>
        <p:grpSpPr bwMode="auto">
          <a:xfrm>
            <a:off x="512277" y="2618335"/>
            <a:ext cx="7826375" cy="1612648"/>
            <a:chOff x="730980" y="1125837"/>
            <a:chExt cx="7785223" cy="4156564"/>
          </a:xfrm>
        </p:grpSpPr>
        <p:grpSp>
          <p:nvGrpSpPr>
            <p:cNvPr id="14" name="Group 90">
              <a:extLst>
                <a:ext uri="{FF2B5EF4-FFF2-40B4-BE49-F238E27FC236}">
                  <a16:creationId xmlns:a16="http://schemas.microsoft.com/office/drawing/2014/main" id="{715755A5-A807-642B-B7DD-71C6865F97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980" y="2259654"/>
              <a:ext cx="7785223" cy="3022747"/>
              <a:chOff x="730980" y="2259654"/>
              <a:chExt cx="7785223" cy="3022747"/>
            </a:xfrm>
          </p:grpSpPr>
          <p:cxnSp>
            <p:nvCxnSpPr>
              <p:cNvPr id="2" name="Straight Connector 27">
                <a:extLst>
                  <a:ext uri="{FF2B5EF4-FFF2-40B4-BE49-F238E27FC236}">
                    <a16:creationId xmlns:a16="http://schemas.microsoft.com/office/drawing/2014/main" id="{F2459F00-2FCD-FFC4-8416-D5BAC159D87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39386" y="2371259"/>
                <a:ext cx="298931" cy="1215247"/>
              </a:xfrm>
              <a:prstGeom prst="line">
                <a:avLst/>
              </a:prstGeom>
              <a:noFill/>
              <a:ln w="76200" cap="rnd" algn="ctr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Straight Connector 24">
                <a:extLst>
                  <a:ext uri="{FF2B5EF4-FFF2-40B4-BE49-F238E27FC236}">
                    <a16:creationId xmlns:a16="http://schemas.microsoft.com/office/drawing/2014/main" id="{7E10E78E-2C7F-9BA8-FA72-0C0DB5D3F84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671999" y="2524711"/>
                <a:ext cx="277864" cy="1129585"/>
              </a:xfrm>
              <a:prstGeom prst="line">
                <a:avLst/>
              </a:prstGeom>
              <a:noFill/>
              <a:ln w="76200" cap="rnd" algn="ctr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Straight Connector 39">
                <a:extLst>
                  <a:ext uri="{FF2B5EF4-FFF2-40B4-BE49-F238E27FC236}">
                    <a16:creationId xmlns:a16="http://schemas.microsoft.com/office/drawing/2014/main" id="{09870C76-75A1-A777-3ED2-B8DB103C6B6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630720" y="4082276"/>
                <a:ext cx="280923" cy="1174621"/>
              </a:xfrm>
              <a:prstGeom prst="line">
                <a:avLst/>
              </a:prstGeom>
              <a:noFill/>
              <a:ln w="76200" cap="rnd" algn="ctr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Straight Connector 40">
                <a:extLst>
                  <a:ext uri="{FF2B5EF4-FFF2-40B4-BE49-F238E27FC236}">
                    <a16:creationId xmlns:a16="http://schemas.microsoft.com/office/drawing/2014/main" id="{8814F3CC-6C7B-CCB8-CFE1-3976E7E593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763734" y="4138135"/>
                <a:ext cx="310112" cy="1144266"/>
              </a:xfrm>
              <a:prstGeom prst="line">
                <a:avLst/>
              </a:prstGeom>
              <a:noFill/>
              <a:ln w="76200" cap="rnd" algn="ctr">
                <a:solidFill>
                  <a:srgbClr val="40404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" name="Freeform 7">
                <a:extLst>
                  <a:ext uri="{FF2B5EF4-FFF2-40B4-BE49-F238E27FC236}">
                    <a16:creationId xmlns:a16="http://schemas.microsoft.com/office/drawing/2014/main" id="{7A353D64-4B97-E97E-05E9-CAE4210CB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980" y="2259654"/>
                <a:ext cx="7785223" cy="2960609"/>
              </a:xfrm>
              <a:custGeom>
                <a:avLst/>
                <a:gdLst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83886 w 7785223"/>
                  <a:gd name="connsiteY18" fmla="*/ 1786984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785223" h="2960610">
                    <a:moveTo>
                      <a:pt x="6458167" y="833882"/>
                    </a:moveTo>
                    <a:cubicBezTo>
                      <a:pt x="6319152" y="833882"/>
                      <a:pt x="6206458" y="946576"/>
                      <a:pt x="6206458" y="1085591"/>
                    </a:cubicBezTo>
                    <a:cubicBezTo>
                      <a:pt x="6206458" y="1224606"/>
                      <a:pt x="6319152" y="1337300"/>
                      <a:pt x="6458167" y="1337300"/>
                    </a:cubicBezTo>
                    <a:cubicBezTo>
                      <a:pt x="6597182" y="1337300"/>
                      <a:pt x="6709876" y="1224606"/>
                      <a:pt x="6709876" y="1085591"/>
                    </a:cubicBezTo>
                    <a:cubicBezTo>
                      <a:pt x="6709876" y="946576"/>
                      <a:pt x="6597182" y="833882"/>
                      <a:pt x="6458167" y="833882"/>
                    </a:cubicBezTo>
                    <a:close/>
                    <a:moveTo>
                      <a:pt x="124054" y="0"/>
                    </a:moveTo>
                    <a:cubicBezTo>
                      <a:pt x="124054" y="0"/>
                      <a:pt x="694494" y="17040"/>
                      <a:pt x="881802" y="766777"/>
                    </a:cubicBezTo>
                    <a:cubicBezTo>
                      <a:pt x="975349" y="1143344"/>
                      <a:pt x="1108255" y="1399114"/>
                      <a:pt x="1232618" y="1485722"/>
                    </a:cubicBezTo>
                    <a:cubicBezTo>
                      <a:pt x="1356981" y="1572330"/>
                      <a:pt x="1831368" y="1540253"/>
                      <a:pt x="2569785" y="1533897"/>
                    </a:cubicBezTo>
                    <a:cubicBezTo>
                      <a:pt x="3308202" y="1527541"/>
                      <a:pt x="4961056" y="1460173"/>
                      <a:pt x="5663118" y="1447586"/>
                    </a:cubicBezTo>
                    <a:cubicBezTo>
                      <a:pt x="5764083" y="633577"/>
                      <a:pt x="6000518" y="305361"/>
                      <a:pt x="6184373" y="217410"/>
                    </a:cubicBezTo>
                    <a:cubicBezTo>
                      <a:pt x="6504706" y="184050"/>
                      <a:pt x="7316553" y="874307"/>
                      <a:pt x="7585117" y="1247424"/>
                    </a:cubicBezTo>
                    <a:cubicBezTo>
                      <a:pt x="7737800" y="1452337"/>
                      <a:pt x="7785205" y="1625731"/>
                      <a:pt x="7785223" y="1625797"/>
                    </a:cubicBezTo>
                    <a:cubicBezTo>
                      <a:pt x="7785158" y="1625937"/>
                      <a:pt x="7690374" y="1830829"/>
                      <a:pt x="7506128" y="2067231"/>
                    </a:cubicBezTo>
                    <a:cubicBezTo>
                      <a:pt x="7395543" y="2209120"/>
                      <a:pt x="7263894" y="2377287"/>
                      <a:pt x="7074320" y="2519175"/>
                    </a:cubicBezTo>
                    <a:cubicBezTo>
                      <a:pt x="6895320" y="2340543"/>
                      <a:pt x="6737376" y="2324743"/>
                      <a:pt x="6737299" y="2324735"/>
                    </a:cubicBezTo>
                    <a:cubicBezTo>
                      <a:pt x="6737317" y="2324764"/>
                      <a:pt x="6868950" y="2545458"/>
                      <a:pt x="6911075" y="2629534"/>
                    </a:cubicBezTo>
                    <a:cubicBezTo>
                      <a:pt x="6705703" y="2760914"/>
                      <a:pt x="6463469" y="2876528"/>
                      <a:pt x="6173841" y="2960610"/>
                    </a:cubicBezTo>
                    <a:cubicBezTo>
                      <a:pt x="6173686" y="2960472"/>
                      <a:pt x="5712200" y="2625849"/>
                      <a:pt x="5683886" y="1786984"/>
                    </a:cubicBezTo>
                    <a:cubicBezTo>
                      <a:pt x="5351100" y="1778601"/>
                      <a:pt x="4997819" y="1710631"/>
                      <a:pt x="4260900" y="1707212"/>
                    </a:cubicBezTo>
                    <a:cubicBezTo>
                      <a:pt x="3523981" y="1703793"/>
                      <a:pt x="1406504" y="1698533"/>
                      <a:pt x="1262370" y="1766472"/>
                    </a:cubicBezTo>
                    <a:cubicBezTo>
                      <a:pt x="1118236" y="1834411"/>
                      <a:pt x="1130100" y="2066835"/>
                      <a:pt x="907344" y="2381268"/>
                    </a:cubicBezTo>
                    <a:cubicBezTo>
                      <a:pt x="684588" y="2695701"/>
                      <a:pt x="192167" y="2960610"/>
                      <a:pt x="192166" y="2960610"/>
                    </a:cubicBezTo>
                    <a:cubicBezTo>
                      <a:pt x="243251" y="2474985"/>
                      <a:pt x="136825" y="2313110"/>
                      <a:pt x="149596" y="2142715"/>
                    </a:cubicBezTo>
                    <a:cubicBezTo>
                      <a:pt x="175137" y="1836023"/>
                      <a:pt x="515658" y="1640074"/>
                      <a:pt x="515699" y="1640050"/>
                    </a:cubicBezTo>
                    <a:cubicBezTo>
                      <a:pt x="515699" y="1640050"/>
                      <a:pt x="68713" y="1431317"/>
                      <a:pt x="4858" y="958471"/>
                    </a:cubicBezTo>
                    <a:cubicBezTo>
                      <a:pt x="-41969" y="604902"/>
                      <a:pt x="268793" y="481366"/>
                      <a:pt x="12405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4F81BD">
                      <a:shade val="51000"/>
                      <a:satMod val="130000"/>
                    </a:srgbClr>
                  </a:gs>
                  <a:gs pos="80000">
                    <a:srgbClr val="4F81BD">
                      <a:shade val="93000"/>
                      <a:satMod val="130000"/>
                    </a:srgbClr>
                  </a:gs>
                  <a:gs pos="100000">
                    <a:srgbClr val="4F81BD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/>
                <a:tailE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5" name="Rounded Rectangle 19">
              <a:extLst>
                <a:ext uri="{FF2B5EF4-FFF2-40B4-BE49-F238E27FC236}">
                  <a16:creationId xmlns:a16="http://schemas.microsoft.com/office/drawing/2014/main" id="{D2CE664E-3716-E96A-358F-002558788130}"/>
                </a:ext>
              </a:extLst>
            </p:cNvPr>
            <p:cNvSpPr/>
            <p:nvPr/>
          </p:nvSpPr>
          <p:spPr>
            <a:xfrm>
              <a:off x="4911643" y="1125837"/>
              <a:ext cx="1049287" cy="1133817"/>
            </a:xfrm>
            <a:prstGeom prst="roundRect">
              <a:avLst>
                <a:gd name="adj" fmla="val 4267"/>
              </a:avLst>
            </a:prstGeom>
            <a:no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Driver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2811599-A2A4-A6EE-55C1-917EFFC511D9}"/>
                </a:ext>
              </a:extLst>
            </p:cNvPr>
            <p:cNvSpPr/>
            <p:nvPr/>
          </p:nvSpPr>
          <p:spPr>
            <a:xfrm>
              <a:off x="7164000" y="3348000"/>
              <a:ext cx="36000" cy="36000"/>
            </a:xfrm>
            <a:prstGeom prst="rect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spcFirstLastPara="1" wrap="none">
              <a:prstTxWarp prst="textCircle">
                <a:avLst/>
              </a:prstTxWarp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TW" sz="300" spc="-1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http://home.rapidbbs.cn/?fromuid=22138</a:t>
              </a:r>
              <a:endParaRPr kumimoji="1" lang="zh-TW" altLang="en-US" sz="300" spc="-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2C43A502-01CB-9DAD-58B3-EEF9C1137299}"/>
              </a:ext>
            </a:extLst>
          </p:cNvPr>
          <p:cNvSpPr/>
          <p:nvPr/>
        </p:nvSpPr>
        <p:spPr bwMode="auto">
          <a:xfrm>
            <a:off x="3848632" y="4426822"/>
            <a:ext cx="1167997" cy="439894"/>
          </a:xfrm>
          <a:prstGeom prst="roundRect">
            <a:avLst>
              <a:gd name="adj" fmla="val 4267"/>
            </a:avLst>
          </a:prstGeom>
          <a:noFill/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T-BALW Controller</a:t>
            </a:r>
          </a:p>
        </p:txBody>
      </p:sp>
      <p:sp>
        <p:nvSpPr>
          <p:cNvPr id="23" name="Rounded Rectangle 19">
            <a:extLst>
              <a:ext uri="{FF2B5EF4-FFF2-40B4-BE49-F238E27FC236}">
                <a16:creationId xmlns:a16="http://schemas.microsoft.com/office/drawing/2014/main" id="{E6FF2E3E-CB57-8A1B-02BB-0203898F8E6F}"/>
              </a:ext>
            </a:extLst>
          </p:cNvPr>
          <p:cNvSpPr/>
          <p:nvPr/>
        </p:nvSpPr>
        <p:spPr bwMode="auto">
          <a:xfrm>
            <a:off x="1907704" y="4365104"/>
            <a:ext cx="1167997" cy="439894"/>
          </a:xfrm>
          <a:prstGeom prst="roundRect">
            <a:avLst>
              <a:gd name="adj" fmla="val 4267"/>
            </a:avLst>
          </a:prstGeom>
          <a:noFill/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Motor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B018A525-3E53-89A3-7CCC-D388E7E89F71}"/>
              </a:ext>
            </a:extLst>
          </p:cNvPr>
          <p:cNvSpPr/>
          <p:nvPr/>
        </p:nvSpPr>
        <p:spPr bwMode="auto">
          <a:xfrm>
            <a:off x="2610186" y="2566917"/>
            <a:ext cx="1717311" cy="439894"/>
          </a:xfrm>
          <a:prstGeom prst="roundRect">
            <a:avLst>
              <a:gd name="adj" fmla="val 4267"/>
            </a:avLst>
          </a:prstGeom>
          <a:noFill/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600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</a:t>
            </a:r>
            <a:r>
              <a:rPr lang="zh-TW" altLang="en-US" sz="1600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訊號排線</a:t>
            </a:r>
            <a:endParaRPr lang="en-US" sz="1600" kern="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E787A58-A822-212C-67B7-85F7773A209D}"/>
              </a:ext>
            </a:extLst>
          </p:cNvPr>
          <p:cNvSpPr txBox="1"/>
          <p:nvPr/>
        </p:nvSpPr>
        <p:spPr>
          <a:xfrm>
            <a:off x="6444208" y="3463869"/>
            <a:ext cx="156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為什麼 </a:t>
            </a:r>
            <a:r>
              <a:rPr lang="en-US" altLang="zh-TW" dirty="0"/>
              <a:t>Robot </a:t>
            </a:r>
            <a:r>
              <a:rPr lang="zh-TW" altLang="en-US" dirty="0"/>
              <a:t>轉向異常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15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260648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876201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BB8D8F-AB89-2A3D-B37D-DB661F876397}"/>
              </a:ext>
            </a:extLst>
          </p:cNvPr>
          <p:cNvSpPr txBox="1"/>
          <p:nvPr/>
        </p:nvSpPr>
        <p:spPr>
          <a:xfrm>
            <a:off x="467544" y="1700808"/>
            <a:ext cx="7848872" cy="1318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 ─ 量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run/stop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電壓正常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非真因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T-BAWL controller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 ─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T-BAWL controller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操作正常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非真因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motor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 ─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Rotate motor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逆轉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encoder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步數動作正常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非真因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DDEBAA-9EE4-813F-7933-570EF2A6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610274"/>
            <a:ext cx="6840760" cy="21961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AC4173-FDF1-791B-46BE-2BD2C626D837}"/>
              </a:ext>
            </a:extLst>
          </p:cNvPr>
          <p:cNvSpPr txBox="1"/>
          <p:nvPr/>
        </p:nvSpPr>
        <p:spPr>
          <a:xfrm>
            <a:off x="4922546" y="3789040"/>
            <a:ext cx="64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E0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8FF2F1B-D7E0-D5B3-E711-190A93F26BAC}"/>
              </a:ext>
            </a:extLst>
          </p:cNvPr>
          <p:cNvSpPr txBox="1"/>
          <p:nvPr/>
        </p:nvSpPr>
        <p:spPr>
          <a:xfrm>
            <a:off x="4205914" y="4437112"/>
            <a:ext cx="64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E0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2166C2F-3C99-CE34-D4B9-8859E0160584}"/>
              </a:ext>
            </a:extLst>
          </p:cNvPr>
          <p:cNvSpPr txBox="1"/>
          <p:nvPr/>
        </p:nvSpPr>
        <p:spPr>
          <a:xfrm>
            <a:off x="2627784" y="4437112"/>
            <a:ext cx="64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E0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14953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263607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899741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4E643F2-5665-10A2-13A6-313FEDABB8C9}"/>
              </a:ext>
            </a:extLst>
          </p:cNvPr>
          <p:cNvSpPr txBox="1"/>
          <p:nvPr/>
        </p:nvSpPr>
        <p:spPr>
          <a:xfrm>
            <a:off x="409455" y="1542308"/>
            <a:ext cx="7978969" cy="699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訊號排線 ─  檢查發現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排線第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條線有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arcing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破損，量測其電阻值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EF5DC1-8252-47F7-6864-8EF151F483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754" r="10810" b="7020"/>
          <a:stretch/>
        </p:blipFill>
        <p:spPr bwMode="auto">
          <a:xfrm>
            <a:off x="2499853" y="2132856"/>
            <a:ext cx="2225964" cy="151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8207940C-A175-91A4-9181-D06796565076}"/>
              </a:ext>
            </a:extLst>
          </p:cNvPr>
          <p:cNvSpPr/>
          <p:nvPr/>
        </p:nvSpPr>
        <p:spPr>
          <a:xfrm>
            <a:off x="3501912" y="3289817"/>
            <a:ext cx="351197" cy="3545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A1B1CC-B5DC-5562-88F9-6C16B19B65C3}"/>
              </a:ext>
            </a:extLst>
          </p:cNvPr>
          <p:cNvSpPr txBox="1"/>
          <p:nvPr/>
        </p:nvSpPr>
        <p:spPr>
          <a:xfrm>
            <a:off x="4999786" y="3259113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外觀破損、電阻值異常</a:t>
            </a:r>
            <a:endParaRPr lang="en-US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EBAD2C1-4BD1-6ADB-7032-9CBC216AD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48" y="4453411"/>
            <a:ext cx="5829309" cy="2140981"/>
          </a:xfrm>
          <a:prstGeom prst="rect">
            <a:avLst/>
          </a:prstGeom>
        </p:spPr>
      </p:pic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9BF2238-47AF-7124-BB75-52E80124B965}"/>
              </a:ext>
            </a:extLst>
          </p:cNvPr>
          <p:cNvCxnSpPr>
            <a:cxnSpLocks/>
          </p:cNvCxnSpPr>
          <p:nvPr/>
        </p:nvCxnSpPr>
        <p:spPr>
          <a:xfrm flipH="1">
            <a:off x="3933960" y="3428390"/>
            <a:ext cx="10889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D4A6882-134E-455E-AFAD-EDD74A7EF3B8}"/>
              </a:ext>
            </a:extLst>
          </p:cNvPr>
          <p:cNvSpPr txBox="1"/>
          <p:nvPr/>
        </p:nvSpPr>
        <p:spPr>
          <a:xfrm>
            <a:off x="420115" y="3923427"/>
            <a:ext cx="5382344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排線與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旋轉軸的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motor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encode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相關</a:t>
            </a:r>
          </a:p>
        </p:txBody>
      </p:sp>
    </p:spTree>
    <p:extLst>
      <p:ext uri="{BB962C8B-B14F-4D97-AF65-F5344CB8AC3E}">
        <p14:creationId xmlns:p14="http://schemas.microsoft.com/office/powerpoint/2010/main" val="77154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97E81CFB-6812-2E33-6D9D-5EEED9A93B26}"/>
              </a:ext>
            </a:extLst>
          </p:cNvPr>
          <p:cNvSpPr txBox="1"/>
          <p:nvPr/>
        </p:nvSpPr>
        <p:spPr>
          <a:xfrm>
            <a:off x="395535" y="908720"/>
            <a:ext cx="7221785" cy="375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5-phase driver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控制，訊號經過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CP3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排線傳送至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step motor</a:t>
            </a:r>
          </a:p>
        </p:txBody>
      </p:sp>
      <p:pic>
        <p:nvPicPr>
          <p:cNvPr id="35" name="Picture 6">
            <a:extLst>
              <a:ext uri="{FF2B5EF4-FFF2-40B4-BE49-F238E27FC236}">
                <a16:creationId xmlns:a16="http://schemas.microsoft.com/office/drawing/2014/main" id="{E1CE5E02-AAF3-0892-7E6E-64F86715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2455298" cy="18414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文字方塊 38">
            <a:extLst>
              <a:ext uri="{FF2B5EF4-FFF2-40B4-BE49-F238E27FC236}">
                <a16:creationId xmlns:a16="http://schemas.microsoft.com/office/drawing/2014/main" id="{953E3916-7C25-E409-8272-26013A33AE9D}"/>
              </a:ext>
            </a:extLst>
          </p:cNvPr>
          <p:cNvSpPr txBox="1"/>
          <p:nvPr/>
        </p:nvSpPr>
        <p:spPr>
          <a:xfrm>
            <a:off x="827584" y="3049257"/>
            <a:ext cx="1648736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Robot rotate driver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D105CB7B-45B9-E52E-D7B3-D6E29574A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3" y="5149174"/>
            <a:ext cx="7843834" cy="1248932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9EEBF2B9-2F11-F562-1140-46D3B395790D}"/>
              </a:ext>
            </a:extLst>
          </p:cNvPr>
          <p:cNvSpPr/>
          <p:nvPr/>
        </p:nvSpPr>
        <p:spPr>
          <a:xfrm>
            <a:off x="4283968" y="5598456"/>
            <a:ext cx="1368152" cy="18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E8D55A3-193D-A235-5D1A-D60837312E7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412776"/>
            <a:ext cx="1900956" cy="25009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D0CA098-7CFE-BDC2-10B1-EA56FCBFBB85}"/>
              </a:ext>
            </a:extLst>
          </p:cNvPr>
          <p:cNvPicPr>
            <a:picLocks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" r="7914"/>
          <a:stretch/>
        </p:blipFill>
        <p:spPr bwMode="auto">
          <a:xfrm>
            <a:off x="6007004" y="1412776"/>
            <a:ext cx="1394269" cy="140089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5712837-CB3C-1D19-8A93-C4311B0EE06F}"/>
              </a:ext>
            </a:extLst>
          </p:cNvPr>
          <p:cNvSpPr/>
          <p:nvPr/>
        </p:nvSpPr>
        <p:spPr>
          <a:xfrm>
            <a:off x="4004343" y="2353398"/>
            <a:ext cx="793583" cy="5540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443830-0464-B3BC-6767-64B55BED84F2}"/>
              </a:ext>
            </a:extLst>
          </p:cNvPr>
          <p:cNvSpPr/>
          <p:nvPr/>
        </p:nvSpPr>
        <p:spPr>
          <a:xfrm>
            <a:off x="4607403" y="3358090"/>
            <a:ext cx="704197" cy="522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3727F73-8C6C-F62B-21C4-DA8E64BF5B40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003" y="2829118"/>
            <a:ext cx="1394269" cy="14008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5E26722-B805-3076-3ABD-3D2A34D755A6}"/>
              </a:ext>
            </a:extLst>
          </p:cNvPr>
          <p:cNvSpPr txBox="1"/>
          <p:nvPr/>
        </p:nvSpPr>
        <p:spPr>
          <a:xfrm>
            <a:off x="5989345" y="2567169"/>
            <a:ext cx="1257426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CP1~CP3 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排線</a:t>
            </a:r>
            <a:endParaRPr lang="en-US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C8FE22-C2EF-1C18-B70B-65C1190DCD36}"/>
              </a:ext>
            </a:extLst>
          </p:cNvPr>
          <p:cNvSpPr txBox="1"/>
          <p:nvPr/>
        </p:nvSpPr>
        <p:spPr>
          <a:xfrm>
            <a:off x="5996175" y="3968461"/>
            <a:ext cx="116811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motor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89A688D-7E2A-D121-1304-7754B056344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797926" y="2630435"/>
            <a:ext cx="11645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798D715F-5516-8567-86AB-6A433CB9F94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311600" y="3619523"/>
            <a:ext cx="66575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3">
            <a:extLst>
              <a:ext uri="{FF2B5EF4-FFF2-40B4-BE49-F238E27FC236}">
                <a16:creationId xmlns:a16="http://schemas.microsoft.com/office/drawing/2014/main" id="{44AB0D0D-5F28-0DFC-15A0-6F3F24E81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52267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F9BC995-6A51-98E7-B711-F0D50C6AAE99}"/>
              </a:ext>
            </a:extLst>
          </p:cNvPr>
          <p:cNvSpPr txBox="1"/>
          <p:nvPr/>
        </p:nvSpPr>
        <p:spPr>
          <a:xfrm>
            <a:off x="359152" y="4284767"/>
            <a:ext cx="8605336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若發生訊號排線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arcing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瞬間斷電，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motor encoder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參數將變為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參數：順時針增加，逆時針減少，若參數變為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後繼續動作 → 必定往順時針轉</a:t>
            </a:r>
          </a:p>
        </p:txBody>
      </p:sp>
    </p:spTree>
    <p:extLst>
      <p:ext uri="{BB962C8B-B14F-4D97-AF65-F5344CB8AC3E}">
        <p14:creationId xmlns:p14="http://schemas.microsoft.com/office/powerpoint/2010/main" val="4039163825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260648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876201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B733609-54EE-3EB0-8B42-DE0F55106D35}"/>
              </a:ext>
            </a:extLst>
          </p:cNvPr>
          <p:cNvSpPr txBox="1"/>
          <p:nvPr/>
        </p:nvSpPr>
        <p:spPr>
          <a:xfrm>
            <a:off x="361482" y="1699125"/>
            <a:ext cx="8347890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Replace Robot CP3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排線 →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 load/unload wafer 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cycle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transfer ok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 run C05 recipe ok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CB4F635-70F1-E6BE-F254-92CF6CB03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59" y="2420888"/>
            <a:ext cx="5947381" cy="304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339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78338" y="260648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528" y="836712"/>
            <a:ext cx="75266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d) 5-Why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064" y="5517232"/>
            <a:ext cx="7608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b) Conclusion :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E59654-BFB3-1570-439C-DE7055650DB7}"/>
              </a:ext>
            </a:extLst>
          </p:cNvPr>
          <p:cNvSpPr txBox="1"/>
          <p:nvPr/>
        </p:nvSpPr>
        <p:spPr>
          <a:xfrm>
            <a:off x="780064" y="1355932"/>
            <a:ext cx="8064896" cy="414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F45 unload wafer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會破片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carrier hand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撞擊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</a:p>
          <a:p>
            <a:pPr marL="285750" indent="-285750">
              <a:lnSpc>
                <a:spcPct val="200000"/>
              </a:lnSpc>
              <a:buSzPct val="150000"/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carrier hand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撞擊到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wafer?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load/unload Cassette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Stage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backward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間距大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空間大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load/unload wafer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Stage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forward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間距小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空間小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carrier hand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會撞到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200000"/>
              </a:lnSpc>
              <a:buSzPct val="150000"/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unload wafer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Carrier hand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會轉向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Cassette?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unload Boat wafer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正常應逆時針旋轉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發生異常變順時針旋轉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200000"/>
              </a:lnSpc>
              <a:buSzPct val="150000"/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會轉向異常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因為控制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motor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的訊號異常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200000"/>
              </a:lnSpc>
              <a:buSzPct val="150000"/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為什麼控制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motor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的訊號會發生異常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rotate motor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訊號排線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(CP3) arcing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破損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83AC79-6963-4503-C0A2-DE69510B80F2}"/>
              </a:ext>
            </a:extLst>
          </p:cNvPr>
          <p:cNvSpPr txBox="1"/>
          <p:nvPr/>
        </p:nvSpPr>
        <p:spPr>
          <a:xfrm>
            <a:off x="1043608" y="5805264"/>
            <a:ext cx="7920880" cy="703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rotate motor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訊號排線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(CP3) arcing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瞬間斷電後繼續動作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導致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rotate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變順時針旋轉，轉向異常造成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carrier hand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撞擊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Cassette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8630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96525" y="260648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3495" y="980728"/>
            <a:ext cx="8370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5.1 What was the chosen corrective action to correct the root cause? (Add photo or diagram where applicable.)</a:t>
            </a:r>
            <a:endParaRPr lang="en-US" altLang="zh-TW" sz="14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116003E-01BF-572C-6F70-58C66FD00201}"/>
              </a:ext>
            </a:extLst>
          </p:cNvPr>
          <p:cNvSpPr txBox="1"/>
          <p:nvPr/>
        </p:nvSpPr>
        <p:spPr>
          <a:xfrm>
            <a:off x="539552" y="1628800"/>
            <a:ext cx="8064896" cy="199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F45 replace Robot CP3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F45 CP3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排線上次更換日期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2021/3/10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lifetime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平行展開更換所有爐管機台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CP3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12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排線上方第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條無使用的空排線拉撐，使其承受吊錘滾輪的作用力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避免吊錘滾輪作用力壓在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排線上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12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Parts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自動提醒設定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年後檢查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排線確認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A8790633-5801-2854-B7E5-8CEF1CA13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717032"/>
            <a:ext cx="5958451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87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8650" y="1074222"/>
            <a:ext cx="3512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5.2 Verification of actions effectiveness</a:t>
            </a:r>
            <a:endParaRPr lang="zh-TW" altLang="en-US" sz="1600" b="1" dirty="0">
              <a:solidFill>
                <a:srgbClr val="0000FF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98FA22-A256-D70F-C93A-C4A24B0C9897}"/>
              </a:ext>
            </a:extLst>
          </p:cNvPr>
          <p:cNvSpPr txBox="1"/>
          <p:nvPr/>
        </p:nvSpPr>
        <p:spPr>
          <a:xfrm>
            <a:off x="611560" y="1700808"/>
            <a:ext cx="6768752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F45 2025/10/2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replace Robot CP3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排線至今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 transfer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均正常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2474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6525" y="432538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545" y="1223755"/>
            <a:ext cx="8055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6.1 For non-conformance root cause (</a:t>
            </a:r>
            <a:r>
              <a:rPr lang="en-US" altLang="zh-TW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dirty="0"/>
              <a:t>):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231532"/>
              </p:ext>
            </p:extLst>
          </p:nvPr>
        </p:nvGraphicFramePr>
        <p:xfrm>
          <a:off x="701570" y="1593087"/>
          <a:ext cx="8190910" cy="8902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2078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403267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3227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28955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308434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F45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Replace Robot CP3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排線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黃建華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2025/10/02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Check transfer &amp; test run robot rotate ok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86535" y="3158970"/>
            <a:ext cx="8505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6.2 For </a:t>
            </a:r>
            <a:r>
              <a:rPr lang="en-US" altLang="zh-TW" dirty="0">
                <a:solidFill>
                  <a:srgbClr val="FF0000"/>
                </a:solidFill>
              </a:rPr>
              <a:t>non-detection / escape root cause</a:t>
            </a:r>
            <a:endParaRPr lang="en-US" altLang="zh-TW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13916"/>
              </p:ext>
            </p:extLst>
          </p:nvPr>
        </p:nvGraphicFramePr>
        <p:xfrm>
          <a:off x="683624" y="3533464"/>
          <a:ext cx="8190910" cy="8902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50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3227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46901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06390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537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747573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1493785"/>
            <a:ext cx="23776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7.1 Systemic Actions: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6270"/>
              </p:ext>
            </p:extLst>
          </p:nvPr>
        </p:nvGraphicFramePr>
        <p:xfrm>
          <a:off x="431540" y="1863117"/>
          <a:ext cx="8388932" cy="368013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7551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97802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5876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019260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55337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559362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Factor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Actions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Who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When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Remarks / Evidence</a:t>
                      </a:r>
                      <a:endParaRPr lang="zh-TW" sz="14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(Document/Spec/Chart #)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Practices/ Training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Replace Robot CP3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排線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黃建華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2025/10/02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Robot transfer &amp; test run normal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Work Instruction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89561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Specification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altLang="zh-TW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66251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Control Plan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Parts</a:t>
                      </a:r>
                      <a:r>
                        <a:rPr lang="zh-TW" altLang="en-US" sz="1400" dirty="0"/>
                        <a:t>自動提醒設定</a:t>
                      </a:r>
                      <a:r>
                        <a:rPr lang="en-US" altLang="zh-TW" sz="1400" dirty="0"/>
                        <a:t>4</a:t>
                      </a:r>
                      <a:r>
                        <a:rPr lang="zh-TW" altLang="en-US" sz="1400" dirty="0"/>
                        <a:t>年後檢查</a:t>
                      </a:r>
                      <a:r>
                        <a:rPr lang="en-US" altLang="zh-TW" sz="1400" dirty="0"/>
                        <a:t>CP3</a:t>
                      </a:r>
                      <a:r>
                        <a:rPr lang="zh-TW" altLang="en-US" sz="1400" dirty="0"/>
                        <a:t>排線確認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蔡孟哲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2025/11/30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42735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r>
                        <a:rPr lang="en-US" sz="1400" dirty="0">
                          <a:effectLst/>
                        </a:rPr>
                        <a:t> FMEA 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must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2319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Error Proofing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FD0142CA-E2C7-ED7E-79F9-926C631E7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3933056"/>
            <a:ext cx="2592288" cy="79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6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260648"/>
            <a:ext cx="85580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764704"/>
            <a:ext cx="7285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7.2 Corrective Actions Fan-out: (</a:t>
            </a:r>
            <a:r>
              <a:rPr lang="zh-TW" altLang="en-US" dirty="0"/>
              <a:t>水平展開</a:t>
            </a:r>
            <a:r>
              <a:rPr lang="en-US" altLang="zh-TW" dirty="0"/>
              <a:t>):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973148"/>
              </p:ext>
            </p:extLst>
          </p:nvPr>
        </p:nvGraphicFramePr>
        <p:xfrm>
          <a:off x="431540" y="1196752"/>
          <a:ext cx="8280919" cy="8115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4020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3668408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476163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</a:tblGrid>
              <a:tr h="44075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Machine/ Process/ Product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200" dirty="0">
                          <a:effectLst/>
                        </a:rPr>
                        <a:t>Responsible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Due date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TEL Furnace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所有爐管機台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replace Robot CP3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排線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S220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2026/5/27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9C161D7-AEF9-F16D-BDF7-0A66865D8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705266"/>
              </p:ext>
            </p:extLst>
          </p:nvPr>
        </p:nvGraphicFramePr>
        <p:xfrm>
          <a:off x="1115616" y="2132856"/>
          <a:ext cx="6347771" cy="4527205"/>
        </p:xfrm>
        <a:graphic>
          <a:graphicData uri="http://schemas.openxmlformats.org/drawingml/2006/table">
            <a:tbl>
              <a:tblPr/>
              <a:tblGrid>
                <a:gridCol w="447301">
                  <a:extLst>
                    <a:ext uri="{9D8B030D-6E8A-4147-A177-3AD203B41FA5}">
                      <a16:colId xmlns:a16="http://schemas.microsoft.com/office/drawing/2014/main" val="181930458"/>
                    </a:ext>
                  </a:extLst>
                </a:gridCol>
                <a:gridCol w="769946">
                  <a:extLst>
                    <a:ext uri="{9D8B030D-6E8A-4147-A177-3AD203B41FA5}">
                      <a16:colId xmlns:a16="http://schemas.microsoft.com/office/drawing/2014/main" val="1308438866"/>
                    </a:ext>
                  </a:extLst>
                </a:gridCol>
                <a:gridCol w="447301">
                  <a:extLst>
                    <a:ext uri="{9D8B030D-6E8A-4147-A177-3AD203B41FA5}">
                      <a16:colId xmlns:a16="http://schemas.microsoft.com/office/drawing/2014/main" val="2450363504"/>
                    </a:ext>
                  </a:extLst>
                </a:gridCol>
                <a:gridCol w="769946">
                  <a:extLst>
                    <a:ext uri="{9D8B030D-6E8A-4147-A177-3AD203B41FA5}">
                      <a16:colId xmlns:a16="http://schemas.microsoft.com/office/drawing/2014/main" val="1271606330"/>
                    </a:ext>
                  </a:extLst>
                </a:gridCol>
                <a:gridCol w="447301">
                  <a:extLst>
                    <a:ext uri="{9D8B030D-6E8A-4147-A177-3AD203B41FA5}">
                      <a16:colId xmlns:a16="http://schemas.microsoft.com/office/drawing/2014/main" val="306312285"/>
                    </a:ext>
                  </a:extLst>
                </a:gridCol>
                <a:gridCol w="769946">
                  <a:extLst>
                    <a:ext uri="{9D8B030D-6E8A-4147-A177-3AD203B41FA5}">
                      <a16:colId xmlns:a16="http://schemas.microsoft.com/office/drawing/2014/main" val="3128488268"/>
                    </a:ext>
                  </a:extLst>
                </a:gridCol>
                <a:gridCol w="337309">
                  <a:extLst>
                    <a:ext uri="{9D8B030D-6E8A-4147-A177-3AD203B41FA5}">
                      <a16:colId xmlns:a16="http://schemas.microsoft.com/office/drawing/2014/main" val="2769344463"/>
                    </a:ext>
                  </a:extLst>
                </a:gridCol>
                <a:gridCol w="965487">
                  <a:extLst>
                    <a:ext uri="{9D8B030D-6E8A-4147-A177-3AD203B41FA5}">
                      <a16:colId xmlns:a16="http://schemas.microsoft.com/office/drawing/2014/main" val="287797537"/>
                    </a:ext>
                  </a:extLst>
                </a:gridCol>
                <a:gridCol w="427747">
                  <a:extLst>
                    <a:ext uri="{9D8B030D-6E8A-4147-A177-3AD203B41FA5}">
                      <a16:colId xmlns:a16="http://schemas.microsoft.com/office/drawing/2014/main" val="2286667774"/>
                    </a:ext>
                  </a:extLst>
                </a:gridCol>
                <a:gridCol w="965487">
                  <a:extLst>
                    <a:ext uri="{9D8B030D-6E8A-4147-A177-3AD203B41FA5}">
                      <a16:colId xmlns:a16="http://schemas.microsoft.com/office/drawing/2014/main" val="4252788941"/>
                    </a:ext>
                  </a:extLst>
                </a:gridCol>
              </a:tblGrid>
              <a:tr h="196781"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CP3 </a:t>
                      </a: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排線更換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92849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633913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已完成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6679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LP-N1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LP-P1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3/24/2026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LP-T1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</a:t>
                      </a:r>
                    </a:p>
                  </a:txBody>
                  <a:tcPr marL="6348" marR="6348" marT="6348" marB="3808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18785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LP-N2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3/11/2026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LP-P2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LP-T2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3/20/2026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181248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LP-N3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LP-P3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LP-T3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4/13/2026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49615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LP-N4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3/17/2026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LP-P4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LP-T4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74338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LP-N5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2/10/2026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LP-P6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2/10/2026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LP-T5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2/10/2026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100.00%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68689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LP-N6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3/31/2026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LP-P7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4/14/2026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3/18/2026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146462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LP-N7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2/9/2026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LP-T8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5693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LP-T9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4/14/2026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99260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36238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977408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F01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4/2/2026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F11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2/9/2026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F21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5/18/2026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F32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3/17/2026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F42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5/27/2026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8481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F02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5/19/2026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F12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5/13/2026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F22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2/10/2026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F33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5/14/2026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F44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433926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F03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4/28/2025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F13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F23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5/18/2026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F34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F45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88532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F04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3/12/2026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F14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5/19/2026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F35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3/12/2026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48896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F05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F15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5/21/2026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F25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3/27/2026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48943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F06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2/7/2026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4/13/2026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F37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4/22/2026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403333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F07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10/7/2025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F17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5/21/2026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F27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5/13/2026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F38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01048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F08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2/8/2026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F18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5/22/2026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F28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4/20/2026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F39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4/29/2026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17429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F09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F19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4/15/2026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F29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5/11/2026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F40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8064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F10</a:t>
                      </a:r>
                    </a:p>
                  </a:txBody>
                  <a:tcPr marL="6348" marR="6348" marT="6348" marB="3808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5/26/2026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F20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2/9/2026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F30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5/14/2026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F41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4/10/2026</a:t>
                      </a: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48" marR="6348" marT="6348" marB="380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08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206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07988" y="439837"/>
            <a:ext cx="760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8. Congratulate the Team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11188" y="998538"/>
            <a:ext cx="76073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  <a:ea typeface="新細明體" pitchFamily="18" charset="-120"/>
              </a:rPr>
              <a:t>Thanks for every member helped in this case.</a:t>
            </a:r>
            <a:endParaRPr lang="zh-TW" altLang="en-US" sz="2000" dirty="0">
              <a:solidFill>
                <a:srgbClr val="0000FF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151" y="1853825"/>
            <a:ext cx="29899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0">
              <a:lnSpc>
                <a:spcPct val="150000"/>
              </a:lnSpc>
              <a:spcAft>
                <a:spcPts val="0"/>
              </a:spcAft>
            </a:pPr>
            <a:r>
              <a:rPr lang="en-US" altLang="zh-TW" b="1" dirty="0">
                <a:latin typeface="Calibri" panose="020F0502020204030204" pitchFamily="34" charset="0"/>
                <a:ea typeface="SimSun" panose="02010600030101010101" pitchFamily="2" charset="-122"/>
              </a:rPr>
              <a:t>Reviewed and Approved by:</a:t>
            </a:r>
            <a:endParaRPr lang="zh-TW" altLang="zh-TW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9A8E2E7-1483-7DD7-7260-B85F3330A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330720"/>
              </p:ext>
            </p:extLst>
          </p:nvPr>
        </p:nvGraphicFramePr>
        <p:xfrm>
          <a:off x="616302" y="2564904"/>
          <a:ext cx="7009641" cy="110515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336547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336547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336547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2. Position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3.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邱尊護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SECTION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2026/5/27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S200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李明驥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DEPARTMENT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2026/5/27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540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e060dc-8471-452a-be78-891f5bd4079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499B12D3BDD2F49A326658DE352AE8B" ma:contentTypeVersion="13" ma:contentTypeDescription="建立新的文件。" ma:contentTypeScope="" ma:versionID="bf3407d546762e2f1ac0f3b433cd114d">
  <xsd:schema xmlns:xsd="http://www.w3.org/2001/XMLSchema" xmlns:xs="http://www.w3.org/2001/XMLSchema" xmlns:p="http://schemas.microsoft.com/office/2006/metadata/properties" xmlns:ns3="d0e060dc-8471-452a-be78-891f5bd40791" xmlns:ns4="4af2d00d-3b65-4bb4-b897-f6f95e2f5f12" targetNamespace="http://schemas.microsoft.com/office/2006/metadata/properties" ma:root="true" ma:fieldsID="c6aeaab7c3bec291b0e7270dff689555" ns3:_="" ns4:_="">
    <xsd:import namespace="d0e060dc-8471-452a-be78-891f5bd40791"/>
    <xsd:import namespace="4af2d00d-3b65-4bb4-b897-f6f95e2f5f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e060dc-8471-452a-be78-891f5bd40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2d00d-3b65-4bb4-b897-f6f95e2f5f1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共用提示雜湊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4B34AF-550D-4C92-BB3A-AE8B9AB4904C}">
  <ds:schemaRefs>
    <ds:schemaRef ds:uri="http://www.w3.org/XML/1998/namespace"/>
    <ds:schemaRef ds:uri="http://purl.org/dc/dcmitype/"/>
    <ds:schemaRef ds:uri="http://purl.org/dc/terms/"/>
    <ds:schemaRef ds:uri="d0e060dc-8471-452a-be78-891f5bd40791"/>
    <ds:schemaRef ds:uri="http://schemas.microsoft.com/office/2006/metadata/properties"/>
    <ds:schemaRef ds:uri="4af2d00d-3b65-4bb4-b897-f6f95e2f5f12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1F41721-8BA7-426A-8F1E-0C7B8587C6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4A9DEA-AE9A-40FD-9156-8889D7DB48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e060dc-8471-452a-be78-891f5bd40791"/>
    <ds:schemaRef ds:uri="4af2d00d-3b65-4bb4-b897-f6f95e2f5f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10387</TotalTime>
  <Words>2470</Words>
  <Application>Microsoft Office PowerPoint</Application>
  <PresentationFormat>如螢幕大小 (4:3)</PresentationFormat>
  <Paragraphs>546</Paragraphs>
  <Slides>25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5" baseType="lpstr">
      <vt:lpstr>微軟正黑體</vt:lpstr>
      <vt:lpstr>標楷體</vt:lpstr>
      <vt:lpstr>Aptos Narrow</vt:lpstr>
      <vt:lpstr>Arial</vt:lpstr>
      <vt:lpstr>Calibri</vt:lpstr>
      <vt:lpstr>Courier New</vt:lpstr>
      <vt:lpstr>Times New Roman</vt:lpstr>
      <vt:lpstr>Wingdings</vt:lpstr>
      <vt:lpstr>Office Theme</vt:lpstr>
      <vt:lpstr>Worksheet</vt:lpstr>
      <vt:lpstr>PowerPoint 簡報</vt:lpstr>
      <vt:lpstr>PowerPoint 簡報</vt:lpstr>
      <vt:lpstr>PowerPoint 簡報</vt:lpstr>
      <vt:lpstr>Run cards at impact station</vt:lpstr>
      <vt:lpstr>Run cards at impact station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MCTsai4</cp:lastModifiedBy>
  <cp:revision>231</cp:revision>
  <cp:lastPrinted>2020-06-01T03:58:51Z</cp:lastPrinted>
  <dcterms:created xsi:type="dcterms:W3CDTF">2012-03-21T02:57:47Z</dcterms:created>
  <dcterms:modified xsi:type="dcterms:W3CDTF">2026-05-27T06:49:15Z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0x0101001499B12D3BDD2F49A326658DE352AE8B</vt:lpwstr>
  </property>
</Properties>
</file>