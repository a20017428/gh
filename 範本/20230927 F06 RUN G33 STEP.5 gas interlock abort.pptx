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4"/>
  </p:sldMasterIdLst>
  <p:notesMasterIdLst>
    <p:notesMasterId r:id="rId33"/>
  </p:notesMasterIdLst>
  <p:handoutMasterIdLst>
    <p:handoutMasterId r:id="rId34"/>
  </p:handoutMasterIdLst>
  <p:sldIdLst>
    <p:sldId id="256" r:id="rId5"/>
    <p:sldId id="261" r:id="rId6"/>
    <p:sldId id="262" r:id="rId7"/>
    <p:sldId id="299" r:id="rId8"/>
    <p:sldId id="335" r:id="rId9"/>
    <p:sldId id="342" r:id="rId10"/>
    <p:sldId id="343" r:id="rId11"/>
    <p:sldId id="327" r:id="rId12"/>
    <p:sldId id="331" r:id="rId13"/>
    <p:sldId id="263" r:id="rId14"/>
    <p:sldId id="264" r:id="rId15"/>
    <p:sldId id="265" r:id="rId16"/>
    <p:sldId id="346" r:id="rId17"/>
    <p:sldId id="347" r:id="rId18"/>
    <p:sldId id="284" r:id="rId19"/>
    <p:sldId id="348" r:id="rId20"/>
    <p:sldId id="286" r:id="rId21"/>
    <p:sldId id="345" r:id="rId22"/>
    <p:sldId id="273" r:id="rId23"/>
    <p:sldId id="267" r:id="rId24"/>
    <p:sldId id="268" r:id="rId25"/>
    <p:sldId id="313" r:id="rId26"/>
    <p:sldId id="269" r:id="rId27"/>
    <p:sldId id="298" r:id="rId28"/>
    <p:sldId id="270" r:id="rId29"/>
    <p:sldId id="271" r:id="rId30"/>
    <p:sldId id="344" r:id="rId31"/>
    <p:sldId id="272" r:id="rId32"/>
  </p:sldIdLst>
  <p:sldSz cx="9144000" cy="6858000" type="screen4x3"/>
  <p:notesSz cx="7010400" cy="92964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E75798"/>
    <a:srgbClr val="D00600"/>
    <a:srgbClr val="E61C0E"/>
    <a:srgbClr val="FC2110"/>
    <a:srgbClr val="FE0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73" autoAdjust="0"/>
    <p:restoredTop sz="93979" autoAdjust="0"/>
  </p:normalViewPr>
  <p:slideViewPr>
    <p:cSldViewPr>
      <p:cViewPr varScale="1">
        <p:scale>
          <a:sx n="114" d="100"/>
          <a:sy n="114" d="100"/>
        </p:scale>
        <p:origin x="1722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ea typeface="新細明體" charset="-120"/>
              </a:defRPr>
            </a:lvl1pPr>
          </a:lstStyle>
          <a:p>
            <a:pPr>
              <a:defRPr/>
            </a:pPr>
            <a:fld id="{71BFA950-4D9B-49C1-88BC-71CD835B4ACB}" type="datetimeFigureOut">
              <a:rPr lang="zh-TW" altLang="en-US"/>
              <a:pPr>
                <a:defRPr/>
              </a:pPr>
              <a:t>2024/1/26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25F7101-7CBB-40B9-BA2A-FB97EE2A556B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ea typeface="新細明體" charset="-120"/>
              </a:defRPr>
            </a:lvl1pPr>
          </a:lstStyle>
          <a:p>
            <a:pPr>
              <a:defRPr/>
            </a:pPr>
            <a:fld id="{6DC33ECA-595C-4C90-93AC-B3C8AC50E9E0}" type="datetimeFigureOut">
              <a:rPr lang="zh-TW" altLang="en-US"/>
              <a:pPr>
                <a:defRPr/>
              </a:pPr>
              <a:t>2024/1/26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  <a:endParaRPr lang="zh-TW" alt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4BCC7E6-2CF8-46C3-9098-1DABD60058C4}" type="slidenum">
              <a:rPr lang="zh-TW" altLang="en-US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13316" name="Date Placeholder 3"/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1306FE17-8C9C-45FE-A0CC-E1BE1F6A9DB4}" type="datetime1">
              <a:rPr lang="zh-TW" altLang="en-US" smtClean="0"/>
              <a:pPr eaLnBrk="1" hangingPunct="1">
                <a:spcBef>
                  <a:spcPct val="0"/>
                </a:spcBef>
              </a:pPr>
              <a:t>2024/1/26</a:t>
            </a:fld>
            <a:endParaRPr lang="zh-TW" altLang="en-US"/>
          </a:p>
        </p:txBody>
      </p:sp>
      <p:sp>
        <p:nvSpPr>
          <p:cNvPr id="13317" name="Slide Number Placeholder 4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F067A20B-1C54-437C-B8C8-900806B3B756}" type="slidenum">
              <a:rPr lang="zh-TW" altLang="en-US"/>
              <a:pPr eaLnBrk="1" hangingPunct="1">
                <a:spcBef>
                  <a:spcPct val="0"/>
                </a:spcBef>
              </a:pPr>
              <a:t>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1988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57066" indent="-291179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64717" indent="-232943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30604" indent="-232943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96491" indent="-232943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fld id="{550F2036-0CFA-4F19-9585-F765E4EEDFDB}" type="slidenum">
              <a:rPr kumimoji="0" lang="zh-TW" altLang="en-US" smtClean="0">
                <a:ea typeface="標楷體" pitchFamily="65" charset="-120"/>
              </a:rPr>
              <a:pPr eaLnBrk="1" hangingPunct="1"/>
              <a:t>2</a:t>
            </a:fld>
            <a:endParaRPr kumimoji="0" lang="zh-TW" altLang="en-US"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868081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954E1542-8DCC-4DAB-9DCD-15F303538A4C}" type="datetime1">
              <a:rPr lang="zh-TW" altLang="en-US" smtClean="0"/>
              <a:t>2024/1/26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4BCC7E6-2CF8-46C3-9098-1DABD60058C4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479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22225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12777"/>
            <a:ext cx="7772400" cy="1440160"/>
          </a:xfrm>
        </p:spPr>
        <p:txBody>
          <a:bodyPr>
            <a:normAutofit/>
          </a:bodyPr>
          <a:lstStyle>
            <a:lvl1pPr>
              <a:defRPr sz="4000">
                <a:solidFill>
                  <a:srgbClr val="E61C0E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01008"/>
            <a:ext cx="6400800" cy="576064"/>
          </a:xfrm>
        </p:spPr>
        <p:txBody>
          <a:bodyPr>
            <a:normAutofit/>
          </a:bodyPr>
          <a:lstStyle>
            <a:lvl1pPr marL="0" indent="0" algn="ctr">
              <a:buNone/>
              <a:defRPr sz="30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dirty="0"/>
              <a:t>Click to edit Master subtitle style</a:t>
            </a:r>
            <a:endParaRPr lang="zh-TW" alt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7164388" y="6356350"/>
            <a:ext cx="1916112" cy="365125"/>
          </a:xfrm>
        </p:spPr>
        <p:txBody>
          <a:bodyPr/>
          <a:lstStyle>
            <a:lvl1pPr algn="ctr">
              <a:defRPr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>
              <a:defRPr/>
            </a:pPr>
            <a:fld id="{CD423D62-69AB-4776-9D27-A481614011A3}" type="datetime1">
              <a:rPr lang="zh-TW" altLang="en-US"/>
              <a:pPr>
                <a:defRPr/>
              </a:pPr>
              <a:t>2024/1/26</a:t>
            </a:fld>
            <a:endParaRPr lang="zh-TW" alt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164388" y="5949950"/>
            <a:ext cx="1887537" cy="365125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800" b="1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TW" altLang="en-US"/>
              <a:t>報告人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D0D0D"/>
                </a:solidFill>
              </a:defRPr>
            </a:lvl1pPr>
          </a:lstStyle>
          <a:p>
            <a:fld id="{44A231B3-5E4C-4D1B-95D4-C7E3DBA05F13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3671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742950" indent="-285750">
              <a:spcBef>
                <a:spcPts val="1000"/>
              </a:spcBef>
              <a:buFont typeface="Arial" pitchFamily="34" charset="0"/>
              <a:buChar char="•"/>
              <a:defRPr/>
            </a:lvl2pPr>
            <a:lvl3pPr>
              <a:spcBef>
                <a:spcPts val="1000"/>
              </a:spcBef>
              <a:defRPr/>
            </a:lvl3pPr>
            <a:lvl4pPr marL="1714500" indent="-342900">
              <a:spcBef>
                <a:spcPts val="1000"/>
              </a:spcBef>
              <a:buFont typeface="Calibri" pitchFamily="34" charset="0"/>
              <a:buChar char="»"/>
              <a:defRPr/>
            </a:lvl4pPr>
            <a:lvl5pPr marL="2057400" indent="-228600">
              <a:spcBef>
                <a:spcPts val="1000"/>
              </a:spcBef>
              <a:buFont typeface="Arial" pitchFamily="34" charset="0"/>
              <a:buChar char="»"/>
              <a:defRPr/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680D2-7FDF-4135-982B-42BBCB547B39}" type="datetime1">
              <a:rPr lang="zh-TW" altLang="en-US"/>
              <a:pPr>
                <a:defRPr/>
              </a:pPr>
              <a:t>2024/1/26</a:t>
            </a:fld>
            <a:endParaRPr lang="zh-TW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10B2432-A20E-4E26-94E6-104434F1F062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1120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AD114F-B2F7-49D6-84C2-BEBF7C5739ED}" type="datetime1">
              <a:rPr lang="zh-TW" altLang="en-US"/>
              <a:pPr>
                <a:defRPr/>
              </a:pPr>
              <a:t>2024/1/26</a:t>
            </a:fld>
            <a:endParaRPr lang="zh-TW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D8C9091-334D-4D2D-81D2-8FCC512423D2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1262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E12379-5E08-4DCD-8D58-414798F05313}" type="datetime1">
              <a:rPr lang="zh-TW" altLang="en-US"/>
              <a:pPr>
                <a:defRPr/>
              </a:pPr>
              <a:t>2024/1/26</a:t>
            </a:fld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ECFAE55-6585-4179-99E2-ACF000E4A327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9821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0EBB0F-14A2-4190-86A3-9636FD7A888E}" type="datetime1">
              <a:rPr lang="zh-TW" altLang="en-US"/>
              <a:pPr>
                <a:defRPr/>
              </a:pPr>
              <a:t>2024/1/26</a:t>
            </a:fld>
            <a:endParaRPr lang="zh-TW" alt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A4EB1E-05BF-4B7D-BD16-48CA8D78EE43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2946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44DBA1-126E-41A1-A531-A26B3F9257A6}" type="datetime1">
              <a:rPr lang="zh-TW" altLang="en-US"/>
              <a:pPr>
                <a:defRPr/>
              </a:pPr>
              <a:t>2024/1/26</a:t>
            </a:fld>
            <a:endParaRPr lang="zh-TW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A10F7A5-06E4-4075-B789-BD63EF0624B7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244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A334A2-72CE-4E4F-B739-E3603839837D}" type="datetime1">
              <a:rPr lang="zh-TW" altLang="en-US"/>
              <a:pPr>
                <a:defRPr/>
              </a:pPr>
              <a:t>2024/1/26</a:t>
            </a:fld>
            <a:endParaRPr lang="zh-TW" altLang="en-US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2A3647F-B5CB-4C0D-A009-B847CBF56DA1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1095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0EEA13-B897-446A-9E05-35D1B64E177F}" type="datetime1">
              <a:rPr lang="zh-TW" altLang="en-US"/>
              <a:pPr>
                <a:defRPr/>
              </a:pPr>
              <a:t>2024/1/26</a:t>
            </a:fld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99009B8-C727-446A-BB14-3FF14188E03E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744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996E2F-0C21-4EB4-8701-E162043E43C4}" type="datetime1">
              <a:rPr lang="zh-TW" altLang="en-US"/>
              <a:pPr>
                <a:defRPr/>
              </a:pPr>
              <a:t>2024/1/26</a:t>
            </a:fld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B18E4B5-6C1A-476F-A70A-20E87078FF2A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1150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9DDC33-D226-41A8-9FBF-FDBA94F444A2}" type="datetime1">
              <a:rPr lang="zh-TW" altLang="en-US"/>
              <a:pPr>
                <a:defRPr/>
              </a:pPr>
              <a:t>2024/1/26</a:t>
            </a:fld>
            <a:endParaRPr lang="zh-TW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38670BE-EA1A-47B4-A2A3-6C3BD5E6F1C6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3972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AB1025-4FFF-40E2-A260-42D6146E33EA}" type="datetime1">
              <a:rPr lang="zh-TW" altLang="en-US"/>
              <a:pPr>
                <a:defRPr/>
              </a:pPr>
              <a:t>2024/1/26</a:t>
            </a:fld>
            <a:endParaRPr lang="zh-TW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B3ED241-944F-41C1-99C2-C0CEA3245B44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7673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6A5CD9D-9D6D-4889-90A9-F8A0134ABA04}" type="datetime1">
              <a:rPr lang="zh-TW" altLang="en-US"/>
              <a:pPr>
                <a:defRPr/>
              </a:pPr>
              <a:t>2024/1/26</a:t>
            </a:fld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35375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200">
                <a:solidFill>
                  <a:srgbClr val="7F7F7F"/>
                </a:solidFill>
              </a:defRPr>
            </a:lvl1pPr>
          </a:lstStyle>
          <a:p>
            <a:fld id="{D419ED81-ED36-436D-8B37-3EE69C921561}" type="slidenum">
              <a:rPr lang="zh-TW" altLang="en-US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D006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panose="020B0604020202020204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://ntdept2/sites/S000/S200/S210/OI/Forms/AllItems.aspx" TargetMode="Externa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170204" y="1080269"/>
            <a:ext cx="8794335" cy="184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rgbClr val="E61C0E"/>
                </a:solidFill>
                <a:latin typeface="+mn-lt"/>
                <a:ea typeface="+mn-ea"/>
                <a:cs typeface="Arial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00600"/>
                </a:solidFill>
                <a:latin typeface="Calibri" pitchFamily="34" charset="0"/>
                <a:ea typeface="新細明體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00600"/>
                </a:solidFill>
                <a:latin typeface="Calibri" pitchFamily="34" charset="0"/>
                <a:ea typeface="新細明體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00600"/>
                </a:solidFill>
                <a:latin typeface="Calibri" pitchFamily="34" charset="0"/>
                <a:ea typeface="新細明體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00600"/>
                </a:solidFill>
                <a:latin typeface="Calibri" pitchFamily="34" charset="0"/>
                <a:ea typeface="新細明體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00600"/>
                </a:solidFill>
                <a:latin typeface="Calibri" pitchFamily="34" charset="0"/>
                <a:ea typeface="新細明體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00600"/>
                </a:solidFill>
                <a:latin typeface="Calibri" pitchFamily="34" charset="0"/>
                <a:ea typeface="新細明體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00600"/>
                </a:solidFill>
                <a:latin typeface="Calibri" pitchFamily="34" charset="0"/>
                <a:ea typeface="新細明體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00600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>
              <a:defRPr/>
            </a:pPr>
            <a:r>
              <a:rPr lang="en-US" altLang="zh-TW" sz="3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2023/09/27 </a:t>
            </a:r>
          </a:p>
          <a:p>
            <a:pPr>
              <a:defRPr/>
            </a:pPr>
            <a:r>
              <a:rPr lang="en-US" altLang="zh-TW" sz="3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F06 RUN G33 STEP.5 gas interlock abort</a:t>
            </a:r>
            <a:endParaRPr kumimoji="1" lang="zh-TW" altLang="zh-TW" sz="3200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0" name="Rectangle 4"/>
          <p:cNvSpPr>
            <a:spLocks noChangeArrowheads="1"/>
          </p:cNvSpPr>
          <p:nvPr/>
        </p:nvSpPr>
        <p:spPr bwMode="auto">
          <a:xfrm>
            <a:off x="411163" y="188913"/>
            <a:ext cx="69691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1. 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選定團隊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Form the Team</a:t>
            </a:r>
            <a:endParaRPr lang="zh-TW" altLang="en-US" dirty="0">
              <a:solidFill>
                <a:srgbClr val="4D4D4D"/>
              </a:solidFill>
              <a:latin typeface="+mn-lt"/>
              <a:ea typeface="新細明體" pitchFamily="18" charset="-120"/>
            </a:endParaRPr>
          </a:p>
        </p:txBody>
      </p:sp>
      <p:sp>
        <p:nvSpPr>
          <p:cNvPr id="19459" name="Text Box 5"/>
          <p:cNvSpPr txBox="1">
            <a:spLocks noChangeArrowheads="1"/>
          </p:cNvSpPr>
          <p:nvPr/>
        </p:nvSpPr>
        <p:spPr bwMode="auto">
          <a:xfrm>
            <a:off x="411163" y="908720"/>
            <a:ext cx="319523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zh-TW" altLang="zh-TW" sz="1600" dirty="0">
                <a:latin typeface="+mn-lt"/>
              </a:rPr>
              <a:t>團隊負責人</a:t>
            </a:r>
            <a:r>
              <a:rPr lang="en-US" altLang="zh-TW" sz="1600" dirty="0">
                <a:latin typeface="+mn-lt"/>
              </a:rPr>
              <a:t>Team Leader/Dept.: </a:t>
            </a:r>
            <a:endParaRPr lang="en-US" altLang="zh-TW" b="1" dirty="0">
              <a:latin typeface="+mn-lt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2034727"/>
              </p:ext>
            </p:extLst>
          </p:nvPr>
        </p:nvGraphicFramePr>
        <p:xfrm>
          <a:off x="847725" y="1775965"/>
          <a:ext cx="7684715" cy="136359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987971">
                  <a:extLst>
                    <a:ext uri="{9D8B030D-6E8A-4147-A177-3AD203B41FA5}">
                      <a16:colId xmlns:a16="http://schemas.microsoft.com/office/drawing/2014/main" val="346432216"/>
                    </a:ext>
                  </a:extLst>
                </a:gridCol>
                <a:gridCol w="4135172">
                  <a:extLst>
                    <a:ext uri="{9D8B030D-6E8A-4147-A177-3AD203B41FA5}">
                      <a16:colId xmlns:a16="http://schemas.microsoft.com/office/drawing/2014/main" val="1412103406"/>
                    </a:ext>
                  </a:extLst>
                </a:gridCol>
                <a:gridCol w="2561572">
                  <a:extLst>
                    <a:ext uri="{9D8B030D-6E8A-4147-A177-3AD203B41FA5}">
                      <a16:colId xmlns:a16="http://schemas.microsoft.com/office/drawing/2014/main" val="136634019"/>
                    </a:ext>
                  </a:extLst>
                </a:gridCol>
              </a:tblGrid>
              <a:tr h="164712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en-US" sz="16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Name</a:t>
                      </a:r>
                      <a:endParaRPr lang="zh-TW" sz="16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18415" marB="18415" anchor="ctr"/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en-US" sz="16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Department</a:t>
                      </a:r>
                      <a:endParaRPr lang="zh-TW" sz="16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18415" marB="18415" anchor="ctr"/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en-US" sz="16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Position</a:t>
                      </a:r>
                      <a:endParaRPr lang="zh-TW" sz="16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18415" marB="18415" anchor="ctr"/>
                </a:tc>
                <a:extLst>
                  <a:ext uri="{0D108BD9-81ED-4DB2-BD59-A6C34878D82A}">
                    <a16:rowId xmlns:a16="http://schemas.microsoft.com/office/drawing/2014/main" val="4275884514"/>
                  </a:ext>
                </a:extLst>
              </a:tr>
              <a:tr h="168050">
                <a:tc>
                  <a:txBody>
                    <a:bodyPr/>
                    <a:lstStyle/>
                    <a:p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薛鐘隆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S220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FAB2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011847256"/>
                  </a:ext>
                </a:extLst>
              </a:tr>
              <a:tr h="168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黃世杰</a:t>
                      </a:r>
                      <a:endParaRPr kumimoji="1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S210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FAB2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422301957"/>
                  </a:ext>
                </a:extLst>
              </a:tr>
              <a:tr h="168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黃建華</a:t>
                      </a:r>
                      <a:endParaRPr kumimoji="1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S220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FAB2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714848460"/>
                  </a:ext>
                </a:extLst>
              </a:tr>
            </a:tbl>
          </a:graphicData>
        </a:graphic>
      </p:graphicFrame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411163" y="1290208"/>
            <a:ext cx="268708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+mn-lt"/>
              </a:rPr>
              <a:t>成員</a:t>
            </a:r>
            <a:r>
              <a:rPr lang="en-US" altLang="zh-TW" sz="1600" dirty="0">
                <a:latin typeface="+mn-lt"/>
              </a:rPr>
              <a:t>Team Member/Dept.:</a:t>
            </a:r>
            <a:endParaRPr lang="en-US" altLang="zh-TW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50133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Group 138"/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2278619014"/>
              </p:ext>
            </p:extLst>
          </p:nvPr>
        </p:nvGraphicFramePr>
        <p:xfrm>
          <a:off x="341313" y="1358769"/>
          <a:ext cx="8685212" cy="5130571"/>
        </p:xfrm>
        <a:graphic>
          <a:graphicData uri="http://schemas.openxmlformats.org/drawingml/2006/table">
            <a:tbl>
              <a:tblPr/>
              <a:tblGrid>
                <a:gridCol w="1044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402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170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" pitchFamily="34" charset="0"/>
                        </a:rPr>
                        <a:t>What</a:t>
                      </a:r>
                    </a:p>
                  </a:txBody>
                  <a:tcPr marL="91432" marR="91432"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20230927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F06 RUN G33 STEP.5 </a:t>
                      </a:r>
                      <a:r>
                        <a:rPr kumimoji="0" lang="zh-TW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剩</a:t>
                      </a: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00:11:58</a:t>
                      </a:r>
                      <a:r>
                        <a:rPr kumimoji="0" lang="zh-TW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時</a:t>
                      </a: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gas interlock abort</a:t>
                      </a:r>
                      <a:endParaRPr kumimoji="1" lang="zh-TW" altLang="zh-TW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altLang="zh-TW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j-lt"/>
                        <a:ea typeface="Arial Unicode MS" pitchFamily="34" charset="-120"/>
                        <a:cs typeface="Arial" pitchFamily="34" charset="0"/>
                      </a:endParaRPr>
                    </a:p>
                  </a:txBody>
                  <a:tcPr marL="91432" marR="91432"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1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" pitchFamily="34" charset="0"/>
                        </a:rPr>
                        <a:t>Where</a:t>
                      </a:r>
                    </a:p>
                  </a:txBody>
                  <a:tcPr marL="91432" marR="91432" marT="45718" marB="457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itchFamily="34" charset="0"/>
                        </a:rPr>
                        <a:t>Oper.6072</a:t>
                      </a:r>
                      <a:endParaRPr kumimoji="0" lang="zh-TW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itchFamily="34" charset="0"/>
                      </a:endParaRPr>
                    </a:p>
                  </a:txBody>
                  <a:tcPr marL="91432" marR="91432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0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" pitchFamily="34" charset="0"/>
                        </a:rPr>
                        <a:t>When</a:t>
                      </a:r>
                    </a:p>
                  </a:txBody>
                  <a:tcPr marL="91432" marR="91432" marT="45718" marB="457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itchFamily="34" charset="0"/>
                        </a:rPr>
                        <a:t>2023/09/27</a:t>
                      </a:r>
                    </a:p>
                  </a:txBody>
                  <a:tcPr marL="91432" marR="91432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3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TW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" pitchFamily="34" charset="0"/>
                        </a:rPr>
                        <a:t>Extent</a:t>
                      </a:r>
                    </a:p>
                  </a:txBody>
                  <a:tcPr marL="91432" marR="91432"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itchFamily="34" charset="0"/>
                        </a:rPr>
                        <a:t>1 lot/ 25 pcs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endParaRPr kumimoji="0" lang="en-US" altLang="zh-TW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j-lt"/>
                        <a:ea typeface="Arial Unicode MS" pitchFamily="34" charset="-120"/>
                        <a:cs typeface="Arial" pitchFamily="34" charset="0"/>
                      </a:endParaRPr>
                    </a:p>
                  </a:txBody>
                  <a:tcPr marL="91432" marR="91432"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7348" name="Rectangle 4"/>
          <p:cNvSpPr>
            <a:spLocks noChangeArrowheads="1"/>
          </p:cNvSpPr>
          <p:nvPr/>
        </p:nvSpPr>
        <p:spPr bwMode="auto">
          <a:xfrm>
            <a:off x="206515" y="460993"/>
            <a:ext cx="882001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2.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描述問題及現況掌握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Describe the Problem</a:t>
            </a:r>
          </a:p>
          <a:p>
            <a:pPr>
              <a:defRPr/>
            </a:pPr>
            <a:r>
              <a:rPr lang="en-US" altLang="zh-TW" sz="1200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(WHO detected the problem? WHAT is wrong? State the problem in terms of object and defect. WHERE the problem was first detected, describe location of the detection, lot #,  WHEN and HOW it was detected)</a:t>
            </a:r>
            <a:r>
              <a:rPr lang="en-US" altLang="zh-TW" sz="1200" dirty="0">
                <a:solidFill>
                  <a:srgbClr val="4D4D4D"/>
                </a:solidFill>
                <a:latin typeface="+mn-lt"/>
                <a:ea typeface="新細明體" pitchFamily="18" charset="-120"/>
              </a:rPr>
              <a:t> </a:t>
            </a:r>
            <a:endParaRPr lang="zh-TW" altLang="en-US" sz="1200" dirty="0">
              <a:solidFill>
                <a:srgbClr val="4D4D4D"/>
              </a:solidFill>
              <a:latin typeface="+mn-lt"/>
              <a:ea typeface="新細明體" pitchFamily="18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78DB8AC-C21F-D358-4CCF-298528D46D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768" y="4149080"/>
            <a:ext cx="5182049" cy="153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95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206515" y="465521"/>
            <a:ext cx="88200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2.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描述問題及現況掌握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Describe the Problem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95536" y="827398"/>
            <a:ext cx="4752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</a:rPr>
              <a:t>lot History - </a:t>
            </a:r>
            <a:r>
              <a:rPr lang="zh-TW" altLang="zh-TW" sz="2000" b="1" dirty="0">
                <a:solidFill>
                  <a:srgbClr val="0000FF"/>
                </a:solidFill>
              </a:rPr>
              <a:t>調查過程簡述</a:t>
            </a:r>
            <a:r>
              <a:rPr lang="en-US" altLang="zh-TW" sz="2000" b="1" dirty="0">
                <a:solidFill>
                  <a:srgbClr val="0000FF"/>
                </a:solidFill>
              </a:rPr>
              <a:t> (Investigation): </a:t>
            </a:r>
            <a:endParaRPr lang="zh-TW" altLang="en-US" sz="2000" b="1" dirty="0">
              <a:solidFill>
                <a:srgbClr val="C00000"/>
              </a:solidFill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C86B103-A40B-00F1-D8B2-EAACAE37D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51" y="2059010"/>
            <a:ext cx="8690297" cy="2599885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45AD2B66-F7C3-D1BC-3969-EE8ADD6B3C4A}"/>
              </a:ext>
            </a:extLst>
          </p:cNvPr>
          <p:cNvSpPr txBox="1"/>
          <p:nvPr/>
        </p:nvSpPr>
        <p:spPr>
          <a:xfrm>
            <a:off x="226851" y="1589385"/>
            <a:ext cx="3842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將有問題的站點前後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run cards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貼上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F4A186A-16ED-C9E7-2C58-CEA78F54C967}"/>
              </a:ext>
            </a:extLst>
          </p:cNvPr>
          <p:cNvSpPr txBox="1"/>
          <p:nvPr/>
        </p:nvSpPr>
        <p:spPr>
          <a:xfrm>
            <a:off x="206515" y="4764853"/>
            <a:ext cx="86902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Issue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前站點：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6071</a:t>
            </a: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Issue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站點    ：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6072</a:t>
            </a: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Issue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後站點：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6143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64362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5FBCFBF5-5268-5050-4882-8ECBF1DFA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386846"/>
            <a:ext cx="7258639" cy="4084307"/>
          </a:xfrm>
          <a:prstGeom prst="rect">
            <a:avLst/>
          </a:prstGeom>
        </p:spPr>
      </p:pic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06515" y="460993"/>
            <a:ext cx="882001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2.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描述問題及現況掌握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Describe the Problem</a:t>
            </a:r>
          </a:p>
          <a:p>
            <a:pPr>
              <a:defRPr/>
            </a:pPr>
            <a:r>
              <a:rPr lang="en-US" altLang="zh-TW" sz="1200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(WHO detected the problem? WHAT is wrong? State the problem in terms of object and defect. WHERE the problem was first detected, describe location of the detection, lot #,  WHEN and HOW it was detected)</a:t>
            </a:r>
            <a:r>
              <a:rPr lang="en-US" altLang="zh-TW" sz="1200" dirty="0">
                <a:solidFill>
                  <a:srgbClr val="4D4D4D"/>
                </a:solidFill>
                <a:latin typeface="+mn-lt"/>
                <a:ea typeface="新細明體" pitchFamily="18" charset="-120"/>
              </a:rPr>
              <a:t> </a:t>
            </a:r>
            <a:endParaRPr lang="zh-TW" altLang="en-US" sz="1200" dirty="0">
              <a:solidFill>
                <a:srgbClr val="4D4D4D"/>
              </a:solidFill>
              <a:latin typeface="+mn-lt"/>
              <a:ea typeface="新細明體" pitchFamily="18" charset="-12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982434" y="1720101"/>
            <a:ext cx="1093622" cy="3751051"/>
          </a:xfrm>
          <a:prstGeom prst="rect">
            <a:avLst/>
          </a:prstGeom>
          <a:noFill/>
          <a:ln>
            <a:solidFill>
              <a:srgbClr val="E61C0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190B1201-3CB7-E3FF-0D1C-149A37A4C39F}"/>
              </a:ext>
            </a:extLst>
          </p:cNvPr>
          <p:cNvSpPr txBox="1"/>
          <p:nvPr/>
        </p:nvSpPr>
        <p:spPr>
          <a:xfrm>
            <a:off x="404052" y="5627565"/>
            <a:ext cx="8424936" cy="416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Run G33 step.5 GAS I/L abort, step.5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剩餘</a:t>
            </a:r>
            <a:r>
              <a:rPr 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00:11:58(step.5 total time:00:34:45)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14659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A9B7701-339C-164F-2A70-B9C12B9805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0B2432-A20E-4E26-94E6-104434F1F062}" type="slidenum">
              <a:rPr lang="zh-TW" altLang="en-US" smtClean="0"/>
              <a:pPr/>
              <a:t>5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816372BE-4320-C8E5-63D5-4AE620D76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6" y="2780928"/>
            <a:ext cx="9144000" cy="344156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DCFE1EFF-6ACC-E218-3271-0BC5A6D68FAE}"/>
              </a:ext>
            </a:extLst>
          </p:cNvPr>
          <p:cNvSpPr/>
          <p:nvPr/>
        </p:nvSpPr>
        <p:spPr>
          <a:xfrm>
            <a:off x="107504" y="1772816"/>
            <a:ext cx="81819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RMS check  </a:t>
            </a:r>
          </a:p>
          <a:p>
            <a:pPr>
              <a:defRPr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Check temp : Step.5 TEMP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正常，於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STEP.5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剩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11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分鐘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58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秒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GAS interlock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ABORT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03B53C9-470F-2634-54F3-4579B33DC4A1}"/>
              </a:ext>
            </a:extLst>
          </p:cNvPr>
          <p:cNvSpPr/>
          <p:nvPr/>
        </p:nvSpPr>
        <p:spPr>
          <a:xfrm>
            <a:off x="3851920" y="2420888"/>
            <a:ext cx="2376264" cy="38884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774FD51-B854-D072-F37E-5B1536136568}"/>
              </a:ext>
            </a:extLst>
          </p:cNvPr>
          <p:cNvSpPr txBox="1"/>
          <p:nvPr/>
        </p:nvSpPr>
        <p:spPr>
          <a:xfrm>
            <a:off x="4486054" y="245427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設定溫度</a:t>
            </a:r>
            <a:endParaRPr 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0C2C5E5-21B3-F082-A712-E1D68AA8998E}"/>
              </a:ext>
            </a:extLst>
          </p:cNvPr>
          <p:cNvSpPr/>
          <p:nvPr/>
        </p:nvSpPr>
        <p:spPr>
          <a:xfrm>
            <a:off x="6228184" y="2420888"/>
            <a:ext cx="2898830" cy="38884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02FD1E0-D568-A47D-4FDE-A591006592AA}"/>
              </a:ext>
            </a:extLst>
          </p:cNvPr>
          <p:cNvSpPr txBox="1"/>
          <p:nvPr/>
        </p:nvSpPr>
        <p:spPr>
          <a:xfrm>
            <a:off x="7001771" y="2438023"/>
            <a:ext cx="1351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實際溫度</a:t>
            </a:r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B82A42DC-F110-E206-2104-B828B784E8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515" y="465521"/>
            <a:ext cx="88200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2.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描述問題及現況掌握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Describe the Problem</a:t>
            </a: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9428C197-BCF5-3CD2-5374-F98B86CF09D4}"/>
              </a:ext>
            </a:extLst>
          </p:cNvPr>
          <p:cNvSpPr txBox="1"/>
          <p:nvPr/>
        </p:nvSpPr>
        <p:spPr>
          <a:xfrm>
            <a:off x="395536" y="827398"/>
            <a:ext cx="4752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</a:rPr>
              <a:t>lot History - </a:t>
            </a:r>
            <a:r>
              <a:rPr lang="zh-TW" altLang="zh-TW" sz="2000" b="1" dirty="0">
                <a:solidFill>
                  <a:srgbClr val="0000FF"/>
                </a:solidFill>
              </a:rPr>
              <a:t>調查過程簡述</a:t>
            </a:r>
            <a:r>
              <a:rPr lang="en-US" altLang="zh-TW" sz="2000" b="1" dirty="0">
                <a:solidFill>
                  <a:srgbClr val="0000FF"/>
                </a:solidFill>
              </a:rPr>
              <a:t> (Investigation): </a:t>
            </a:r>
            <a:endParaRPr lang="zh-TW" altLang="en-US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434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54295E2-D192-38D0-3CF5-4C297F7452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0B2432-A20E-4E26-94E6-104434F1F062}" type="slidenum">
              <a:rPr lang="zh-TW" altLang="en-US" smtClean="0"/>
              <a:pPr/>
              <a:t>6</a:t>
            </a:fld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FD2E11B-7B57-5A9A-336E-B10654C79361}"/>
              </a:ext>
            </a:extLst>
          </p:cNvPr>
          <p:cNvSpPr/>
          <p:nvPr/>
        </p:nvSpPr>
        <p:spPr>
          <a:xfrm>
            <a:off x="58345" y="1794882"/>
            <a:ext cx="259228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Check GAS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flow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0315C62-8E21-7104-97A5-360B13E71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80238"/>
            <a:ext cx="9144000" cy="3173472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643612C-4083-3A1D-6628-09BC1C9BE0D8}"/>
              </a:ext>
            </a:extLst>
          </p:cNvPr>
          <p:cNvSpPr/>
          <p:nvPr/>
        </p:nvSpPr>
        <p:spPr>
          <a:xfrm>
            <a:off x="3419872" y="1948190"/>
            <a:ext cx="2349103" cy="41044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E196969-5639-72F5-BB1C-99516F665731}"/>
              </a:ext>
            </a:extLst>
          </p:cNvPr>
          <p:cNvSpPr/>
          <p:nvPr/>
        </p:nvSpPr>
        <p:spPr>
          <a:xfrm>
            <a:off x="5868144" y="1948190"/>
            <a:ext cx="3275856" cy="41044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6E5F746F-855A-EB73-F925-11C190E5DE6A}"/>
              </a:ext>
            </a:extLst>
          </p:cNvPr>
          <p:cNvSpPr txBox="1"/>
          <p:nvPr/>
        </p:nvSpPr>
        <p:spPr>
          <a:xfrm>
            <a:off x="4146578" y="1639253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設定值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52887EE-F956-2ED4-DA9A-6260D787E903}"/>
              </a:ext>
            </a:extLst>
          </p:cNvPr>
          <p:cNvSpPr txBox="1"/>
          <p:nvPr/>
        </p:nvSpPr>
        <p:spPr>
          <a:xfrm>
            <a:off x="7067490" y="1610216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實際值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67DD210-8A8F-4F4D-5FAF-ECF33502DE37}"/>
              </a:ext>
            </a:extLst>
          </p:cNvPr>
          <p:cNvSpPr txBox="1"/>
          <p:nvPr/>
        </p:nvSpPr>
        <p:spPr>
          <a:xfrm>
            <a:off x="3919593" y="2071301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O2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161D06F4-EDD8-377C-C964-64EB4ED047B6}"/>
              </a:ext>
            </a:extLst>
          </p:cNvPr>
          <p:cNvSpPr txBox="1"/>
          <p:nvPr/>
        </p:nvSpPr>
        <p:spPr>
          <a:xfrm>
            <a:off x="5232438" y="2050610"/>
            <a:ext cx="586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T-LC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59A3B23-CFD2-B5BF-E6C2-E42F26495A3B}"/>
              </a:ext>
            </a:extLst>
          </p:cNvPr>
          <p:cNvSpPr txBox="1"/>
          <p:nvPr/>
        </p:nvSpPr>
        <p:spPr>
          <a:xfrm>
            <a:off x="6571523" y="2071807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O2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BEB242F-7346-59AA-1DD0-0DF716859EB4}"/>
              </a:ext>
            </a:extLst>
          </p:cNvPr>
          <p:cNvSpPr txBox="1"/>
          <p:nvPr/>
        </p:nvSpPr>
        <p:spPr>
          <a:xfrm>
            <a:off x="8521438" y="2051812"/>
            <a:ext cx="586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T-LC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0D32F2C2-D631-40B2-7A5B-F50BCCD575D3}"/>
              </a:ext>
            </a:extLst>
          </p:cNvPr>
          <p:cNvSpPr txBox="1"/>
          <p:nvPr/>
        </p:nvSpPr>
        <p:spPr>
          <a:xfrm>
            <a:off x="100877" y="6064851"/>
            <a:ext cx="45816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Step.5 O2 &amp; Tr-LC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流量正常。</a:t>
            </a:r>
            <a:endParaRPr lang="en-US" sz="1400" dirty="0"/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C0B044DE-1BE4-67C8-1F63-72D65D6720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515" y="465521"/>
            <a:ext cx="88200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2.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描述問題及現況掌握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Describe the Problem</a:t>
            </a:r>
          </a:p>
        </p:txBody>
      </p:sp>
      <p:sp>
        <p:nvSpPr>
          <p:cNvPr id="15" name="TextBox 1">
            <a:extLst>
              <a:ext uri="{FF2B5EF4-FFF2-40B4-BE49-F238E27FC236}">
                <a16:creationId xmlns:a16="http://schemas.microsoft.com/office/drawing/2014/main" id="{213B941D-C2F0-A9B4-1C70-A6BF7580BA51}"/>
              </a:ext>
            </a:extLst>
          </p:cNvPr>
          <p:cNvSpPr txBox="1"/>
          <p:nvPr/>
        </p:nvSpPr>
        <p:spPr>
          <a:xfrm>
            <a:off x="395536" y="827398"/>
            <a:ext cx="4752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</a:rPr>
              <a:t>lot History - </a:t>
            </a:r>
            <a:r>
              <a:rPr lang="zh-TW" altLang="zh-TW" sz="2000" b="1" dirty="0">
                <a:solidFill>
                  <a:srgbClr val="0000FF"/>
                </a:solidFill>
              </a:rPr>
              <a:t>調查過程簡述</a:t>
            </a:r>
            <a:r>
              <a:rPr lang="en-US" altLang="zh-TW" sz="2000" b="1" dirty="0">
                <a:solidFill>
                  <a:srgbClr val="0000FF"/>
                </a:solidFill>
              </a:rPr>
              <a:t> (Investigation): </a:t>
            </a:r>
            <a:endParaRPr lang="zh-TW" altLang="en-US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8212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44463" y="1379145"/>
            <a:ext cx="8229600" cy="490066"/>
          </a:xfrm>
        </p:spPr>
        <p:txBody>
          <a:bodyPr/>
          <a:lstStyle/>
          <a:p>
            <a:r>
              <a:rPr lang="en-US" altLang="zh-TW" dirty="0"/>
              <a:t>EDC &amp; RTC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>
          <a:xfrm>
            <a:off x="3604950" y="6094759"/>
            <a:ext cx="2133600" cy="365125"/>
          </a:xfrm>
        </p:spPr>
        <p:txBody>
          <a:bodyPr/>
          <a:lstStyle/>
          <a:p>
            <a:fld id="{0A10F7A5-06E4-4075-B789-BD63EF0624B7}" type="slidenum">
              <a:rPr lang="zh-TW" altLang="en-US" smtClean="0"/>
              <a:pPr/>
              <a:t>7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A3DCA05-9EF6-7BE2-E27E-A52FB1F74E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780" y="2195706"/>
            <a:ext cx="8707589" cy="1900353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CD538126-38E6-DA1A-D3D1-8DDDB83708B9}"/>
              </a:ext>
            </a:extLst>
          </p:cNvPr>
          <p:cNvSpPr txBox="1"/>
          <p:nvPr/>
        </p:nvSpPr>
        <p:spPr>
          <a:xfrm>
            <a:off x="187780" y="1829578"/>
            <a:ext cx="36134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前一個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RUN G36_C4_240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厚度正常。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393BE5E7-2E4E-8B2D-BE80-D546BD35F22F}"/>
              </a:ext>
            </a:extLst>
          </p:cNvPr>
          <p:cNvSpPr/>
          <p:nvPr/>
        </p:nvSpPr>
        <p:spPr>
          <a:xfrm>
            <a:off x="8574063" y="2771770"/>
            <a:ext cx="360000" cy="36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060ADF13-450E-5610-819D-2E3699838D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591" y="4581128"/>
            <a:ext cx="8699778" cy="1898649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E522F83C-3C4A-752B-DD3F-108C688E72A1}"/>
              </a:ext>
            </a:extLst>
          </p:cNvPr>
          <p:cNvSpPr txBox="1"/>
          <p:nvPr/>
        </p:nvSpPr>
        <p:spPr>
          <a:xfrm>
            <a:off x="195591" y="4196345"/>
            <a:ext cx="3238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異常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RUN G33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之前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RTC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皆正常。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3A57895-355A-A368-F121-0EEAA265E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515" y="465521"/>
            <a:ext cx="88200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2.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描述問題及現況掌握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Describe the Problem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C296857C-2459-2905-E69B-15B8716358BF}"/>
              </a:ext>
            </a:extLst>
          </p:cNvPr>
          <p:cNvSpPr txBox="1"/>
          <p:nvPr/>
        </p:nvSpPr>
        <p:spPr>
          <a:xfrm>
            <a:off x="395536" y="827398"/>
            <a:ext cx="4752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</a:rPr>
              <a:t>lot History - </a:t>
            </a:r>
            <a:r>
              <a:rPr lang="zh-TW" altLang="zh-TW" sz="2000" b="1" dirty="0">
                <a:solidFill>
                  <a:srgbClr val="0000FF"/>
                </a:solidFill>
              </a:rPr>
              <a:t>調查過程簡述</a:t>
            </a:r>
            <a:r>
              <a:rPr lang="en-US" altLang="zh-TW" sz="2000" b="1" dirty="0">
                <a:solidFill>
                  <a:srgbClr val="0000FF"/>
                </a:solidFill>
              </a:rPr>
              <a:t> (Investigation): </a:t>
            </a:r>
            <a:endParaRPr lang="zh-TW" altLang="en-US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5752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980616"/>
            <a:ext cx="8229600" cy="490066"/>
          </a:xfrm>
        </p:spPr>
        <p:txBody>
          <a:bodyPr/>
          <a:lstStyle/>
          <a:p>
            <a:r>
              <a:rPr lang="en-US" altLang="zh-TW" sz="3200" dirty="0"/>
              <a:t>OCAP</a:t>
            </a:r>
            <a:endParaRPr lang="zh-TW" altLang="en-US" sz="3200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A10F7A5-06E4-4075-B789-BD63EF0624B7}" type="slidenum">
              <a:rPr lang="zh-TW" altLang="en-US" smtClean="0"/>
              <a:pPr/>
              <a:t>8</a:t>
            </a:fld>
            <a:endParaRPr lang="zh-TW" altLang="en-US"/>
          </a:p>
        </p:txBody>
      </p:sp>
      <p:sp>
        <p:nvSpPr>
          <p:cNvPr id="4" name="文字方塊 3"/>
          <p:cNvSpPr txBox="1"/>
          <p:nvPr/>
        </p:nvSpPr>
        <p:spPr>
          <a:xfrm>
            <a:off x="395536" y="1365611"/>
            <a:ext cx="84969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貼出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此異常事件的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OCAP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處理流程圖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依此流程所下之決定為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TOX O.O.S.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時一律報廢。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(OI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 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S210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網頁有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2"/>
              </a:rPr>
              <a:t>word file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16" name="圖片 115">
            <a:extLst>
              <a:ext uri="{FF2B5EF4-FFF2-40B4-BE49-F238E27FC236}">
                <a16:creationId xmlns:a16="http://schemas.microsoft.com/office/drawing/2014/main" id="{45EF84F9-BAAD-1A64-CE72-9A8AE65E5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9041" y="2366133"/>
            <a:ext cx="3772868" cy="4473738"/>
          </a:xfrm>
          <a:prstGeom prst="rect">
            <a:avLst/>
          </a:prstGeom>
        </p:spPr>
      </p:pic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860221AC-4641-A98E-E4F2-D091211D7F11}"/>
              </a:ext>
            </a:extLst>
          </p:cNvPr>
          <p:cNvCxnSpPr/>
          <p:nvPr/>
        </p:nvCxnSpPr>
        <p:spPr>
          <a:xfrm>
            <a:off x="2823477" y="2438141"/>
            <a:ext cx="0" cy="18722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86A69C10-9513-BD13-CACD-B016389F6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516" y="241747"/>
            <a:ext cx="88200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2.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描述問題及現況掌握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Describe the Problem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B68CCFEE-1E6C-8A50-D91D-58BEC5583C7A}"/>
              </a:ext>
            </a:extLst>
          </p:cNvPr>
          <p:cNvSpPr txBox="1"/>
          <p:nvPr/>
        </p:nvSpPr>
        <p:spPr>
          <a:xfrm>
            <a:off x="395537" y="603624"/>
            <a:ext cx="4752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</a:rPr>
              <a:t>lot History - </a:t>
            </a:r>
            <a:r>
              <a:rPr lang="zh-TW" altLang="zh-TW" sz="2000" b="1" dirty="0">
                <a:solidFill>
                  <a:srgbClr val="0000FF"/>
                </a:solidFill>
              </a:rPr>
              <a:t>調查過程簡述</a:t>
            </a:r>
            <a:r>
              <a:rPr lang="en-US" altLang="zh-TW" sz="2000" b="1" dirty="0">
                <a:solidFill>
                  <a:srgbClr val="0000FF"/>
                </a:solidFill>
              </a:rPr>
              <a:t> (Investigation): </a:t>
            </a:r>
            <a:endParaRPr lang="zh-TW" altLang="en-US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548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2783071"/>
              </p:ext>
            </p:extLst>
          </p:nvPr>
        </p:nvGraphicFramePr>
        <p:xfrm>
          <a:off x="431541" y="1563039"/>
          <a:ext cx="8172906" cy="3696792"/>
        </p:xfrm>
        <a:graphic>
          <a:graphicData uri="http://schemas.openxmlformats.org/drawingml/2006/table">
            <a:tbl>
              <a:tblPr/>
              <a:tblGrid>
                <a:gridCol w="684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95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55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5591">
                  <a:extLst>
                    <a:ext uri="{9D8B030D-6E8A-4147-A177-3AD203B41FA5}">
                      <a16:colId xmlns:a16="http://schemas.microsoft.com/office/drawing/2014/main" val="928540337"/>
                    </a:ext>
                  </a:extLst>
                </a:gridCol>
              </a:tblGrid>
              <a:tr h="36082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zh-TW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新細明體" pitchFamily="18" charset="-120"/>
                      </a:endParaRP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zh-TW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新細明體" pitchFamily="18" charset="-120"/>
                      </a:endParaRP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itchFamily="18" charset="-120"/>
                          <a:cs typeface="Arial" pitchFamily="34" charset="0"/>
                        </a:rPr>
                        <a:t>Is </a:t>
                      </a:r>
                      <a:endParaRPr kumimoji="0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rgbClr val="081D58"/>
                        </a:solidFill>
                        <a:effectLst/>
                        <a:latin typeface="+mj-lt"/>
                        <a:ea typeface="新細明體" pitchFamily="18" charset="-120"/>
                        <a:cs typeface="Arial" pitchFamily="34" charset="0"/>
                      </a:endParaRP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44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itchFamily="18" charset="-120"/>
                          <a:cs typeface="Arial" pitchFamily="34" charset="0"/>
                        </a:rPr>
                        <a:t>Is Not </a:t>
                      </a:r>
                      <a:endParaRPr kumimoji="0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rgbClr val="081D58"/>
                        </a:solidFill>
                        <a:effectLst/>
                        <a:latin typeface="+mj-lt"/>
                        <a:ea typeface="新細明體" pitchFamily="18" charset="-120"/>
                        <a:cs typeface="Arial" pitchFamily="34" charset="0"/>
                      </a:endParaRP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44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Difference/Conclusion</a:t>
                      </a: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4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162"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itchFamily="18" charset="-120"/>
                          <a:cs typeface="Arial" pitchFamily="34" charset="0"/>
                        </a:rPr>
                        <a:t>What</a:t>
                      </a:r>
                      <a:endParaRPr kumimoji="0" lang="en-US" altLang="zh-TW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81D58"/>
                        </a:solidFill>
                        <a:effectLst/>
                        <a:latin typeface="+mj-lt"/>
                        <a:ea typeface="新細明體" pitchFamily="18" charset="-120"/>
                        <a:cs typeface="Arial" pitchFamily="34" charset="0"/>
                      </a:endParaRP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itchFamily="18" charset="-120"/>
                          <a:cs typeface="Arial" pitchFamily="34" charset="0"/>
                        </a:rPr>
                        <a:t>object</a:t>
                      </a:r>
                      <a:endParaRPr kumimoji="0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rgbClr val="081D58"/>
                        </a:solidFill>
                        <a:effectLst/>
                        <a:latin typeface="+mj-lt"/>
                        <a:ea typeface="新細明體" pitchFamily="18" charset="-120"/>
                        <a:cs typeface="Arial" pitchFamily="34" charset="0"/>
                      </a:endParaRP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j-lt"/>
                          <a:ea typeface="TT3EC0o00" charset="0"/>
                          <a:cs typeface="Arial" pitchFamily="34" charset="0"/>
                        </a:rPr>
                        <a:t>GOX</a:t>
                      </a:r>
                      <a:endParaRPr kumimoji="0" lang="zh-TW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j-lt"/>
                        <a:ea typeface="TT3EC0o00" charset="0"/>
                        <a:cs typeface="Arial" pitchFamily="34" charset="0"/>
                      </a:endParaRP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j-lt"/>
                          <a:ea typeface="新細明體" pitchFamily="18" charset="-120"/>
                          <a:cs typeface="Arial" pitchFamily="34" charset="0"/>
                        </a:rPr>
                        <a:t>Others</a:t>
                      </a:r>
                      <a:endParaRPr kumimoji="0" lang="zh-TW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j-lt"/>
                        <a:ea typeface="新細明體" pitchFamily="18" charset="-120"/>
                        <a:cs typeface="Arial" pitchFamily="34" charset="0"/>
                      </a:endParaRP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j-lt"/>
                          <a:ea typeface="新細明體" pitchFamily="18" charset="-120"/>
                          <a:cs typeface="Arial" pitchFamily="34" charset="0"/>
                        </a:rPr>
                        <a:t>NA</a:t>
                      </a:r>
                      <a:endParaRPr kumimoji="0" lang="zh-TW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j-lt"/>
                        <a:ea typeface="新細明體" pitchFamily="18" charset="-120"/>
                        <a:cs typeface="Arial" pitchFamily="34" charset="0"/>
                      </a:endParaRP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82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itchFamily="18" charset="-120"/>
                          <a:cs typeface="Arial" pitchFamily="34" charset="0"/>
                        </a:rPr>
                        <a:t>Defect</a:t>
                      </a:r>
                      <a:endParaRPr kumimoji="0" lang="en-US" altLang="zh-TW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81D58"/>
                        </a:solidFill>
                        <a:effectLst/>
                        <a:latin typeface="+mj-lt"/>
                        <a:ea typeface="新細明體" pitchFamily="18" charset="-120"/>
                        <a:cs typeface="Arial" pitchFamily="34" charset="0"/>
                      </a:endParaRP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  <a:ea typeface="TT3EC0o00" charset="0"/>
                          <a:cs typeface="Arial" pitchFamily="34" charset="0"/>
                        </a:rPr>
                        <a:t>GOX TOX </a:t>
                      </a: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j-lt"/>
                          <a:ea typeface="TT3EC0o00" charset="0"/>
                          <a:cs typeface="Arial" pitchFamily="34" charset="0"/>
                        </a:rPr>
                        <a:t>OOS</a:t>
                      </a:r>
                      <a:endParaRPr kumimoji="0" lang="zh-TW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TT3EC0o00" charset="0"/>
                        <a:cs typeface="Arial" pitchFamily="34" charset="0"/>
                      </a:endParaRP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  <a:ea typeface="TT3EC0o00" charset="0"/>
                          <a:cs typeface="Arial" pitchFamily="34" charset="0"/>
                        </a:rPr>
                        <a:t>GOX TOX  normal</a:t>
                      </a:r>
                      <a:endParaRPr kumimoji="0" lang="zh-TW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j-lt"/>
                        <a:ea typeface="新細明體" pitchFamily="18" charset="-120"/>
                        <a:cs typeface="Arial" pitchFamily="34" charset="0"/>
                      </a:endParaRP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400" b="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TOX</a:t>
                      </a:r>
                      <a:r>
                        <a:rPr lang="zh-TW" altLang="en-US" sz="1400" b="0" kern="100" baseline="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altLang="zh-TW" sz="1400" b="0" kern="100" baseline="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125.7</a:t>
                      </a:r>
                      <a:r>
                        <a:rPr lang="zh-TW" altLang="en-US" sz="1400" b="0" kern="100" baseline="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400" b="0" kern="100" baseline="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O.O.S.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400" b="0" kern="100" baseline="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( Spec</a:t>
                      </a:r>
                      <a:r>
                        <a:rPr lang="zh-TW" altLang="en-US" sz="1400" b="0" kern="100" baseline="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altLang="zh-TW" sz="1400" b="0" kern="100" baseline="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200+/-20A )</a:t>
                      </a:r>
                      <a:endParaRPr kumimoji="0" lang="zh-TW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j-lt"/>
                        <a:ea typeface="新細明體" pitchFamily="18" charset="-120"/>
                        <a:cs typeface="Arial" pitchFamily="34" charset="0"/>
                      </a:endParaRP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162"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itchFamily="18" charset="-120"/>
                          <a:cs typeface="Arial" pitchFamily="34" charset="0"/>
                        </a:rPr>
                        <a:t>Where</a:t>
                      </a:r>
                      <a:endParaRPr kumimoji="0" lang="en-US" altLang="zh-TW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81D58"/>
                        </a:solidFill>
                        <a:effectLst/>
                        <a:latin typeface="+mj-lt"/>
                        <a:ea typeface="新細明體" pitchFamily="18" charset="-120"/>
                        <a:cs typeface="Arial" pitchFamily="34" charset="0"/>
                      </a:endParaRP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itchFamily="18" charset="-120"/>
                          <a:cs typeface="Arial" pitchFamily="34" charset="0"/>
                        </a:rPr>
                        <a:t>Location</a:t>
                      </a:r>
                      <a:endParaRPr kumimoji="0" lang="en-US" altLang="zh-TW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81D58"/>
                        </a:solidFill>
                        <a:effectLst/>
                        <a:latin typeface="+mj-lt"/>
                        <a:ea typeface="新細明體" pitchFamily="18" charset="-120"/>
                        <a:cs typeface="Arial" pitchFamily="34" charset="0"/>
                      </a:endParaRP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j-lt"/>
                          <a:ea typeface="新細明體" pitchFamily="18" charset="-120"/>
                          <a:cs typeface="Times New Roman" pitchFamily="18" charset="0"/>
                        </a:rPr>
                        <a:t>6072 operation</a:t>
                      </a:r>
                      <a:endParaRPr kumimoji="0" lang="zh-TW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j-lt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Times New Roman" pitchFamily="18" charset="0"/>
                        </a:rPr>
                        <a:t>6072 operation</a:t>
                      </a:r>
                      <a:endParaRPr kumimoji="0" lang="zh-TW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Times New Roman" pitchFamily="18" charset="0"/>
                        </a:rPr>
                        <a:t>NA</a:t>
                      </a:r>
                      <a:endParaRPr kumimoji="0" lang="zh-TW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162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81D58"/>
                        </a:solidFill>
                        <a:effectLst/>
                        <a:latin typeface="+mj-lt"/>
                        <a:ea typeface="新細明體" pitchFamily="18" charset="-120"/>
                        <a:cs typeface="Arial" pitchFamily="34" charset="0"/>
                      </a:endParaRP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itchFamily="18" charset="-120"/>
                          <a:cs typeface="Arial" pitchFamily="34" charset="0"/>
                        </a:rPr>
                        <a:t>Machine</a:t>
                      </a: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j-lt"/>
                          <a:ea typeface="新細明體" pitchFamily="18" charset="-120"/>
                          <a:cs typeface="Times New Roman" pitchFamily="18" charset="0"/>
                        </a:rPr>
                        <a:t>F06</a:t>
                      </a:r>
                      <a:endParaRPr kumimoji="0" lang="zh-TW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j-lt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itchFamily="18" charset="-120"/>
                          <a:cs typeface="Arial" pitchFamily="34" charset="0"/>
                        </a:rPr>
                        <a:t>F16/F18/F19/F23</a:t>
                      </a:r>
                      <a:endParaRPr kumimoji="0" lang="zh-TW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新細明體" pitchFamily="18" charset="-120"/>
                        <a:cs typeface="Arial" pitchFamily="34" charset="0"/>
                      </a:endParaRP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j-lt"/>
                          <a:ea typeface="新細明體" pitchFamily="18" charset="-120"/>
                          <a:cs typeface="Arial" pitchFamily="34" charset="0"/>
                        </a:rPr>
                        <a:t>F06</a:t>
                      </a:r>
                      <a:endParaRPr kumimoji="0" lang="zh-TW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+mj-lt"/>
                        <a:ea typeface="新細明體" pitchFamily="18" charset="-120"/>
                        <a:cs typeface="Arial" pitchFamily="34" charset="0"/>
                      </a:endParaRP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24584"/>
                  </a:ext>
                </a:extLst>
              </a:tr>
              <a:tr h="360827"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itchFamily="18" charset="-120"/>
                          <a:cs typeface="Arial" pitchFamily="34" charset="0"/>
                        </a:rPr>
                        <a:t>When</a:t>
                      </a:r>
                      <a:endParaRPr kumimoji="0" lang="en-US" altLang="zh-TW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81D58"/>
                        </a:solidFill>
                        <a:effectLst/>
                        <a:latin typeface="+mj-lt"/>
                        <a:ea typeface="新細明體" pitchFamily="18" charset="-120"/>
                        <a:cs typeface="Arial" pitchFamily="34" charset="0"/>
                      </a:endParaRP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itchFamily="18" charset="-120"/>
                          <a:cs typeface="Arial" pitchFamily="34" charset="0"/>
                        </a:rPr>
                        <a:t>First time</a:t>
                      </a:r>
                      <a:endParaRPr kumimoji="0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rgbClr val="081D58"/>
                        </a:solidFill>
                        <a:effectLst/>
                        <a:latin typeface="+mj-lt"/>
                        <a:ea typeface="新細明體" pitchFamily="18" charset="-120"/>
                        <a:cs typeface="Arial" pitchFamily="34" charset="0"/>
                      </a:endParaRP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j-lt"/>
                          <a:ea typeface="新細明體" pitchFamily="18" charset="-120"/>
                          <a:cs typeface="Times New Roman" pitchFamily="18" charset="0"/>
                        </a:rPr>
                        <a:t>2023/9/27</a:t>
                      </a:r>
                      <a:endParaRPr kumimoji="0" lang="zh-TW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j-lt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j-lt"/>
                          <a:ea typeface="新細明體" pitchFamily="18" charset="-120"/>
                          <a:cs typeface="Arial" pitchFamily="34" charset="0"/>
                        </a:rPr>
                        <a:t>Not before</a:t>
                      </a:r>
                      <a:endParaRPr kumimoji="0" lang="zh-TW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j-lt"/>
                        <a:ea typeface="新細明體" pitchFamily="18" charset="-120"/>
                        <a:cs typeface="Arial" pitchFamily="34" charset="0"/>
                      </a:endParaRP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Times New Roman" pitchFamily="18" charset="0"/>
                        </a:rPr>
                        <a:t>2023/9/27</a:t>
                      </a:r>
                      <a:endParaRPr kumimoji="0" lang="zh-TW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82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itchFamily="18" charset="-120"/>
                          <a:cs typeface="Arial" pitchFamily="34" charset="0"/>
                        </a:rPr>
                        <a:t>Reoccurred</a:t>
                      </a:r>
                      <a:endParaRPr kumimoji="0" lang="en-US" altLang="zh-TW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81D58"/>
                        </a:solidFill>
                        <a:effectLst/>
                        <a:latin typeface="+mj-lt"/>
                        <a:ea typeface="新細明體" pitchFamily="18" charset="-120"/>
                        <a:cs typeface="Arial" pitchFamily="34" charset="0"/>
                      </a:endParaRP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Times New Roman" pitchFamily="18" charset="0"/>
                        </a:rPr>
                        <a:t>2023/9/27</a:t>
                      </a: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  <a:ea typeface="TT3EC0o00" charset="0"/>
                          <a:cs typeface="Arial" pitchFamily="34" charset="0"/>
                        </a:rPr>
                        <a:t>(</a:t>
                      </a:r>
                      <a:r>
                        <a:rPr kumimoji="0" lang="zh-TW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  <a:ea typeface="TT3EC0o00" charset="0"/>
                          <a:cs typeface="Arial" pitchFamily="34" charset="0"/>
                        </a:rPr>
                        <a:t>持續</a:t>
                      </a: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  <a:ea typeface="TT3EC0o00" charset="0"/>
                          <a:cs typeface="Arial" pitchFamily="34" charset="0"/>
                        </a:rPr>
                        <a:t>/</a:t>
                      </a:r>
                      <a:r>
                        <a:rPr kumimoji="0" lang="zh-TW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  <a:ea typeface="TT3EC0o00" charset="0"/>
                          <a:cs typeface="Arial" pitchFamily="34" charset="0"/>
                        </a:rPr>
                        <a:t>重複發生時間點</a:t>
                      </a: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  <a:ea typeface="TT3EC0o00" charset="0"/>
                          <a:cs typeface="Arial" pitchFamily="34" charset="0"/>
                        </a:rPr>
                        <a:t>)</a:t>
                      </a:r>
                      <a:endParaRPr kumimoji="0" lang="zh-TW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TT3EC0o00" charset="0"/>
                        <a:cs typeface="Arial" pitchFamily="34" charset="0"/>
                      </a:endParaRPr>
                    </a:p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j-lt"/>
                        <a:ea typeface="TT3EC0o00" charset="0"/>
                        <a:cs typeface="Arial" pitchFamily="34" charset="0"/>
                      </a:endParaRP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j-lt"/>
                          <a:ea typeface="新細明體" pitchFamily="18" charset="-120"/>
                          <a:cs typeface="Arial" pitchFamily="34" charset="0"/>
                        </a:rPr>
                        <a:t>Never before 2023/9/27</a:t>
                      </a:r>
                    </a:p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(</a:t>
                      </a:r>
                      <a:r>
                        <a:rPr kumimoji="0" lang="zh-TW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  <a:ea typeface="TT3EC0o00" charset="0"/>
                          <a:cs typeface="Arial" pitchFamily="34" charset="0"/>
                        </a:rPr>
                        <a:t>未發生時間點</a:t>
                      </a: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Arial" pitchFamily="34" charset="0"/>
                        </a:rPr>
                        <a:t>)</a:t>
                      </a:r>
                      <a:endParaRPr kumimoji="0" lang="zh-TW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+mn-ea"/>
                        <a:cs typeface="Arial" pitchFamily="34" charset="0"/>
                      </a:endParaRPr>
                    </a:p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j-lt"/>
                        <a:ea typeface="新細明體" pitchFamily="18" charset="-120"/>
                        <a:cs typeface="Arial" pitchFamily="34" charset="0"/>
                      </a:endParaRP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Times New Roman" pitchFamily="18" charset="0"/>
                        </a:rPr>
                        <a:t>2023/9/27</a:t>
                      </a:r>
                      <a:endParaRPr kumimoji="0" lang="zh-TW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j-lt"/>
                        <a:ea typeface="新細明體" pitchFamily="18" charset="-120"/>
                        <a:cs typeface="Arial" pitchFamily="34" charset="0"/>
                      </a:endParaRP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827"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itchFamily="18" charset="-120"/>
                          <a:cs typeface="Arial" pitchFamily="34" charset="0"/>
                        </a:rPr>
                        <a:t>How</a:t>
                      </a:r>
                      <a:endParaRPr kumimoji="0" lang="en-US" altLang="zh-TW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81D58"/>
                        </a:solidFill>
                        <a:effectLst/>
                        <a:latin typeface="+mj-lt"/>
                        <a:ea typeface="新細明體" pitchFamily="18" charset="-120"/>
                        <a:cs typeface="Arial" pitchFamily="34" charset="0"/>
                      </a:endParaRP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itchFamily="18" charset="-120"/>
                          <a:cs typeface="Arial" pitchFamily="34" charset="0"/>
                        </a:rPr>
                        <a:t>Many</a:t>
                      </a:r>
                      <a:endParaRPr kumimoji="0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rgbClr val="081D58"/>
                        </a:solidFill>
                        <a:effectLst/>
                        <a:latin typeface="+mj-lt"/>
                        <a:ea typeface="新細明體" pitchFamily="18" charset="-120"/>
                        <a:cs typeface="Arial" pitchFamily="34" charset="0"/>
                      </a:endParaRP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j-lt"/>
                          <a:ea typeface="新細明體" pitchFamily="18" charset="-120"/>
                          <a:cs typeface="Times New Roman" pitchFamily="18" charset="0"/>
                        </a:rPr>
                        <a:t>1 LOTS</a:t>
                      </a:r>
                      <a:endParaRPr kumimoji="0" lang="zh-TW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j-lt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Times New Roman" pitchFamily="18" charset="0"/>
                        </a:rPr>
                        <a:t>NA</a:t>
                      </a:r>
                      <a:endParaRPr kumimoji="0" lang="zh-TW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Times New Roman" pitchFamily="18" charset="0"/>
                        </a:rPr>
                        <a:t>1 LOTS</a:t>
                      </a:r>
                      <a:endParaRPr kumimoji="0" lang="zh-TW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82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itchFamily="18" charset="-120"/>
                          <a:cs typeface="Arial" pitchFamily="34" charset="0"/>
                        </a:rPr>
                        <a:t>Trend</a:t>
                      </a:r>
                      <a:endParaRPr kumimoji="0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rgbClr val="081D58"/>
                        </a:solidFill>
                        <a:effectLst/>
                        <a:latin typeface="+mj-lt"/>
                        <a:ea typeface="新細明體" pitchFamily="18" charset="-120"/>
                        <a:cs typeface="Arial" pitchFamily="34" charset="0"/>
                      </a:endParaRP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  <a:ea typeface="TT3EC0o00" charset="0"/>
                          <a:cs typeface="Arial" pitchFamily="34" charset="0"/>
                        </a:rPr>
                        <a:t>GOX TOX </a:t>
                      </a: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j-lt"/>
                          <a:ea typeface="TT3EC0o00" charset="0"/>
                          <a:cs typeface="Arial" pitchFamily="34" charset="0"/>
                        </a:rPr>
                        <a:t>lower</a:t>
                      </a:r>
                      <a:endParaRPr kumimoji="0" lang="zh-TW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j-lt"/>
                        <a:ea typeface="TT3EC0o00" charset="0"/>
                        <a:cs typeface="Arial" pitchFamily="34" charset="0"/>
                      </a:endParaRP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  <a:ea typeface="TT3EC0o00" charset="0"/>
                          <a:cs typeface="Arial" pitchFamily="34" charset="0"/>
                        </a:rPr>
                        <a:t>GOX TOX normal</a:t>
                      </a:r>
                      <a:endParaRPr kumimoji="0" lang="zh-TW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j-lt"/>
                        <a:ea typeface="新細明體" pitchFamily="18" charset="-120"/>
                        <a:cs typeface="Arial" pitchFamily="34" charset="0"/>
                      </a:endParaRP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lt"/>
                          <a:ea typeface="TT3EC0o00" charset="0"/>
                          <a:cs typeface="Arial" pitchFamily="34" charset="0"/>
                        </a:rPr>
                        <a:t>GOX TOX lower</a:t>
                      </a:r>
                      <a:endParaRPr kumimoji="0" lang="zh-TW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lt"/>
                        <a:ea typeface="TT3EC0o00" charset="0"/>
                        <a:cs typeface="Arial" pitchFamily="34" charset="0"/>
                      </a:endParaRP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206515" y="465521"/>
            <a:ext cx="88200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2.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描述問題及現況掌握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Describe the Problem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95536" y="1012666"/>
            <a:ext cx="3060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Is/Is Not table (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釐清問題</a:t>
            </a:r>
            <a:r>
              <a:rPr lang="en-US" altLang="zh-TW" sz="2000" dirty="0"/>
              <a:t>):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580111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296525" y="548680"/>
            <a:ext cx="873097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Discipline 3.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執行及驗證暫時防堵對策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Contain the Problem</a:t>
            </a:r>
          </a:p>
          <a:p>
            <a:pPr>
              <a:defRPr/>
            </a:pPr>
            <a:r>
              <a:rPr lang="en-US" altLang="zh-TW" sz="1400" b="1" dirty="0">
                <a:solidFill>
                  <a:srgbClr val="4D4D4D"/>
                </a:solidFill>
                <a:latin typeface="+mj-lt"/>
                <a:ea typeface="新細明體" pitchFamily="18" charset="-120"/>
              </a:rPr>
              <a:t>(Define and implement containment actions to </a:t>
            </a:r>
            <a:r>
              <a:rPr lang="en-US" altLang="zh-TW" sz="1400" b="1" dirty="0">
                <a:solidFill>
                  <a:srgbClr val="FF0000"/>
                </a:solidFill>
                <a:latin typeface="+mj-lt"/>
                <a:ea typeface="新細明體" pitchFamily="18" charset="-120"/>
              </a:rPr>
              <a:t>isolate</a:t>
            </a:r>
            <a:r>
              <a:rPr lang="en-US" altLang="zh-TW" sz="1400" b="1" dirty="0">
                <a:solidFill>
                  <a:srgbClr val="4D4D4D"/>
                </a:solidFill>
                <a:latin typeface="+mj-lt"/>
                <a:ea typeface="新細明體" pitchFamily="18" charset="-120"/>
              </a:rPr>
              <a:t> the effect of problem from any internal/external customer until corrective action is implemented)</a:t>
            </a:r>
            <a:endParaRPr lang="zh-TW" altLang="en-US" sz="1400" b="1" dirty="0">
              <a:latin typeface="+mj-lt"/>
              <a:ea typeface="新細明體" pitchFamily="18" charset="-12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9877998"/>
              </p:ext>
            </p:extLst>
          </p:nvPr>
        </p:nvGraphicFramePr>
        <p:xfrm>
          <a:off x="701570" y="1919104"/>
          <a:ext cx="8075238" cy="1005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998222">
                  <a:extLst>
                    <a:ext uri="{9D8B030D-6E8A-4147-A177-3AD203B41FA5}">
                      <a16:colId xmlns:a16="http://schemas.microsoft.com/office/drawing/2014/main" val="34643221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412103406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36634019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57247258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331622569"/>
                    </a:ext>
                  </a:extLst>
                </a:gridCol>
                <a:gridCol w="2404608">
                  <a:extLst>
                    <a:ext uri="{9D8B030D-6E8A-4147-A177-3AD203B41FA5}">
                      <a16:colId xmlns:a16="http://schemas.microsoft.com/office/drawing/2014/main" val="2477096594"/>
                    </a:ext>
                  </a:extLst>
                </a:gridCol>
              </a:tblGrid>
              <a:tr h="21953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項目 </a:t>
                      </a:r>
                      <a:r>
                        <a:rPr lang="en-US" sz="1200" b="0" kern="100" dirty="0">
                          <a:effectLst/>
                        </a:rPr>
                        <a:t>Item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處理方式</a:t>
                      </a:r>
                      <a:r>
                        <a:rPr lang="en-US" sz="1200" b="0" kern="100" dirty="0">
                          <a:effectLst/>
                        </a:rPr>
                        <a:t> Action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負責人員 </a:t>
                      </a:r>
                      <a:r>
                        <a:rPr lang="en-US" sz="1200" b="0" kern="100" dirty="0" err="1">
                          <a:effectLst/>
                        </a:rPr>
                        <a:t>Resp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預定完成日 </a:t>
                      </a:r>
                      <a:r>
                        <a:rPr lang="en-US" sz="1200" b="0" kern="100" dirty="0">
                          <a:effectLst/>
                        </a:rPr>
                        <a:t>Due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實際完成日</a:t>
                      </a:r>
                      <a:r>
                        <a:rPr lang="en-US" sz="1200" b="0" kern="100" dirty="0">
                          <a:effectLst/>
                        </a:rPr>
                        <a:t>  Imp.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處理結果 </a:t>
                      </a:r>
                      <a:r>
                        <a:rPr lang="en-US" sz="1200" b="0" kern="100" dirty="0">
                          <a:effectLst/>
                        </a:rPr>
                        <a:t>Verification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427588451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23350130/C1043I</a:t>
                      </a:r>
                      <a:endParaRPr lang="en-US" altLang="zh-TW" sz="12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solidFill>
                            <a:srgbClr val="C00000"/>
                          </a:solidFill>
                        </a:rPr>
                        <a:t>反應步驟中</a:t>
                      </a:r>
                      <a:r>
                        <a:rPr lang="en-US" altLang="zh-TW" sz="1200" dirty="0">
                          <a:solidFill>
                            <a:srgbClr val="C00000"/>
                          </a:solidFill>
                        </a:rPr>
                        <a:t>ABORT</a:t>
                      </a:r>
                      <a:r>
                        <a:rPr lang="zh-TW" altLang="en-US" sz="1200" dirty="0">
                          <a:solidFill>
                            <a:srgbClr val="C00000"/>
                          </a:solidFill>
                        </a:rPr>
                        <a:t> 報廢</a:t>
                      </a:r>
                      <a:endParaRPr lang="en-US" altLang="zh-TW" sz="1200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zh-TW" altLang="en-US" sz="1200" dirty="0"/>
                        <a:t>黃世杰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200" dirty="0"/>
                        <a:t>9/28/2023</a:t>
                      </a:r>
                      <a:endParaRPr lang="zh-TW" altLang="en-US" sz="12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9/28/2023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solidFill>
                            <a:srgbClr val="FF0000"/>
                          </a:solidFill>
                        </a:rPr>
                        <a:t>23350130</a:t>
                      </a:r>
                      <a:r>
                        <a:rPr lang="zh-TW" altLang="en-US" sz="1200" dirty="0">
                          <a:solidFill>
                            <a:srgbClr val="FF0000"/>
                          </a:solidFill>
                        </a:rPr>
                        <a:t> 全批報廢</a:t>
                      </a:r>
                      <a:endParaRPr lang="en-US" altLang="zh-TW" sz="1200" dirty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011847256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47210" y="1509818"/>
            <a:ext cx="4572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3.1 </a:t>
            </a:r>
            <a:r>
              <a:rPr lang="zh-TW" altLang="en-US" sz="1600" b="1" dirty="0">
                <a:solidFill>
                  <a:srgbClr val="0000FF"/>
                </a:solidFill>
              </a:rPr>
              <a:t>異常產品 </a:t>
            </a:r>
            <a:r>
              <a:rPr lang="en-US" altLang="zh-TW" sz="1600" b="1" dirty="0">
                <a:solidFill>
                  <a:srgbClr val="0000FF"/>
                </a:solidFill>
              </a:rPr>
              <a:t>(Defect Lots)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7210" y="3501008"/>
            <a:ext cx="4572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3.2 </a:t>
            </a:r>
            <a:r>
              <a:rPr lang="zh-TW" altLang="en-US" sz="1600" b="1" dirty="0">
                <a:solidFill>
                  <a:srgbClr val="0000FF"/>
                </a:solidFill>
              </a:rPr>
              <a:t>波及產品 </a:t>
            </a:r>
            <a:r>
              <a:rPr lang="en-US" altLang="zh-TW" sz="1600" b="1" dirty="0">
                <a:solidFill>
                  <a:srgbClr val="0000FF"/>
                </a:solidFill>
              </a:rPr>
              <a:t>(Impact Lots)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6716472"/>
              </p:ext>
            </p:extLst>
          </p:nvPr>
        </p:nvGraphicFramePr>
        <p:xfrm>
          <a:off x="701570" y="3933873"/>
          <a:ext cx="8075238" cy="935307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998222">
                  <a:extLst>
                    <a:ext uri="{9D8B030D-6E8A-4147-A177-3AD203B41FA5}">
                      <a16:colId xmlns:a16="http://schemas.microsoft.com/office/drawing/2014/main" val="34643221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412103406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36634019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57247258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331622569"/>
                    </a:ext>
                  </a:extLst>
                </a:gridCol>
                <a:gridCol w="2404608">
                  <a:extLst>
                    <a:ext uri="{9D8B030D-6E8A-4147-A177-3AD203B41FA5}">
                      <a16:colId xmlns:a16="http://schemas.microsoft.com/office/drawing/2014/main" val="2477096594"/>
                    </a:ext>
                  </a:extLst>
                </a:gridCol>
              </a:tblGrid>
              <a:tr h="32545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項目 </a:t>
                      </a:r>
                      <a:r>
                        <a:rPr lang="en-US" sz="1200" b="0" kern="100" dirty="0">
                          <a:effectLst/>
                        </a:rPr>
                        <a:t>Item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處理方式</a:t>
                      </a:r>
                      <a:r>
                        <a:rPr lang="en-US" sz="1200" b="0" kern="100" dirty="0">
                          <a:effectLst/>
                        </a:rPr>
                        <a:t> Action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負責人員 </a:t>
                      </a:r>
                      <a:r>
                        <a:rPr lang="en-US" sz="1200" b="0" kern="100" dirty="0" err="1">
                          <a:effectLst/>
                        </a:rPr>
                        <a:t>Resp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預定完成日 </a:t>
                      </a:r>
                      <a:r>
                        <a:rPr lang="en-US" sz="1200" b="0" kern="100" dirty="0">
                          <a:effectLst/>
                        </a:rPr>
                        <a:t>Due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實際完成日</a:t>
                      </a:r>
                      <a:r>
                        <a:rPr lang="en-US" sz="1200" b="0" kern="100" dirty="0">
                          <a:effectLst/>
                        </a:rPr>
                        <a:t>  Imp.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處理結果 </a:t>
                      </a:r>
                      <a:r>
                        <a:rPr lang="en-US" sz="1200" b="0" kern="100" dirty="0">
                          <a:effectLst/>
                        </a:rPr>
                        <a:t>Verification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4275884514"/>
                  </a:ext>
                </a:extLst>
              </a:tr>
              <a:tr h="56954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NA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NA</a:t>
                      </a:r>
                      <a:endParaRPr kumimoji="0" lang="en-US" altLang="zh-TW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NA</a:t>
                      </a:r>
                      <a:endParaRPr kumimoji="0" lang="en-US" altLang="zh-TW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NA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NA</a:t>
                      </a:r>
                      <a:endParaRPr kumimoji="0" lang="en-US" altLang="zh-TW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NA</a:t>
                      </a: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011847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1695974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260521" y="558382"/>
            <a:ext cx="873097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3.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執行及驗證暫時防堵對策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Contain the Problem</a:t>
            </a:r>
          </a:p>
          <a:p>
            <a:pPr>
              <a:defRPr/>
            </a:pPr>
            <a:r>
              <a:rPr lang="en-US" altLang="zh-TW" sz="1400" b="1" dirty="0">
                <a:solidFill>
                  <a:srgbClr val="4D4D4D"/>
                </a:solidFill>
                <a:latin typeface="+mn-lt"/>
                <a:ea typeface="新細明體" pitchFamily="18" charset="-120"/>
              </a:rPr>
              <a:t>(Define and implement containment actions to </a:t>
            </a:r>
            <a:r>
              <a:rPr lang="en-US" altLang="zh-TW" sz="1400" b="1" dirty="0">
                <a:solidFill>
                  <a:srgbClr val="FF0000"/>
                </a:solidFill>
                <a:latin typeface="+mn-lt"/>
                <a:ea typeface="新細明體" pitchFamily="18" charset="-120"/>
              </a:rPr>
              <a:t>isolate</a:t>
            </a:r>
            <a:r>
              <a:rPr lang="en-US" altLang="zh-TW" sz="1400" b="1" dirty="0">
                <a:solidFill>
                  <a:srgbClr val="4D4D4D"/>
                </a:solidFill>
                <a:latin typeface="+mn-lt"/>
                <a:ea typeface="新細明體" pitchFamily="18" charset="-120"/>
              </a:rPr>
              <a:t> the effect of problem from any internal/external customer until corrective action is implemented)</a:t>
            </a:r>
            <a:endParaRPr lang="zh-TW" altLang="en-US" sz="1400" b="1" dirty="0">
              <a:latin typeface="+mn-lt"/>
              <a:ea typeface="新細明體" pitchFamily="18" charset="-12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7210" y="2996952"/>
            <a:ext cx="834527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3.4</a:t>
            </a:r>
            <a:r>
              <a:rPr lang="zh-TW" altLang="en-US" sz="1600" b="1" dirty="0">
                <a:solidFill>
                  <a:srgbClr val="0000FF"/>
                </a:solidFill>
              </a:rPr>
              <a:t> 波及製程 </a:t>
            </a:r>
            <a:r>
              <a:rPr lang="en-US" altLang="zh-TW" sz="1600" b="1" dirty="0">
                <a:solidFill>
                  <a:srgbClr val="0000FF"/>
                </a:solidFill>
              </a:rPr>
              <a:t>(Impact Route) : </a:t>
            </a:r>
            <a:r>
              <a:rPr lang="zh-TW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是</a:t>
            </a:r>
            <a:r>
              <a:rPr lang="en-US" altLang="zh-TW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(YES)/</a:t>
            </a:r>
            <a:r>
              <a:rPr lang="zh-TW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否</a:t>
            </a:r>
            <a:r>
              <a:rPr lang="en-US" altLang="zh-TW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(No)</a:t>
            </a:r>
            <a:r>
              <a:rPr lang="zh-TW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endParaRPr lang="en-US" altLang="zh-TW" sz="1600" b="1" dirty="0">
              <a:solidFill>
                <a:srgbClr val="0000FF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75556" y="4556506"/>
            <a:ext cx="81009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3.5 </a:t>
            </a:r>
            <a:r>
              <a:rPr lang="zh-TW" altLang="en-US" sz="1600" b="1" dirty="0">
                <a:solidFill>
                  <a:srgbClr val="0000FF"/>
                </a:solidFill>
              </a:rPr>
              <a:t>產品召回選項，是否需進行客戶端波及產品的召回</a:t>
            </a:r>
            <a:r>
              <a:rPr lang="en-US" altLang="zh-TW" sz="1600" b="1" dirty="0">
                <a:solidFill>
                  <a:srgbClr val="0000FF"/>
                </a:solidFill>
              </a:rPr>
              <a:t>?</a:t>
            </a:r>
            <a:r>
              <a:rPr lang="zh-TW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是</a:t>
            </a:r>
            <a:r>
              <a:rPr lang="en-US" altLang="zh-TW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(YES)/</a:t>
            </a:r>
            <a:r>
              <a:rPr lang="zh-TW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否</a:t>
            </a:r>
            <a:r>
              <a:rPr lang="en-US" altLang="zh-TW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(No)</a:t>
            </a:r>
            <a:r>
              <a:rPr lang="zh-TW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endParaRPr lang="en-US" altLang="zh-TW" sz="1600" b="1" dirty="0">
              <a:solidFill>
                <a:srgbClr val="FF0000"/>
              </a:solidFill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241871"/>
              </p:ext>
            </p:extLst>
          </p:nvPr>
        </p:nvGraphicFramePr>
        <p:xfrm>
          <a:off x="708076" y="4925838"/>
          <a:ext cx="8068733" cy="70465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812965">
                  <a:extLst>
                    <a:ext uri="{9D8B030D-6E8A-4147-A177-3AD203B41FA5}">
                      <a16:colId xmlns:a16="http://schemas.microsoft.com/office/drawing/2014/main" val="86909870"/>
                    </a:ext>
                  </a:extLst>
                </a:gridCol>
                <a:gridCol w="1812965">
                  <a:extLst>
                    <a:ext uri="{9D8B030D-6E8A-4147-A177-3AD203B41FA5}">
                      <a16:colId xmlns:a16="http://schemas.microsoft.com/office/drawing/2014/main" val="346432216"/>
                    </a:ext>
                  </a:extLst>
                </a:gridCol>
                <a:gridCol w="2998365">
                  <a:extLst>
                    <a:ext uri="{9D8B030D-6E8A-4147-A177-3AD203B41FA5}">
                      <a16:colId xmlns:a16="http://schemas.microsoft.com/office/drawing/2014/main" val="1412103406"/>
                    </a:ext>
                  </a:extLst>
                </a:gridCol>
                <a:gridCol w="1444438">
                  <a:extLst>
                    <a:ext uri="{9D8B030D-6E8A-4147-A177-3AD203B41FA5}">
                      <a16:colId xmlns:a16="http://schemas.microsoft.com/office/drawing/2014/main" val="136634019"/>
                    </a:ext>
                  </a:extLst>
                </a:gridCol>
              </a:tblGrid>
              <a:tr h="33381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1200" b="0" kern="100" dirty="0">
                          <a:effectLst/>
                        </a:rPr>
                        <a:t>Customer</a:t>
                      </a:r>
                      <a:endParaRPr lang="zh-TW" sz="1200" b="0" kern="100" dirty="0"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1200" b="0" kern="100" dirty="0">
                          <a:effectLst/>
                        </a:rPr>
                        <a:t>Product No.</a:t>
                      </a:r>
                      <a:endParaRPr lang="zh-TW" sz="1200" b="0" kern="100" dirty="0"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1200" b="0" kern="100" dirty="0">
                          <a:effectLst/>
                        </a:rPr>
                        <a:t>Lot</a:t>
                      </a:r>
                      <a:r>
                        <a:rPr lang="en-US" altLang="zh-TW" sz="1200" b="0" kern="100" baseline="0" dirty="0">
                          <a:effectLst/>
                        </a:rPr>
                        <a:t> number / Wafer number</a:t>
                      </a:r>
                      <a:endParaRPr lang="zh-TW" sz="1200" b="0" kern="100" dirty="0"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1200" b="0" kern="100" dirty="0">
                          <a:effectLst/>
                        </a:rPr>
                        <a:t>Approx.</a:t>
                      </a:r>
                      <a:r>
                        <a:rPr lang="en-US" altLang="zh-TW" sz="1200" b="0" kern="100" baseline="0" dirty="0">
                          <a:effectLst/>
                        </a:rPr>
                        <a:t> Quantity</a:t>
                      </a:r>
                      <a:endParaRPr lang="zh-TW" sz="1200" b="0" kern="100" dirty="0"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4275884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No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anose="02020500000000000000" pitchFamily="18" charset="-120"/>
                          <a:cs typeface="+mn-cs"/>
                        </a:rPr>
                        <a:t>No</a:t>
                      </a:r>
                      <a:endParaRPr kumimoji="0" lang="en-US" altLang="zh-TW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anose="02020500000000000000" pitchFamily="18" charset="-120"/>
                          <a:cs typeface="+mn-cs"/>
                        </a:rPr>
                        <a:t>No</a:t>
                      </a:r>
                      <a:endParaRPr kumimoji="0" lang="en-US" altLang="zh-TW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新細明體" panose="02020500000000000000" pitchFamily="18" charset="-120"/>
                          <a:cs typeface="+mn-cs"/>
                        </a:rPr>
                        <a:t>No</a:t>
                      </a: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011847256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7210" y="1460111"/>
            <a:ext cx="676109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3.3</a:t>
            </a:r>
            <a:r>
              <a:rPr lang="zh-TW" altLang="en-US" sz="1600" b="1" dirty="0">
                <a:solidFill>
                  <a:srgbClr val="0000FF"/>
                </a:solidFill>
              </a:rPr>
              <a:t> 波及設備 </a:t>
            </a:r>
            <a:r>
              <a:rPr lang="en-US" altLang="zh-TW" sz="1600" b="1" dirty="0">
                <a:solidFill>
                  <a:srgbClr val="0000FF"/>
                </a:solidFill>
              </a:rPr>
              <a:t>(Impact Machine)</a:t>
            </a:r>
            <a:r>
              <a:rPr lang="zh-TW" altLang="en-US" sz="1600" b="1" dirty="0">
                <a:solidFill>
                  <a:srgbClr val="0000FF"/>
                </a:solidFill>
              </a:rPr>
              <a:t> </a:t>
            </a:r>
            <a:endParaRPr lang="en-US" altLang="zh-TW" sz="1600" b="1" dirty="0">
              <a:solidFill>
                <a:srgbClr val="0000FF"/>
              </a:solidFill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720510"/>
              </p:ext>
            </p:extLst>
          </p:nvPr>
        </p:nvGraphicFramePr>
        <p:xfrm>
          <a:off x="701570" y="1919104"/>
          <a:ext cx="8075238" cy="72380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46094">
                  <a:extLst>
                    <a:ext uri="{9D8B030D-6E8A-4147-A177-3AD203B41FA5}">
                      <a16:colId xmlns:a16="http://schemas.microsoft.com/office/drawing/2014/main" val="346432216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1412103406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136634019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57247258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331622569"/>
                    </a:ext>
                  </a:extLst>
                </a:gridCol>
                <a:gridCol w="2044568">
                  <a:extLst>
                    <a:ext uri="{9D8B030D-6E8A-4147-A177-3AD203B41FA5}">
                      <a16:colId xmlns:a16="http://schemas.microsoft.com/office/drawing/2014/main" val="2477096594"/>
                    </a:ext>
                  </a:extLst>
                </a:gridCol>
              </a:tblGrid>
              <a:tr h="12020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項目 </a:t>
                      </a:r>
                      <a:r>
                        <a:rPr lang="en-US" sz="1200" b="0" kern="100" dirty="0">
                          <a:effectLst/>
                        </a:rPr>
                        <a:t>Item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處理方式</a:t>
                      </a:r>
                      <a:r>
                        <a:rPr lang="en-US" sz="1200" b="0" kern="100" dirty="0">
                          <a:effectLst/>
                        </a:rPr>
                        <a:t> Action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負責人員 </a:t>
                      </a:r>
                      <a:r>
                        <a:rPr lang="en-US" sz="1200" b="0" kern="100" dirty="0" err="1">
                          <a:effectLst/>
                        </a:rPr>
                        <a:t>Resp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預定完成日 </a:t>
                      </a:r>
                      <a:r>
                        <a:rPr lang="en-US" sz="1200" b="0" kern="100" dirty="0">
                          <a:effectLst/>
                        </a:rPr>
                        <a:t>Due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實際完成日</a:t>
                      </a:r>
                      <a:r>
                        <a:rPr lang="en-US" sz="1200" b="0" kern="100" dirty="0">
                          <a:effectLst/>
                        </a:rPr>
                        <a:t>  Imp.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處理結果 </a:t>
                      </a:r>
                      <a:r>
                        <a:rPr lang="en-US" sz="1200" b="0" kern="100" dirty="0">
                          <a:effectLst/>
                        </a:rPr>
                        <a:t>Verification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4275884514"/>
                  </a:ext>
                </a:extLst>
              </a:tr>
              <a:tr h="5409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F06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停機檢查</a:t>
                      </a:r>
                      <a:endParaRPr kumimoji="0" lang="en-US" altLang="zh-TW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蔡孟哲</a:t>
                      </a:r>
                      <a:endParaRPr kumimoji="0" lang="en-US" altLang="zh-TW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2023/09/28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2023/09/28</a:t>
                      </a:r>
                    </a:p>
                  </a:txBody>
                  <a:tcPr marL="36000" marR="36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Replace B/E driver </a:t>
                      </a:r>
                      <a:endParaRPr kumimoji="0" lang="en-US" altLang="zh-TW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011847256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8135088"/>
              </p:ext>
            </p:extLst>
          </p:nvPr>
        </p:nvGraphicFramePr>
        <p:xfrm>
          <a:off x="694719" y="3497284"/>
          <a:ext cx="8075238" cy="72380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46094">
                  <a:extLst>
                    <a:ext uri="{9D8B030D-6E8A-4147-A177-3AD203B41FA5}">
                      <a16:colId xmlns:a16="http://schemas.microsoft.com/office/drawing/2014/main" val="346432216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1412103406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136634019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57247258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331622569"/>
                    </a:ext>
                  </a:extLst>
                </a:gridCol>
                <a:gridCol w="2044568">
                  <a:extLst>
                    <a:ext uri="{9D8B030D-6E8A-4147-A177-3AD203B41FA5}">
                      <a16:colId xmlns:a16="http://schemas.microsoft.com/office/drawing/2014/main" val="2477096594"/>
                    </a:ext>
                  </a:extLst>
                </a:gridCol>
              </a:tblGrid>
              <a:tr h="15707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項目 </a:t>
                      </a:r>
                      <a:r>
                        <a:rPr lang="en-US" sz="1200" b="0" kern="100" dirty="0">
                          <a:effectLst/>
                        </a:rPr>
                        <a:t>Item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處理方式</a:t>
                      </a:r>
                      <a:r>
                        <a:rPr lang="en-US" sz="1200" b="0" kern="100" dirty="0">
                          <a:effectLst/>
                        </a:rPr>
                        <a:t> Action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負責人員 </a:t>
                      </a:r>
                      <a:r>
                        <a:rPr lang="en-US" sz="1200" b="0" kern="100" dirty="0" err="1">
                          <a:effectLst/>
                        </a:rPr>
                        <a:t>Resp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預定完成日 </a:t>
                      </a:r>
                      <a:r>
                        <a:rPr lang="en-US" sz="1200" b="0" kern="100" dirty="0">
                          <a:effectLst/>
                        </a:rPr>
                        <a:t>Due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實際完成日</a:t>
                      </a:r>
                      <a:r>
                        <a:rPr lang="en-US" sz="1200" b="0" kern="100" dirty="0">
                          <a:effectLst/>
                        </a:rPr>
                        <a:t>  Imp.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處理結果 </a:t>
                      </a:r>
                      <a:r>
                        <a:rPr lang="en-US" sz="1200" b="0" kern="100" dirty="0">
                          <a:effectLst/>
                        </a:rPr>
                        <a:t>Verification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4275884514"/>
                  </a:ext>
                </a:extLst>
              </a:tr>
              <a:tr h="5409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No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No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No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No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No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No</a:t>
                      </a: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011847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111819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ChangeArrowheads="1"/>
          </p:cNvSpPr>
          <p:nvPr/>
        </p:nvSpPr>
        <p:spPr bwMode="auto">
          <a:xfrm>
            <a:off x="251520" y="395954"/>
            <a:ext cx="834789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4.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定義及驗證真因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(Identify the Root Cause)</a:t>
            </a:r>
          </a:p>
          <a:p>
            <a:pPr>
              <a:defRPr/>
            </a:pPr>
            <a:r>
              <a:rPr lang="en-US" altLang="zh-TW" sz="1400" b="1" dirty="0">
                <a:latin typeface="+mn-lt"/>
                <a:ea typeface="新細明體" pitchFamily="18" charset="-120"/>
              </a:rPr>
              <a:t>(Identify all potential causes which could explain why the problem occurred)</a:t>
            </a:r>
            <a:endParaRPr lang="zh-TW" altLang="en-US" sz="1400" b="1" dirty="0">
              <a:latin typeface="+mn-lt"/>
              <a:ea typeface="新細明體" pitchFamily="18" charset="-12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57685" y="1052736"/>
            <a:ext cx="871481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4.1 Non-conformance root cause (</a:t>
            </a:r>
            <a:r>
              <a:rPr lang="en-US" altLang="zh-TW" sz="1600" b="1" dirty="0">
                <a:solidFill>
                  <a:srgbClr val="FF0000"/>
                </a:solidFill>
              </a:rPr>
              <a:t>defect nature / technical root cause</a:t>
            </a:r>
            <a:r>
              <a:rPr lang="en-US" altLang="zh-TW" sz="1600" b="1" dirty="0">
                <a:solidFill>
                  <a:srgbClr val="0000FF"/>
                </a:solidFill>
              </a:rPr>
              <a:t>): </a:t>
            </a:r>
          </a:p>
          <a:p>
            <a:pPr lvl="1"/>
            <a:r>
              <a:rPr lang="en-US" altLang="zh-TW" sz="1600" b="1" dirty="0">
                <a:solidFill>
                  <a:srgbClr val="0000FF"/>
                </a:solidFill>
              </a:rPr>
              <a:t>a) </a:t>
            </a:r>
            <a:r>
              <a:rPr lang="en-US" altLang="zh-TW" sz="1600" b="1" dirty="0">
                <a:solidFill>
                  <a:srgbClr val="C00000"/>
                </a:solidFill>
              </a:rPr>
              <a:t>Failure mechanism</a:t>
            </a:r>
            <a:r>
              <a:rPr lang="en-US" altLang="zh-TW" sz="1600" b="1" dirty="0">
                <a:solidFill>
                  <a:srgbClr val="0000FF"/>
                </a:solidFill>
              </a:rPr>
              <a:t>: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322384A9-DB8D-BBD2-F64E-3699C93C5C73}"/>
              </a:ext>
            </a:extLst>
          </p:cNvPr>
          <p:cNvSpPr txBox="1"/>
          <p:nvPr/>
        </p:nvSpPr>
        <p:spPr>
          <a:xfrm>
            <a:off x="359532" y="1844047"/>
            <a:ext cx="842493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Run G33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recipe</a:t>
            </a:r>
            <a:r>
              <a:rPr 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Step.5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反應步驟中剩餘</a:t>
            </a:r>
            <a:r>
              <a:rPr 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00:11:58 (step.5 total time:00:34:45)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Gas Interlock abort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造成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Thickness </a:t>
            </a:r>
            <a:r>
              <a:rPr lang="en-US" altLang="zh-TW" sz="1600" b="0" kern="100" baseline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125.7</a:t>
            </a:r>
            <a:r>
              <a:rPr lang="zh-TW" altLang="en-US" sz="16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16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16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1600" b="0" kern="100" baseline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Spec</a:t>
            </a:r>
            <a:r>
              <a:rPr lang="zh-TW" altLang="en-US" sz="1600" b="0" kern="100" baseline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en-US" altLang="zh-TW" sz="1600" b="0" kern="100" baseline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200+/-20A</a:t>
            </a:r>
            <a:r>
              <a:rPr lang="zh-TW" altLang="en-US" sz="1600" b="0" kern="100" baseline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1600" b="0" kern="100" baseline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1600" b="0" kern="100" baseline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16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O.O.S.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。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Aft>
                <a:spcPts val="0"/>
              </a:spcAft>
            </a:pP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214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ChangeArrowheads="1"/>
          </p:cNvSpPr>
          <p:nvPr/>
        </p:nvSpPr>
        <p:spPr bwMode="auto">
          <a:xfrm>
            <a:off x="251520" y="395954"/>
            <a:ext cx="834789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4.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定義及驗證真因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(Identify the Root Cause)</a:t>
            </a:r>
          </a:p>
          <a:p>
            <a:pPr>
              <a:defRPr/>
            </a:pPr>
            <a:r>
              <a:rPr lang="en-US" altLang="zh-TW" sz="1400" b="1" dirty="0">
                <a:latin typeface="+mn-lt"/>
                <a:ea typeface="新細明體" pitchFamily="18" charset="-120"/>
              </a:rPr>
              <a:t>(Identify all potential causes which could explain why the problem occurred)</a:t>
            </a:r>
            <a:endParaRPr lang="zh-TW" altLang="en-US" sz="1400" b="1" dirty="0">
              <a:latin typeface="+mn-lt"/>
              <a:ea typeface="新細明體" pitchFamily="18" charset="-12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57685" y="1052736"/>
            <a:ext cx="824172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4.1 Non-conformance root cause (</a:t>
            </a:r>
            <a:r>
              <a:rPr lang="en-US" altLang="zh-TW" sz="1600" b="1" dirty="0">
                <a:solidFill>
                  <a:srgbClr val="FF0000"/>
                </a:solidFill>
              </a:rPr>
              <a:t>defect nature / technical root cause</a:t>
            </a:r>
            <a:r>
              <a:rPr lang="en-US" altLang="zh-TW" sz="1600" b="1" dirty="0">
                <a:solidFill>
                  <a:srgbClr val="0000FF"/>
                </a:solidFill>
              </a:rPr>
              <a:t>): </a:t>
            </a:r>
          </a:p>
          <a:p>
            <a:r>
              <a:rPr lang="en-US" altLang="zh-TW" sz="1600" dirty="0"/>
              <a:t>         </a:t>
            </a:r>
            <a:r>
              <a:rPr lang="en-US" altLang="zh-TW" sz="1600" b="1" dirty="0">
                <a:solidFill>
                  <a:srgbClr val="0000FF"/>
                </a:solidFill>
              </a:rPr>
              <a:t>b) </a:t>
            </a:r>
            <a:r>
              <a:rPr lang="zh-TW" altLang="en-US" sz="1600" b="1" dirty="0">
                <a:solidFill>
                  <a:srgbClr val="0000FF"/>
                </a:solidFill>
              </a:rPr>
              <a:t>列出所有可能的原因 </a:t>
            </a:r>
            <a:r>
              <a:rPr lang="en-US" altLang="zh-TW" sz="1600" b="1" dirty="0">
                <a:solidFill>
                  <a:srgbClr val="0000FF"/>
                </a:solidFill>
              </a:rPr>
              <a:t>(Probable Causes/Factors): </a:t>
            </a:r>
            <a:r>
              <a:rPr lang="en-US" altLang="zh-TW" sz="1600" b="1" dirty="0">
                <a:solidFill>
                  <a:srgbClr val="FF0000"/>
                </a:solidFill>
              </a:rPr>
              <a:t>Non-conformance</a:t>
            </a:r>
          </a:p>
          <a:p>
            <a:pPr lvl="1"/>
            <a:r>
              <a:rPr lang="zh-TW" altLang="en-US" sz="1200" b="1" dirty="0">
                <a:solidFill>
                  <a:srgbClr val="0000FF"/>
                </a:solidFill>
              </a:rPr>
              <a:t>工具 </a:t>
            </a:r>
            <a:r>
              <a:rPr lang="en-US" altLang="zh-TW" sz="1200" b="1" dirty="0">
                <a:solidFill>
                  <a:srgbClr val="0000FF"/>
                </a:solidFill>
              </a:rPr>
              <a:t>(Tools): </a:t>
            </a:r>
            <a:r>
              <a:rPr lang="zh-TW" altLang="en-US" sz="1200" b="1" dirty="0">
                <a:solidFill>
                  <a:srgbClr val="0000FF"/>
                </a:solidFill>
              </a:rPr>
              <a:t>故障樹分析 </a:t>
            </a:r>
            <a:r>
              <a:rPr lang="en-US" altLang="zh-TW" sz="1200" b="1" dirty="0">
                <a:solidFill>
                  <a:srgbClr val="0000FF"/>
                </a:solidFill>
              </a:rPr>
              <a:t>(Fault Tree Analysis)</a:t>
            </a:r>
            <a:r>
              <a:rPr lang="zh-TW" altLang="en-US" sz="1200" b="1" dirty="0">
                <a:solidFill>
                  <a:srgbClr val="0000FF"/>
                </a:solidFill>
              </a:rPr>
              <a:t>、魚骨圖 </a:t>
            </a:r>
            <a:r>
              <a:rPr lang="en-US" altLang="zh-TW" sz="1200" b="1" dirty="0">
                <a:solidFill>
                  <a:srgbClr val="0000FF"/>
                </a:solidFill>
              </a:rPr>
              <a:t>(Fishbone)</a:t>
            </a:r>
            <a:endParaRPr lang="zh-TW" altLang="en-US" sz="1200" b="1" dirty="0">
              <a:solidFill>
                <a:srgbClr val="0000FF"/>
              </a:solidFill>
            </a:endParaRPr>
          </a:p>
        </p:txBody>
      </p:sp>
      <p:pic>
        <p:nvPicPr>
          <p:cNvPr id="8" name="圖片 7" descr="一張含有 文字, 螢幕擷取畫面, 圖表 的圖片&#10;&#10;自動產生的描述">
            <a:extLst>
              <a:ext uri="{FF2B5EF4-FFF2-40B4-BE49-F238E27FC236}">
                <a16:creationId xmlns:a16="http://schemas.microsoft.com/office/drawing/2014/main" id="{C3D29E30-9A09-BE13-A941-F73CB08413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685" y="1988840"/>
            <a:ext cx="8436864" cy="4620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675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322384A9-DB8D-BBD2-F64E-3699C93C5C73}"/>
              </a:ext>
            </a:extLst>
          </p:cNvPr>
          <p:cNvSpPr txBox="1"/>
          <p:nvPr/>
        </p:nvSpPr>
        <p:spPr>
          <a:xfrm>
            <a:off x="291492" y="1731072"/>
            <a:ext cx="5955126" cy="1893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GAS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機台程式步驟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4~5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未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alarm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，氣體流量設定與實際無差異。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當程式步驟通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H2+O2 / Trans-LC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時，若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</a:t>
            </a:r>
            <a:r>
              <a:rPr 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ap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未在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P04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位置時會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Gas interlock alarm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，機台啟動安全保護機制會將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H2 &amp; Trans-LC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valve close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Rectangle 13">
            <a:extLst>
              <a:ext uri="{FF2B5EF4-FFF2-40B4-BE49-F238E27FC236}">
                <a16:creationId xmlns:a16="http://schemas.microsoft.com/office/drawing/2014/main" id="{902C0D2E-1845-9F52-6842-6F9CC267F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815" y="286860"/>
            <a:ext cx="834789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4.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定義及驗證真因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(Identify the Root Cause)</a:t>
            </a:r>
          </a:p>
          <a:p>
            <a:pPr>
              <a:defRPr/>
            </a:pPr>
            <a:r>
              <a:rPr lang="en-US" altLang="zh-TW" sz="1400" b="1" dirty="0">
                <a:latin typeface="+mn-lt"/>
                <a:ea typeface="新細明體" pitchFamily="18" charset="-120"/>
              </a:rPr>
              <a:t>(Identify all potential causes which could explain why the problem occurred)</a:t>
            </a:r>
            <a:endParaRPr lang="zh-TW" altLang="en-US" sz="1400" b="1" dirty="0">
              <a:latin typeface="+mn-lt"/>
              <a:ea typeface="新細明體" pitchFamily="18" charset="-120"/>
            </a:endParaRPr>
          </a:p>
        </p:txBody>
      </p:sp>
      <p:sp>
        <p:nvSpPr>
          <p:cNvPr id="23" name="Rectangle 5">
            <a:extLst>
              <a:ext uri="{FF2B5EF4-FFF2-40B4-BE49-F238E27FC236}">
                <a16:creationId xmlns:a16="http://schemas.microsoft.com/office/drawing/2014/main" id="{C36126B7-48B7-B54B-44D3-B0BB5B0286A0}"/>
              </a:ext>
            </a:extLst>
          </p:cNvPr>
          <p:cNvSpPr/>
          <p:nvPr/>
        </p:nvSpPr>
        <p:spPr>
          <a:xfrm>
            <a:off x="363980" y="943642"/>
            <a:ext cx="824172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4.1 Non-conformance root cause (</a:t>
            </a:r>
            <a:r>
              <a:rPr lang="en-US" altLang="zh-TW" sz="1600" b="1" dirty="0">
                <a:solidFill>
                  <a:srgbClr val="FF0000"/>
                </a:solidFill>
              </a:rPr>
              <a:t>defect nature / technical root cause</a:t>
            </a:r>
            <a:r>
              <a:rPr lang="en-US" altLang="zh-TW" sz="1600" b="1" dirty="0">
                <a:solidFill>
                  <a:srgbClr val="0000FF"/>
                </a:solidFill>
              </a:rPr>
              <a:t>): </a:t>
            </a:r>
          </a:p>
          <a:p>
            <a:r>
              <a:rPr lang="en-US" altLang="zh-TW" sz="1600" b="1" dirty="0">
                <a:solidFill>
                  <a:srgbClr val="0000FF"/>
                </a:solidFill>
              </a:rPr>
              <a:t>         c) </a:t>
            </a:r>
            <a:r>
              <a:rPr lang="zh-TW" altLang="en-US" sz="1600" b="1" dirty="0">
                <a:solidFill>
                  <a:srgbClr val="0000FF"/>
                </a:solidFill>
              </a:rPr>
              <a:t>真因驗證 </a:t>
            </a:r>
            <a:r>
              <a:rPr lang="en-US" altLang="zh-TW" sz="1600" b="1" dirty="0">
                <a:solidFill>
                  <a:srgbClr val="0000FF"/>
                </a:solidFill>
              </a:rPr>
              <a:t>(Root Cause Verification)</a:t>
            </a:r>
            <a:endParaRPr lang="zh-TW" altLang="en-US" sz="1200" b="1" dirty="0">
              <a:solidFill>
                <a:srgbClr val="0000FF"/>
              </a:solidFill>
            </a:endParaRPr>
          </a:p>
        </p:txBody>
      </p:sp>
      <p:pic>
        <p:nvPicPr>
          <p:cNvPr id="25" name="圖片 24">
            <a:extLst>
              <a:ext uri="{FF2B5EF4-FFF2-40B4-BE49-F238E27FC236}">
                <a16:creationId xmlns:a16="http://schemas.microsoft.com/office/drawing/2014/main" id="{BD44CBA5-0C77-DF7A-B595-90CD4575E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715" y="4170288"/>
            <a:ext cx="8432822" cy="2613876"/>
          </a:xfrm>
          <a:prstGeom prst="rect">
            <a:avLst/>
          </a:prstGeom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A3C8C1FE-D28B-54DA-816D-17B3F578751F}"/>
              </a:ext>
            </a:extLst>
          </p:cNvPr>
          <p:cNvSpPr/>
          <p:nvPr/>
        </p:nvSpPr>
        <p:spPr>
          <a:xfrm>
            <a:off x="400715" y="4877386"/>
            <a:ext cx="8432822" cy="1359926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CAEFBB9-B6DD-B808-862D-754563683629}"/>
              </a:ext>
            </a:extLst>
          </p:cNvPr>
          <p:cNvSpPr/>
          <p:nvPr/>
        </p:nvSpPr>
        <p:spPr>
          <a:xfrm>
            <a:off x="400715" y="6309320"/>
            <a:ext cx="8432822" cy="4748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圖片 5" descr="一張含有 文字, 螢幕擷取畫面, 字型, 行 的圖片&#10;&#10;自動產生的描述">
            <a:extLst>
              <a:ext uri="{FF2B5EF4-FFF2-40B4-BE49-F238E27FC236}">
                <a16:creationId xmlns:a16="http://schemas.microsoft.com/office/drawing/2014/main" id="{14B76AF4-524D-71FC-31E0-0F133DD882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1635865"/>
            <a:ext cx="2615184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335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31B200A-7A30-B040-5439-27F3D223CA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A3647F-B5CB-4C0D-A009-B847CBF56DA1}" type="slidenum">
              <a:rPr lang="zh-TW" altLang="en-US" smtClean="0"/>
              <a:pPr/>
              <a:t>15</a:t>
            </a:fld>
            <a:endParaRPr lang="zh-TW" altLang="en-US"/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656200EC-92DE-62B1-22EC-5BCC7FDA0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928" y="226185"/>
            <a:ext cx="834789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4.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定義及驗證真因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(Identify the Root Cause)</a:t>
            </a:r>
          </a:p>
          <a:p>
            <a:pPr>
              <a:defRPr/>
            </a:pPr>
            <a:r>
              <a:rPr lang="en-US" altLang="zh-TW" sz="1400" b="1" dirty="0">
                <a:latin typeface="+mn-lt"/>
                <a:ea typeface="新細明體" pitchFamily="18" charset="-120"/>
              </a:rPr>
              <a:t>(Identify all potential causes which could explain why the problem occurred)</a:t>
            </a:r>
            <a:endParaRPr lang="zh-TW" altLang="en-US" sz="1400" b="1" dirty="0">
              <a:latin typeface="+mn-lt"/>
              <a:ea typeface="新細明體" pitchFamily="18" charset="-120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31328909-3641-B107-FEA5-D339B941C888}"/>
              </a:ext>
            </a:extLst>
          </p:cNvPr>
          <p:cNvSpPr/>
          <p:nvPr/>
        </p:nvSpPr>
        <p:spPr>
          <a:xfrm>
            <a:off x="423093" y="882967"/>
            <a:ext cx="824172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4.1 Non-conformance root cause (</a:t>
            </a:r>
            <a:r>
              <a:rPr lang="en-US" altLang="zh-TW" sz="1600" b="1" dirty="0">
                <a:solidFill>
                  <a:srgbClr val="FF0000"/>
                </a:solidFill>
              </a:rPr>
              <a:t>defect nature / technical root cause</a:t>
            </a:r>
            <a:r>
              <a:rPr lang="en-US" altLang="zh-TW" sz="1600" b="1" dirty="0">
                <a:solidFill>
                  <a:srgbClr val="0000FF"/>
                </a:solidFill>
              </a:rPr>
              <a:t>): </a:t>
            </a:r>
          </a:p>
          <a:p>
            <a:r>
              <a:rPr lang="en-US" altLang="zh-TW" sz="1600" b="1" dirty="0">
                <a:solidFill>
                  <a:srgbClr val="0000FF"/>
                </a:solidFill>
              </a:rPr>
              <a:t>         c) </a:t>
            </a:r>
            <a:r>
              <a:rPr lang="zh-TW" altLang="en-US" sz="1600" b="1" dirty="0">
                <a:solidFill>
                  <a:srgbClr val="0000FF"/>
                </a:solidFill>
              </a:rPr>
              <a:t>真因驗證 </a:t>
            </a:r>
            <a:r>
              <a:rPr lang="en-US" altLang="zh-TW" sz="1600" b="1" dirty="0">
                <a:solidFill>
                  <a:srgbClr val="0000FF"/>
                </a:solidFill>
              </a:rPr>
              <a:t>(Root Cause Verification)</a:t>
            </a:r>
            <a:endParaRPr lang="zh-TW" altLang="en-US" sz="1200" b="1" dirty="0">
              <a:solidFill>
                <a:srgbClr val="0000FF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68559B9-7118-AC65-069F-45FAA4A6C5F7}"/>
              </a:ext>
            </a:extLst>
          </p:cNvPr>
          <p:cNvSpPr txBox="1"/>
          <p:nvPr/>
        </p:nvSpPr>
        <p:spPr>
          <a:xfrm>
            <a:off x="357685" y="1846534"/>
            <a:ext cx="5946122" cy="1155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溫度</a:t>
            </a:r>
            <a:endParaRPr lang="en-US" alt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溫度與設定無差異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Power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輸出正常，無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100%</a:t>
            </a:r>
            <a:r>
              <a:rPr lang="zh-TW" altLang="en-US" sz="1600">
                <a:latin typeface="微軟正黑體" panose="020B0604030504040204" pitchFamily="34" charset="-120"/>
                <a:ea typeface="微軟正黑體" panose="020B0604030504040204" pitchFamily="34" charset="-120"/>
              </a:rPr>
              <a:t> 輸出。 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FF3C528E-4FAB-FF71-6A9E-593BC1DEA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85" y="3633430"/>
            <a:ext cx="8523991" cy="2828616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65FDD855-1F63-D670-2EFB-6547C2B0FE1F}"/>
              </a:ext>
            </a:extLst>
          </p:cNvPr>
          <p:cNvSpPr/>
          <p:nvPr/>
        </p:nvSpPr>
        <p:spPr>
          <a:xfrm>
            <a:off x="3635375" y="4308748"/>
            <a:ext cx="5246301" cy="1280492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圖片 18" descr="一張含有 文字, 字型, 符號, 標誌 的圖片&#10;&#10;自動產生的描述">
            <a:extLst>
              <a:ext uri="{FF2B5EF4-FFF2-40B4-BE49-F238E27FC236}">
                <a16:creationId xmlns:a16="http://schemas.microsoft.com/office/drawing/2014/main" id="{75F9F0B3-ECE0-64D7-D58B-E9A73B469E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2766" y="1175354"/>
            <a:ext cx="3072384" cy="227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7023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89F7662B-C1CB-9E7B-D8CC-622EF3BCC031}"/>
              </a:ext>
            </a:extLst>
          </p:cNvPr>
          <p:cNvSpPr txBox="1"/>
          <p:nvPr/>
        </p:nvSpPr>
        <p:spPr>
          <a:xfrm>
            <a:off x="357685" y="4131002"/>
            <a:ext cx="8560857" cy="2632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傳送</a:t>
            </a:r>
            <a:endPara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B/L cap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未在 </a:t>
            </a:r>
            <a:r>
              <a:rPr 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P04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位置，下降至距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</a:t>
            </a:r>
            <a:r>
              <a:rPr 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ube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管口約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 </a:t>
            </a:r>
            <a:r>
              <a:rPr 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cm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VL-800 ID.01 alarm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B/E driver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電壓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驗證 </a:t>
            </a:r>
            <a:endParaRPr lang="en-US" alt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F32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機台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B/E driver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電源關閉，模擬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B/E driver no power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cap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同樣下降約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 cm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確認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B/E driver no power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cap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因無煞車制動力會下降約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 cm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FC6D9473-21B3-EDB1-46C0-CB2F34417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395954"/>
            <a:ext cx="834789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4.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定義及驗證真因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(Identify the Root Cause)</a:t>
            </a:r>
          </a:p>
          <a:p>
            <a:pPr>
              <a:defRPr/>
            </a:pPr>
            <a:r>
              <a:rPr lang="en-US" altLang="zh-TW" sz="1400" b="1" dirty="0">
                <a:latin typeface="+mn-lt"/>
                <a:ea typeface="新細明體" pitchFamily="18" charset="-120"/>
              </a:rPr>
              <a:t>(Identify all potential causes which could explain why the problem occurred)</a:t>
            </a:r>
            <a:endParaRPr lang="zh-TW" altLang="en-US" sz="1400" b="1" dirty="0">
              <a:latin typeface="+mn-lt"/>
              <a:ea typeface="新細明體" pitchFamily="18" charset="-120"/>
            </a:endParaRPr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C4CA183C-1C43-ED16-A72A-6B4D518F1E69}"/>
              </a:ext>
            </a:extLst>
          </p:cNvPr>
          <p:cNvSpPr/>
          <p:nvPr/>
        </p:nvSpPr>
        <p:spPr>
          <a:xfrm>
            <a:off x="357685" y="1052736"/>
            <a:ext cx="824172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4.1 Non-conformance root cause (</a:t>
            </a:r>
            <a:r>
              <a:rPr lang="en-US" altLang="zh-TW" sz="1600" b="1" dirty="0">
                <a:solidFill>
                  <a:srgbClr val="FF0000"/>
                </a:solidFill>
              </a:rPr>
              <a:t>defect nature / technical root cause</a:t>
            </a:r>
            <a:r>
              <a:rPr lang="en-US" altLang="zh-TW" sz="1600" b="1" dirty="0">
                <a:solidFill>
                  <a:srgbClr val="0000FF"/>
                </a:solidFill>
              </a:rPr>
              <a:t>): </a:t>
            </a:r>
          </a:p>
          <a:p>
            <a:r>
              <a:rPr lang="en-US" altLang="zh-TW" sz="1600" b="1" dirty="0">
                <a:solidFill>
                  <a:srgbClr val="0000FF"/>
                </a:solidFill>
              </a:rPr>
              <a:t>         c) </a:t>
            </a:r>
            <a:r>
              <a:rPr lang="zh-TW" altLang="en-US" sz="1600" b="1" dirty="0">
                <a:solidFill>
                  <a:srgbClr val="0000FF"/>
                </a:solidFill>
              </a:rPr>
              <a:t>真因驗證 </a:t>
            </a:r>
            <a:r>
              <a:rPr lang="en-US" altLang="zh-TW" sz="1600" b="1" dirty="0">
                <a:solidFill>
                  <a:srgbClr val="0000FF"/>
                </a:solidFill>
              </a:rPr>
              <a:t>(Root Cause Verification)</a:t>
            </a:r>
            <a:endParaRPr lang="zh-TW" altLang="en-US" sz="1200" b="1" dirty="0">
              <a:solidFill>
                <a:srgbClr val="0000FF"/>
              </a:solidFill>
            </a:endParaRPr>
          </a:p>
        </p:txBody>
      </p:sp>
      <p:pic>
        <p:nvPicPr>
          <p:cNvPr id="8" name="圖片 7" descr="一張含有 文字, 螢幕擷取畫面, 字型, 行 的圖片&#10;&#10;自動產生的描述">
            <a:extLst>
              <a:ext uri="{FF2B5EF4-FFF2-40B4-BE49-F238E27FC236}">
                <a16:creationId xmlns:a16="http://schemas.microsoft.com/office/drawing/2014/main" id="{9429FA35-FC43-BCDC-D20E-A6E85046B7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742" y="2075586"/>
            <a:ext cx="3224784" cy="1895856"/>
          </a:xfrm>
          <a:prstGeom prst="rect">
            <a:avLst/>
          </a:prstGeom>
        </p:spPr>
      </p:pic>
      <p:pic>
        <p:nvPicPr>
          <p:cNvPr id="17" name="圖片 16" descr="一張含有 文字, 電路 的圖片&#10;&#10;自動產生的描述">
            <a:extLst>
              <a:ext uri="{FF2B5EF4-FFF2-40B4-BE49-F238E27FC236}">
                <a16:creationId xmlns:a16="http://schemas.microsoft.com/office/drawing/2014/main" id="{9D1B3250-2DAC-34D8-DB7D-50564CF784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856" y="1988840"/>
            <a:ext cx="5730240" cy="252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4157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3">
            <a:extLst>
              <a:ext uri="{FF2B5EF4-FFF2-40B4-BE49-F238E27FC236}">
                <a16:creationId xmlns:a16="http://schemas.microsoft.com/office/drawing/2014/main" id="{C76119B9-2B04-E6F6-8DFF-095F2847C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089" y="241233"/>
            <a:ext cx="834789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4.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定義及驗證真因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(Identify the Root Cause)</a:t>
            </a:r>
          </a:p>
          <a:p>
            <a:pPr>
              <a:defRPr/>
            </a:pPr>
            <a:r>
              <a:rPr lang="en-US" altLang="zh-TW" sz="1400" b="1" dirty="0">
                <a:latin typeface="+mn-lt"/>
                <a:ea typeface="新細明體" pitchFamily="18" charset="-120"/>
              </a:rPr>
              <a:t>(Identify all potential causes which could explain why the problem occurred)</a:t>
            </a:r>
            <a:endParaRPr lang="zh-TW" altLang="en-US" sz="1400" b="1" dirty="0">
              <a:latin typeface="+mn-lt"/>
              <a:ea typeface="新細明體" pitchFamily="18" charset="-120"/>
            </a:endParaRPr>
          </a:p>
        </p:txBody>
      </p:sp>
      <p:sp>
        <p:nvSpPr>
          <p:cNvPr id="21" name="Rectangle 5">
            <a:extLst>
              <a:ext uri="{FF2B5EF4-FFF2-40B4-BE49-F238E27FC236}">
                <a16:creationId xmlns:a16="http://schemas.microsoft.com/office/drawing/2014/main" id="{58D525CB-65C6-CA2C-D992-FFA31C5FB550}"/>
              </a:ext>
            </a:extLst>
          </p:cNvPr>
          <p:cNvSpPr/>
          <p:nvPr/>
        </p:nvSpPr>
        <p:spPr>
          <a:xfrm>
            <a:off x="403254" y="898015"/>
            <a:ext cx="824172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4.1 Non-conformance root cause (</a:t>
            </a:r>
            <a:r>
              <a:rPr lang="en-US" altLang="zh-TW" sz="1600" b="1" dirty="0">
                <a:solidFill>
                  <a:srgbClr val="FF0000"/>
                </a:solidFill>
              </a:rPr>
              <a:t>defect nature / technical root cause</a:t>
            </a:r>
            <a:r>
              <a:rPr lang="en-US" altLang="zh-TW" sz="1600" b="1" dirty="0">
                <a:solidFill>
                  <a:srgbClr val="0000FF"/>
                </a:solidFill>
              </a:rPr>
              <a:t>): </a:t>
            </a:r>
          </a:p>
          <a:p>
            <a:r>
              <a:rPr lang="en-US" altLang="zh-TW" sz="1600" b="1" dirty="0">
                <a:solidFill>
                  <a:srgbClr val="0000FF"/>
                </a:solidFill>
              </a:rPr>
              <a:t>         c) </a:t>
            </a:r>
            <a:r>
              <a:rPr lang="zh-TW" altLang="en-US" sz="1600" b="1" dirty="0">
                <a:solidFill>
                  <a:srgbClr val="0000FF"/>
                </a:solidFill>
              </a:rPr>
              <a:t>真因驗證 </a:t>
            </a:r>
            <a:r>
              <a:rPr lang="en-US" altLang="zh-TW" sz="1600" b="1" dirty="0">
                <a:solidFill>
                  <a:srgbClr val="0000FF"/>
                </a:solidFill>
              </a:rPr>
              <a:t>(Root Cause Verification)</a:t>
            </a:r>
            <a:endParaRPr lang="zh-TW" altLang="en-US" sz="1200" b="1" dirty="0">
              <a:solidFill>
                <a:srgbClr val="0000FF"/>
              </a:solidFill>
            </a:endParaRP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61BBE912-F5D4-CFDE-5A41-04D9925ACDFF}"/>
              </a:ext>
            </a:extLst>
          </p:cNvPr>
          <p:cNvSpPr txBox="1"/>
          <p:nvPr/>
        </p:nvSpPr>
        <p:spPr>
          <a:xfrm>
            <a:off x="423169" y="5504851"/>
            <a:ext cx="823631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真因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Driver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無電力輸出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零件燒毀，造成煞車失效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Elevator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位置下滑，觸發安全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interlock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作動導致程式中 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斷厚度異常。 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2" name="圖片 11" descr="一張含有 文字, 螢幕擷取畫面, 字型, 符號 的圖片&#10;&#10;自動產生的描述">
            <a:extLst>
              <a:ext uri="{FF2B5EF4-FFF2-40B4-BE49-F238E27FC236}">
                <a16:creationId xmlns:a16="http://schemas.microsoft.com/office/drawing/2014/main" id="{E1071B84-5943-4693-0F9C-64A8516EC8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232" y="1588008"/>
            <a:ext cx="8479536" cy="3681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1631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ChangeArrowheads="1"/>
          </p:cNvSpPr>
          <p:nvPr/>
        </p:nvSpPr>
        <p:spPr bwMode="auto">
          <a:xfrm>
            <a:off x="251520" y="395954"/>
            <a:ext cx="834789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4.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定義及驗證真因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(Identify the Root Cause)</a:t>
            </a:r>
          </a:p>
          <a:p>
            <a:pPr>
              <a:defRPr/>
            </a:pPr>
            <a:r>
              <a:rPr lang="en-US" altLang="zh-TW" sz="1400" b="1" dirty="0">
                <a:latin typeface="+mn-lt"/>
                <a:ea typeface="新細明體" pitchFamily="18" charset="-120"/>
              </a:rPr>
              <a:t>(Identify all potential causes which could explain why the problem occurred)</a:t>
            </a:r>
            <a:endParaRPr lang="zh-TW" altLang="en-US" sz="1400" b="1" dirty="0">
              <a:latin typeface="+mn-lt"/>
              <a:ea typeface="新細明體" pitchFamily="18" charset="-12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57685" y="1052736"/>
            <a:ext cx="752668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4.1 Non-conformance root cause (</a:t>
            </a:r>
            <a:r>
              <a:rPr lang="en-US" altLang="zh-TW" sz="1600" b="1" dirty="0">
                <a:solidFill>
                  <a:srgbClr val="FF0000"/>
                </a:solidFill>
              </a:rPr>
              <a:t>defect nature / technical root cause</a:t>
            </a:r>
            <a:r>
              <a:rPr lang="en-US" altLang="zh-TW" sz="1600" b="1" dirty="0">
                <a:solidFill>
                  <a:srgbClr val="0000FF"/>
                </a:solidFill>
              </a:rPr>
              <a:t>): </a:t>
            </a:r>
          </a:p>
          <a:p>
            <a:pPr lvl="1"/>
            <a:r>
              <a:rPr lang="en-US" altLang="zh-TW" sz="1600" b="1" dirty="0">
                <a:solidFill>
                  <a:srgbClr val="0000FF"/>
                </a:solidFill>
              </a:rPr>
              <a:t>d) 5-Why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355" y="5301208"/>
            <a:ext cx="76083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b="1" dirty="0">
                <a:solidFill>
                  <a:srgbClr val="0000FF"/>
                </a:solidFill>
              </a:rPr>
              <a:t>b) Conclusion :</a:t>
            </a:r>
            <a:endParaRPr lang="en-US" altLang="zh-TW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0105350-77F3-7F9B-5969-1DD9BD888DDA}"/>
              </a:ext>
            </a:extLst>
          </p:cNvPr>
          <p:cNvSpPr/>
          <p:nvPr/>
        </p:nvSpPr>
        <p:spPr>
          <a:xfrm>
            <a:off x="1043608" y="1763902"/>
            <a:ext cx="718603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為什麼產品厚度會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OOS 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因為反應步驟未完成即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abort </a:t>
            </a:r>
            <a:endParaRPr lang="en-US" altLang="zh-TW" sz="1600" dirty="0">
              <a:latin typeface="+mj-lt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1C4295C-6DCB-4D23-1533-FE7CFD1CD474}"/>
              </a:ext>
            </a:extLst>
          </p:cNvPr>
          <p:cNvSpPr/>
          <p:nvPr/>
        </p:nvSpPr>
        <p:spPr>
          <a:xfrm>
            <a:off x="1043608" y="2420888"/>
            <a:ext cx="718603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為什麼反應步驟未完成即 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abort 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因為機台偵測到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Boat elevator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未在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P04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正確位置</a:t>
            </a:r>
            <a:endParaRPr lang="en-US" altLang="zh-TW" sz="1600" dirty="0">
              <a:latin typeface="+mj-lt"/>
            </a:endParaRP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3B973A8F-F5F6-43B1-0FFC-6C0EB64A29DB}"/>
              </a:ext>
            </a:extLst>
          </p:cNvPr>
          <p:cNvSpPr/>
          <p:nvPr/>
        </p:nvSpPr>
        <p:spPr>
          <a:xfrm>
            <a:off x="1043608" y="3068960"/>
            <a:ext cx="718603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為什麼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Boat elevator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未在 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P04 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正確位置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因為煞車失效造成下滑</a:t>
            </a:r>
            <a:endParaRPr lang="en-US" altLang="zh-TW" sz="1600" dirty="0">
              <a:latin typeface="+mj-lt"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752DB8A0-FD89-E60C-6C6A-B67650EB0ACD}"/>
              </a:ext>
            </a:extLst>
          </p:cNvPr>
          <p:cNvSpPr/>
          <p:nvPr/>
        </p:nvSpPr>
        <p:spPr>
          <a:xfrm>
            <a:off x="1043608" y="3789040"/>
            <a:ext cx="718603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>
              <a:buFont typeface="Wingdings" panose="05000000000000000000" pitchFamily="2" charset="2"/>
              <a:buChar char="Ø"/>
            </a:pP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為什麼煞車失效下滑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因為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driver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電壓輸出異常</a:t>
            </a:r>
            <a:endParaRPr lang="en-US" altLang="zh-TW" sz="1600" dirty="0">
              <a:latin typeface="+mj-lt"/>
            </a:endParaRP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1CD6549F-7FFE-EE78-2670-AD176A644262}"/>
              </a:ext>
            </a:extLst>
          </p:cNvPr>
          <p:cNvSpPr/>
          <p:nvPr/>
        </p:nvSpPr>
        <p:spPr>
          <a:xfrm>
            <a:off x="1044122" y="4572417"/>
            <a:ext cx="718552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為什麼 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Driver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電壓輸出異常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因為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Driver PCB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零件損毀</a:t>
            </a:r>
            <a:endParaRPr lang="en-US" altLang="zh-TW" sz="1600" dirty="0">
              <a:latin typeface="+mj-lt"/>
            </a:endParaRP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DCA12655-EC9D-4E95-16D4-74DF13796074}"/>
              </a:ext>
            </a:extLst>
          </p:cNvPr>
          <p:cNvSpPr/>
          <p:nvPr/>
        </p:nvSpPr>
        <p:spPr>
          <a:xfrm>
            <a:off x="1043608" y="5757935"/>
            <a:ext cx="769009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更換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Driver</a:t>
            </a:r>
            <a:endParaRPr lang="en-US" altLang="zh-TW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086304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ChangeArrowheads="1"/>
          </p:cNvSpPr>
          <p:nvPr/>
        </p:nvSpPr>
        <p:spPr bwMode="auto">
          <a:xfrm>
            <a:off x="251520" y="395954"/>
            <a:ext cx="834789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Discipline 4.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定義及驗證真因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(Identify the Root Cause)</a:t>
            </a:r>
          </a:p>
          <a:p>
            <a:pPr>
              <a:defRPr/>
            </a:pPr>
            <a:r>
              <a:rPr lang="en-US" altLang="zh-TW" sz="1400" b="1" dirty="0">
                <a:latin typeface="+mj-lt"/>
                <a:ea typeface="新細明體" pitchFamily="18" charset="-120"/>
              </a:rPr>
              <a:t>(Identify all potential causes which could explain why the problem occurred)</a:t>
            </a:r>
            <a:endParaRPr lang="zh-TW" altLang="en-US" sz="1400" b="1" dirty="0">
              <a:latin typeface="+mj-lt"/>
              <a:ea typeface="新細明體" pitchFamily="18" charset="-12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555" y="1102975"/>
            <a:ext cx="850594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4.2 </a:t>
            </a:r>
            <a:r>
              <a:rPr lang="en-US" altLang="zh-TW" sz="1600" b="1" dirty="0">
                <a:solidFill>
                  <a:srgbClr val="FF0000"/>
                </a:solidFill>
              </a:rPr>
              <a:t>Non-detection / escape root cause </a:t>
            </a:r>
            <a:r>
              <a:rPr lang="en-US" altLang="zh-TW" sz="1600" b="1" i="1" dirty="0">
                <a:solidFill>
                  <a:srgbClr val="0000FF"/>
                </a:solidFill>
              </a:rPr>
              <a:t>(Provide reason to why the current system failed to detect)</a:t>
            </a:r>
            <a:endParaRPr lang="en-US" altLang="zh-TW" sz="1600" b="1" dirty="0">
              <a:solidFill>
                <a:srgbClr val="0000FF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15616" y="4149080"/>
            <a:ext cx="243674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b) Conclusion</a:t>
            </a:r>
            <a:endParaRPr lang="zh-TW" altLang="en-US" sz="1200" b="1" dirty="0">
              <a:solidFill>
                <a:srgbClr val="0000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67544" y="1357834"/>
            <a:ext cx="148418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TW" sz="1600" b="1" dirty="0">
                <a:solidFill>
                  <a:srgbClr val="0000FF"/>
                </a:solidFill>
              </a:rPr>
              <a:t> a) 5-why: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004570C4-29BD-1DF4-92E4-F193F7A4A780}"/>
              </a:ext>
            </a:extLst>
          </p:cNvPr>
          <p:cNvSpPr txBox="1"/>
          <p:nvPr/>
        </p:nvSpPr>
        <p:spPr>
          <a:xfrm>
            <a:off x="1043608" y="1793639"/>
            <a:ext cx="7632848" cy="1893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為何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Driver 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輸出電壓異常無法預防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4000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針對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B/E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行進中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靜止中加裝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driver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輸出電壓監控，當電壓低於設定會有警示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alarm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可經調整達到設定值。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  <a:p>
            <a:pPr marL="54000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若在生產過程中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發生電壓輸出異常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0V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，會造成煞車失效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Elevator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位置下，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54250">
              <a:lnSpc>
                <a:spcPct val="150000"/>
              </a:lnSpc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造成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Sensor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作動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氫氣供給中斷，因屬重要製程無法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RWK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274ACC5-BC51-3629-DF02-11713672F650}"/>
              </a:ext>
            </a:extLst>
          </p:cNvPr>
          <p:cNvSpPr txBox="1"/>
          <p:nvPr/>
        </p:nvSpPr>
        <p:spPr>
          <a:xfrm>
            <a:off x="1403648" y="4599654"/>
            <a:ext cx="20697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定期更換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DRIVER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6" name="Picture 3">
            <a:extLst>
              <a:ext uri="{FF2B5EF4-FFF2-40B4-BE49-F238E27FC236}">
                <a16:creationId xmlns:a16="http://schemas.microsoft.com/office/drawing/2014/main" id="{BD295174-B18F-F150-E461-EE49125C64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2812" y="4599654"/>
            <a:ext cx="1754439" cy="194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245139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96525" y="344850"/>
            <a:ext cx="8640960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Discipline 5.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擬定及驗證永久改善對策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Choose and verify permanent corrective action (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列出各項執行之對策並檢核其對策有效性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)</a:t>
            </a:r>
            <a:endParaRPr lang="zh-TW" altLang="en-US" sz="2000" b="1" dirty="0">
              <a:solidFill>
                <a:srgbClr val="4D4D4D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新細明體" pitchFamily="18" charset="-12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3495" y="1124744"/>
            <a:ext cx="8370930" cy="1046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5.1 What was the chosen corrective action to correct the root cause? (Add photo or diagram where applicable.)</a:t>
            </a:r>
          </a:p>
          <a:p>
            <a:pPr lvl="1"/>
            <a:endParaRPr lang="en-US" altLang="zh-TW" sz="1400" b="1" dirty="0"/>
          </a:p>
          <a:p>
            <a:pPr lvl="1"/>
            <a:endParaRPr lang="zh-TW" altLang="en-US" sz="1600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B185C10-5B20-8986-A747-5B53216D8F50}"/>
              </a:ext>
            </a:extLst>
          </p:cNvPr>
          <p:cNvSpPr/>
          <p:nvPr/>
        </p:nvSpPr>
        <p:spPr>
          <a:xfrm>
            <a:off x="304854" y="1755685"/>
            <a:ext cx="8186947" cy="15243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F06 B/E Driver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更換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訂定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GOX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機組更換週期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50000"/>
              </a:lnSpc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每兩年定期更換維修後之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B/E driver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，可提前預防逐漸衰退之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driver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無預警瞬間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50000"/>
              </a:lnSpc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燒毀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900878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A3647F-B5CB-4C0D-A009-B847CBF56DA1}" type="slidenum">
              <a:rPr lang="zh-TW" altLang="en-US" smtClean="0"/>
              <a:pPr/>
              <a:t>21</a:t>
            </a:fld>
            <a:endParaRPr lang="zh-TW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96525" y="344850"/>
            <a:ext cx="8640960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Discipline 5.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擬定及驗證永久改善對策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Choose and verify permanent corrective action (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列出各項執行之對策並檢核其對策有效性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)</a:t>
            </a:r>
            <a:endParaRPr lang="zh-TW" altLang="en-US" sz="2000" b="1" dirty="0">
              <a:solidFill>
                <a:srgbClr val="4D4D4D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新細明體" pitchFamily="18" charset="-12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78650" y="1074222"/>
            <a:ext cx="351269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5.2 Verification of actions effectiveness</a:t>
            </a:r>
            <a:endParaRPr lang="zh-TW" altLang="en-US" sz="1600" b="1" dirty="0">
              <a:solidFill>
                <a:srgbClr val="0000FF"/>
              </a:solidFill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BA53F67-A2E4-3F6F-F157-BEBDDC1143AB}"/>
              </a:ext>
            </a:extLst>
          </p:cNvPr>
          <p:cNvSpPr/>
          <p:nvPr/>
        </p:nvSpPr>
        <p:spPr>
          <a:xfrm>
            <a:off x="467544" y="1412776"/>
            <a:ext cx="8055895" cy="785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F06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更換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Driver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至今無發生異常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GOX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機組全面更換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Driver (F16/F18/F19/F23)</a:t>
            </a:r>
          </a:p>
        </p:txBody>
      </p:sp>
    </p:spTree>
    <p:extLst>
      <p:ext uri="{BB962C8B-B14F-4D97-AF65-F5344CB8AC3E}">
        <p14:creationId xmlns:p14="http://schemas.microsoft.com/office/powerpoint/2010/main" val="30324744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296525" y="432538"/>
            <a:ext cx="8347890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6.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實施確認永久改善對策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Corrective Actions Implementation</a:t>
            </a:r>
            <a:endParaRPr lang="zh-TW" altLang="en-US" sz="2000" b="1" dirty="0">
              <a:solidFill>
                <a:srgbClr val="4D4D4D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新細明體" pitchFamily="18" charset="-12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76545" y="1223755"/>
            <a:ext cx="80558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6.1 For non-conformance root cause (</a:t>
            </a:r>
            <a:r>
              <a:rPr lang="en-US" altLang="zh-TW" dirty="0">
                <a:solidFill>
                  <a:srgbClr val="FF0000"/>
                </a:solidFill>
              </a:rPr>
              <a:t>defect nature / technical root cause</a:t>
            </a:r>
            <a:r>
              <a:rPr lang="en-US" altLang="zh-TW" dirty="0"/>
              <a:t>): 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85342"/>
              </p:ext>
            </p:extLst>
          </p:nvPr>
        </p:nvGraphicFramePr>
        <p:xfrm>
          <a:off x="701570" y="1593087"/>
          <a:ext cx="8190910" cy="890207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85065">
                  <a:extLst>
                    <a:ext uri="{9D8B030D-6E8A-4147-A177-3AD203B41FA5}">
                      <a16:colId xmlns:a16="http://schemas.microsoft.com/office/drawing/2014/main" val="346432216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1412103406"/>
                    </a:ext>
                  </a:extLst>
                </a:gridCol>
                <a:gridCol w="1053117">
                  <a:extLst>
                    <a:ext uri="{9D8B030D-6E8A-4147-A177-3AD203B41FA5}">
                      <a16:colId xmlns:a16="http://schemas.microsoft.com/office/drawing/2014/main" val="136634019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57247258"/>
                    </a:ext>
                  </a:extLst>
                </a:gridCol>
                <a:gridCol w="3024336">
                  <a:extLst>
                    <a:ext uri="{9D8B030D-6E8A-4147-A177-3AD203B41FA5}">
                      <a16:colId xmlns:a16="http://schemas.microsoft.com/office/drawing/2014/main" val="23316225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Nbr</a:t>
                      </a:r>
                      <a:r>
                        <a:rPr lang="en-US" sz="1200" dirty="0">
                          <a:effectLst/>
                        </a:rPr>
                        <a:t>. 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Actions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Who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When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Remarks / Evidence</a:t>
                      </a:r>
                      <a:endParaRPr lang="zh-TW" sz="1200" dirty="0">
                        <a:effectLst/>
                      </a:endParaRPr>
                    </a:p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(Document/Spec/Chart #)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5884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F06</a:t>
                      </a:r>
                      <a:endParaRPr lang="zh-TW" altLang="en-US" sz="14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Replace B/E driver</a:t>
                      </a:r>
                      <a:endParaRPr lang="zh-TW" altLang="en-US" sz="14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S220 </a:t>
                      </a:r>
                      <a:r>
                        <a:rPr lang="zh-TW" altLang="en-US" sz="1400" dirty="0"/>
                        <a:t>蔡孟哲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2023/09/27</a:t>
                      </a:r>
                      <a:endParaRPr lang="zh-TW" altLang="en-US" sz="14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kumimoji="0" lang="en-US" altLang="zh-TW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Run/Stop: 0.40 V / 0.20V </a:t>
                      </a:r>
                      <a:endParaRPr lang="zh-TW" altLang="en-US" sz="1400" dirty="0"/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011847256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4035" y="3240805"/>
            <a:ext cx="85059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6.2 For </a:t>
            </a:r>
            <a:r>
              <a:rPr lang="en-US" altLang="zh-TW" dirty="0">
                <a:solidFill>
                  <a:srgbClr val="FF0000"/>
                </a:solidFill>
              </a:rPr>
              <a:t>non-detection / escape root cause</a:t>
            </a:r>
            <a:endParaRPr lang="en-US" altLang="zh-TW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807416"/>
              </p:ext>
            </p:extLst>
          </p:nvPr>
        </p:nvGraphicFramePr>
        <p:xfrm>
          <a:off x="683624" y="3615609"/>
          <a:ext cx="8190910" cy="1037527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85065">
                  <a:extLst>
                    <a:ext uri="{9D8B030D-6E8A-4147-A177-3AD203B41FA5}">
                      <a16:colId xmlns:a16="http://schemas.microsoft.com/office/drawing/2014/main" val="346432216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1412103406"/>
                    </a:ext>
                  </a:extLst>
                </a:gridCol>
                <a:gridCol w="1071063">
                  <a:extLst>
                    <a:ext uri="{9D8B030D-6E8A-4147-A177-3AD203B41FA5}">
                      <a16:colId xmlns:a16="http://schemas.microsoft.com/office/drawing/2014/main" val="136634019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57247258"/>
                    </a:ext>
                  </a:extLst>
                </a:gridCol>
                <a:gridCol w="3006390">
                  <a:extLst>
                    <a:ext uri="{9D8B030D-6E8A-4147-A177-3AD203B41FA5}">
                      <a16:colId xmlns:a16="http://schemas.microsoft.com/office/drawing/2014/main" val="23316225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Nbr</a:t>
                      </a:r>
                      <a:r>
                        <a:rPr lang="en-US" sz="1200" dirty="0">
                          <a:effectLst/>
                        </a:rPr>
                        <a:t>. 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Actions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Who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When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Remarks / Evidence</a:t>
                      </a:r>
                      <a:endParaRPr lang="zh-TW" sz="1200" dirty="0">
                        <a:effectLst/>
                      </a:endParaRPr>
                    </a:p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(Document/Spec/Chart #)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5884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GOX</a:t>
                      </a:r>
                      <a:endParaRPr lang="zh-TW" altLang="en-US" sz="14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更換 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B/E driver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&amp;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確認輸出電壓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S220 </a:t>
                      </a:r>
                      <a:r>
                        <a:rPr lang="zh-TW" altLang="en-US" sz="1400" dirty="0"/>
                        <a:t>薛鐘隆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/>
                        <a:t>2024/01/20</a:t>
                      </a:r>
                      <a:endParaRPr lang="zh-TW" altLang="en-US" sz="14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Spec  (</a:t>
                      </a:r>
                      <a:r>
                        <a:rPr kumimoji="0" lang="zh-TW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Run/Stop:0.38+-0.04/0.18+-0.02 )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011847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95376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A3647F-B5CB-4C0D-A009-B847CBF56DA1}" type="slidenum">
              <a:rPr lang="zh-TW" altLang="en-US" smtClean="0"/>
              <a:pPr/>
              <a:t>23</a:t>
            </a:fld>
            <a:endParaRPr lang="zh-TW" alt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705751"/>
              </p:ext>
            </p:extLst>
          </p:nvPr>
        </p:nvGraphicFramePr>
        <p:xfrm>
          <a:off x="251520" y="2155505"/>
          <a:ext cx="8640959" cy="2798490"/>
        </p:xfrm>
        <a:graphic>
          <a:graphicData uri="http://schemas.openxmlformats.org/drawingml/2006/table">
            <a:tbl>
              <a:tblPr firstRow="1" firstCol="1" bandRow="1">
                <a:tableStyleId>{69CF1AB2-1976-4502-BF36-3FF5EA218861}</a:tableStyleId>
              </a:tblPr>
              <a:tblGrid>
                <a:gridCol w="480053">
                  <a:extLst>
                    <a:ext uri="{9D8B030D-6E8A-4147-A177-3AD203B41FA5}">
                      <a16:colId xmlns:a16="http://schemas.microsoft.com/office/drawing/2014/main" val="4281742479"/>
                    </a:ext>
                  </a:extLst>
                </a:gridCol>
                <a:gridCol w="816091">
                  <a:extLst>
                    <a:ext uri="{9D8B030D-6E8A-4147-A177-3AD203B41FA5}">
                      <a16:colId xmlns:a16="http://schemas.microsoft.com/office/drawing/2014/main" val="2569813929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616836262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235104329"/>
                    </a:ext>
                  </a:extLst>
                </a:gridCol>
                <a:gridCol w="168018">
                  <a:extLst>
                    <a:ext uri="{9D8B030D-6E8A-4147-A177-3AD203B41FA5}">
                      <a16:colId xmlns:a16="http://schemas.microsoft.com/office/drawing/2014/main" val="938082307"/>
                    </a:ext>
                  </a:extLst>
                </a:gridCol>
                <a:gridCol w="762940">
                  <a:extLst>
                    <a:ext uri="{9D8B030D-6E8A-4147-A177-3AD203B41FA5}">
                      <a16:colId xmlns:a16="http://schemas.microsoft.com/office/drawing/2014/main" val="1140651841"/>
                    </a:ext>
                  </a:extLst>
                </a:gridCol>
                <a:gridCol w="197166">
                  <a:extLst>
                    <a:ext uri="{9D8B030D-6E8A-4147-A177-3AD203B41FA5}">
                      <a16:colId xmlns:a16="http://schemas.microsoft.com/office/drawing/2014/main" val="1997588725"/>
                    </a:ext>
                  </a:extLst>
                </a:gridCol>
                <a:gridCol w="480053">
                  <a:extLst>
                    <a:ext uri="{9D8B030D-6E8A-4147-A177-3AD203B41FA5}">
                      <a16:colId xmlns:a16="http://schemas.microsoft.com/office/drawing/2014/main" val="4218907990"/>
                    </a:ext>
                  </a:extLst>
                </a:gridCol>
                <a:gridCol w="984111">
                  <a:extLst>
                    <a:ext uri="{9D8B030D-6E8A-4147-A177-3AD203B41FA5}">
                      <a16:colId xmlns:a16="http://schemas.microsoft.com/office/drawing/2014/main" val="2170847209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620016126"/>
                    </a:ext>
                  </a:extLst>
                </a:gridCol>
                <a:gridCol w="168017">
                  <a:extLst>
                    <a:ext uri="{9D8B030D-6E8A-4147-A177-3AD203B41FA5}">
                      <a16:colId xmlns:a16="http://schemas.microsoft.com/office/drawing/2014/main" val="2782002561"/>
                    </a:ext>
                  </a:extLst>
                </a:gridCol>
                <a:gridCol w="624071">
                  <a:extLst>
                    <a:ext uri="{9D8B030D-6E8A-4147-A177-3AD203B41FA5}">
                      <a16:colId xmlns:a16="http://schemas.microsoft.com/office/drawing/2014/main" val="1105303017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182701899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378533175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35519991"/>
                    </a:ext>
                  </a:extLst>
                </a:gridCol>
                <a:gridCol w="144016">
                  <a:extLst>
                    <a:ext uri="{9D8B030D-6E8A-4147-A177-3AD203B41FA5}">
                      <a16:colId xmlns:a16="http://schemas.microsoft.com/office/drawing/2014/main" val="4031166011"/>
                    </a:ext>
                  </a:extLst>
                </a:gridCol>
                <a:gridCol w="144016">
                  <a:extLst>
                    <a:ext uri="{9D8B030D-6E8A-4147-A177-3AD203B41FA5}">
                      <a16:colId xmlns:a16="http://schemas.microsoft.com/office/drawing/2014/main" val="539692759"/>
                    </a:ext>
                  </a:extLst>
                </a:gridCol>
                <a:gridCol w="288031">
                  <a:extLst>
                    <a:ext uri="{9D8B030D-6E8A-4147-A177-3AD203B41FA5}">
                      <a16:colId xmlns:a16="http://schemas.microsoft.com/office/drawing/2014/main" val="4196876526"/>
                    </a:ext>
                  </a:extLst>
                </a:gridCol>
              </a:tblGrid>
              <a:tr h="1026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Item</a:t>
                      </a:r>
                      <a:endParaRPr lang="zh-TW" sz="1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Potential </a:t>
                      </a:r>
                      <a:br>
                        <a:rPr lang="en-US" sz="1000" kern="0">
                          <a:effectLst/>
                        </a:rPr>
                      </a:br>
                      <a:r>
                        <a:rPr lang="en-US" sz="1000" kern="0">
                          <a:effectLst/>
                        </a:rPr>
                        <a:t>Failure Mode</a:t>
                      </a:r>
                      <a:endParaRPr lang="zh-TW" sz="1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Potential </a:t>
                      </a:r>
                      <a:br>
                        <a:rPr lang="en-US" sz="1000" kern="0">
                          <a:effectLst/>
                        </a:rPr>
                      </a:br>
                      <a:r>
                        <a:rPr lang="en-US" sz="1000" kern="0">
                          <a:effectLst/>
                        </a:rPr>
                        <a:t>Effect(s) of Failure</a:t>
                      </a:r>
                      <a:endParaRPr lang="zh-TW" sz="1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S.</a:t>
                      </a:r>
                      <a:br>
                        <a:rPr lang="en-US" sz="1000" kern="0">
                          <a:effectLst/>
                        </a:rPr>
                      </a:br>
                      <a:r>
                        <a:rPr lang="en-US" sz="1000" kern="0">
                          <a:effectLst/>
                        </a:rPr>
                        <a:t>E.</a:t>
                      </a:r>
                      <a:br>
                        <a:rPr lang="en-US" sz="1000" kern="0">
                          <a:effectLst/>
                        </a:rPr>
                      </a:br>
                      <a:r>
                        <a:rPr lang="en-US" sz="1000" kern="0">
                          <a:effectLst/>
                        </a:rPr>
                        <a:t>V.</a:t>
                      </a:r>
                      <a:endParaRPr lang="zh-TW" sz="1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C</a:t>
                      </a:r>
                      <a:br>
                        <a:rPr lang="en-US" sz="1000" kern="0">
                          <a:effectLst/>
                        </a:rPr>
                      </a:br>
                      <a:r>
                        <a:rPr lang="en-US" sz="1000" kern="0">
                          <a:effectLst/>
                        </a:rPr>
                        <a:t>L</a:t>
                      </a:r>
                      <a:br>
                        <a:rPr lang="en-US" sz="1000" kern="0">
                          <a:effectLst/>
                        </a:rPr>
                      </a:br>
                      <a:r>
                        <a:rPr lang="en-US" sz="1000" kern="0">
                          <a:effectLst/>
                        </a:rPr>
                        <a:t>A</a:t>
                      </a:r>
                      <a:br>
                        <a:rPr lang="en-US" sz="1000" kern="0">
                          <a:effectLst/>
                        </a:rPr>
                      </a:br>
                      <a:r>
                        <a:rPr lang="en-US" sz="1000" kern="0">
                          <a:effectLst/>
                        </a:rPr>
                        <a:t>S</a:t>
                      </a:r>
                      <a:br>
                        <a:rPr lang="en-US" sz="1000" kern="0">
                          <a:effectLst/>
                        </a:rPr>
                      </a:br>
                      <a:r>
                        <a:rPr lang="en-US" sz="1000" kern="0">
                          <a:effectLst/>
                        </a:rPr>
                        <a:t>S.</a:t>
                      </a:r>
                      <a:endParaRPr lang="zh-TW" sz="1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Potential cause(s) / mechanism(s) of Failure</a:t>
                      </a:r>
                      <a:endParaRPr lang="zh-TW" sz="1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O.</a:t>
                      </a:r>
                      <a:br>
                        <a:rPr lang="en-US" sz="1000" kern="0">
                          <a:effectLst/>
                        </a:rPr>
                      </a:br>
                      <a:r>
                        <a:rPr lang="en-US" sz="1000" kern="0">
                          <a:effectLst/>
                        </a:rPr>
                        <a:t>C.</a:t>
                      </a:r>
                      <a:br>
                        <a:rPr lang="en-US" sz="1000" kern="0">
                          <a:effectLst/>
                        </a:rPr>
                      </a:br>
                      <a:r>
                        <a:rPr lang="en-US" sz="1000" kern="0">
                          <a:effectLst/>
                        </a:rPr>
                        <a:t>C.</a:t>
                      </a:r>
                      <a:endParaRPr lang="zh-TW" sz="1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Current Process Control Prevention</a:t>
                      </a:r>
                      <a:endParaRPr lang="zh-TW" sz="1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effectLst/>
                        </a:rPr>
                        <a:t>Current Process Controls Detection</a:t>
                      </a:r>
                      <a:endParaRPr lang="zh-TW" sz="1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D.</a:t>
                      </a:r>
                      <a:br>
                        <a:rPr lang="en-US" sz="1000" kern="0">
                          <a:effectLst/>
                        </a:rPr>
                      </a:br>
                      <a:r>
                        <a:rPr lang="en-US" sz="1000" kern="0">
                          <a:effectLst/>
                        </a:rPr>
                        <a:t>E.</a:t>
                      </a:r>
                      <a:br>
                        <a:rPr lang="en-US" sz="1000" kern="0">
                          <a:effectLst/>
                        </a:rPr>
                      </a:br>
                      <a:r>
                        <a:rPr lang="en-US" sz="1000" kern="0">
                          <a:effectLst/>
                        </a:rPr>
                        <a:t>T.</a:t>
                      </a:r>
                      <a:endParaRPr lang="zh-TW" sz="1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R.</a:t>
                      </a:r>
                      <a:br>
                        <a:rPr lang="en-US" sz="1000" kern="0">
                          <a:effectLst/>
                        </a:rPr>
                      </a:br>
                      <a:r>
                        <a:rPr lang="en-US" sz="1000" kern="0">
                          <a:effectLst/>
                        </a:rPr>
                        <a:t>P.</a:t>
                      </a:r>
                      <a:br>
                        <a:rPr lang="en-US" sz="1000" kern="0">
                          <a:effectLst/>
                        </a:rPr>
                      </a:br>
                      <a:r>
                        <a:rPr lang="en-US" sz="1000" kern="0">
                          <a:effectLst/>
                        </a:rPr>
                        <a:t>N.</a:t>
                      </a:r>
                      <a:endParaRPr lang="zh-TW" sz="1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Recommended </a:t>
                      </a:r>
                      <a:br>
                        <a:rPr lang="en-US" sz="1000" kern="0">
                          <a:effectLst/>
                        </a:rPr>
                      </a:br>
                      <a:r>
                        <a:rPr lang="en-US" sz="1000" kern="0">
                          <a:effectLst/>
                        </a:rPr>
                        <a:t>Action</a:t>
                      </a:r>
                      <a:endParaRPr lang="zh-TW" sz="1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Responsibility &amp; Target Completion Date</a:t>
                      </a:r>
                      <a:endParaRPr lang="zh-TW" sz="1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Action Results</a:t>
                      </a:r>
                      <a:endParaRPr lang="zh-TW" sz="1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803040"/>
                  </a:ext>
                </a:extLst>
              </a:tr>
              <a:tr h="40764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Process, Function, Requirements</a:t>
                      </a:r>
                      <a:endParaRPr lang="zh-TW" sz="1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Actions Taken</a:t>
                      </a:r>
                      <a:endParaRPr lang="zh-TW" sz="1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S.</a:t>
                      </a:r>
                      <a:br>
                        <a:rPr lang="en-US" sz="1000" kern="0">
                          <a:effectLst/>
                        </a:rPr>
                      </a:br>
                      <a:r>
                        <a:rPr lang="en-US" sz="1000" kern="0">
                          <a:effectLst/>
                        </a:rPr>
                        <a:t>E.</a:t>
                      </a:r>
                      <a:br>
                        <a:rPr lang="en-US" sz="1000" kern="0">
                          <a:effectLst/>
                        </a:rPr>
                      </a:br>
                      <a:r>
                        <a:rPr lang="en-US" sz="1000" kern="0">
                          <a:effectLst/>
                        </a:rPr>
                        <a:t>V.</a:t>
                      </a:r>
                      <a:endParaRPr lang="zh-TW" sz="1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O.</a:t>
                      </a:r>
                      <a:br>
                        <a:rPr lang="en-US" sz="1000" kern="0">
                          <a:effectLst/>
                        </a:rPr>
                      </a:br>
                      <a:r>
                        <a:rPr lang="en-US" sz="1000" kern="0">
                          <a:effectLst/>
                        </a:rPr>
                        <a:t>C.</a:t>
                      </a:r>
                      <a:br>
                        <a:rPr lang="en-US" sz="1000" kern="0">
                          <a:effectLst/>
                        </a:rPr>
                      </a:br>
                      <a:r>
                        <a:rPr lang="en-US" sz="1000" kern="0">
                          <a:effectLst/>
                        </a:rPr>
                        <a:t>C.</a:t>
                      </a:r>
                      <a:endParaRPr lang="zh-TW" sz="1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</a:rPr>
                        <a:t>D.</a:t>
                      </a:r>
                      <a:br>
                        <a:rPr lang="en-US" sz="1000" kern="0">
                          <a:effectLst/>
                        </a:rPr>
                      </a:br>
                      <a:r>
                        <a:rPr lang="en-US" sz="1000" kern="0">
                          <a:effectLst/>
                        </a:rPr>
                        <a:t>E.</a:t>
                      </a:r>
                      <a:br>
                        <a:rPr lang="en-US" sz="1000" kern="0">
                          <a:effectLst/>
                        </a:rPr>
                      </a:br>
                      <a:r>
                        <a:rPr lang="en-US" sz="1000" kern="0">
                          <a:effectLst/>
                        </a:rPr>
                        <a:t>T.</a:t>
                      </a:r>
                      <a:endParaRPr lang="zh-TW" sz="1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effectLst/>
                        </a:rPr>
                        <a:t>R.</a:t>
                      </a:r>
                      <a:br>
                        <a:rPr lang="en-US" sz="1000" kern="0" dirty="0">
                          <a:effectLst/>
                        </a:rPr>
                      </a:br>
                      <a:r>
                        <a:rPr lang="en-US" sz="1000" kern="0" dirty="0">
                          <a:effectLst/>
                        </a:rPr>
                        <a:t>P.</a:t>
                      </a:r>
                      <a:br>
                        <a:rPr lang="en-US" sz="1000" kern="0" dirty="0">
                          <a:effectLst/>
                        </a:rPr>
                      </a:br>
                      <a:r>
                        <a:rPr lang="en-US" sz="1000" kern="0" dirty="0">
                          <a:effectLst/>
                        </a:rPr>
                        <a:t>N.</a:t>
                      </a:r>
                      <a:endParaRPr lang="zh-TW" sz="1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796289"/>
                  </a:ext>
                </a:extLst>
              </a:tr>
              <a:tr h="155528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b="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Gate</a:t>
                      </a:r>
                      <a:r>
                        <a:rPr lang="en-US" altLang="zh-TW" sz="1100" b="0" kern="100" baseline="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oxide </a:t>
                      </a:r>
                      <a:endParaRPr lang="zh-TW" sz="1100" b="0" kern="1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100" b="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M/W Tox</a:t>
                      </a:r>
                      <a:r>
                        <a:rPr lang="zh-TW" altLang="en-US" sz="1100" b="0" kern="100" baseline="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altLang="zh-TW" sz="1100" b="0" kern="100" baseline="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125.7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100" b="0" kern="100" baseline="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Spec</a:t>
                      </a:r>
                      <a:r>
                        <a:rPr lang="zh-TW" altLang="en-US" sz="1100" b="0" kern="100" baseline="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：</a:t>
                      </a:r>
                      <a:r>
                        <a:rPr lang="en-US" altLang="zh-TW" sz="1100" b="0" kern="100" baseline="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200+/-20A</a:t>
                      </a:r>
                    </a:p>
                  </a:txBody>
                  <a:tcPr marL="6675" marR="6675" marT="6675" marB="6675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100" b="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依照 </a:t>
                      </a:r>
                      <a:r>
                        <a:rPr lang="en-US" altLang="zh-TW" sz="11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OCAP </a:t>
                      </a:r>
                      <a:r>
                        <a:rPr lang="zh-TW" altLang="en-US" sz="11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處理流程</a:t>
                      </a:r>
                      <a:r>
                        <a:rPr lang="zh-TW" altLang="en-US" sz="1100" b="0" kern="100" baseline="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無法 </a:t>
                      </a:r>
                      <a:r>
                        <a:rPr lang="en-US" altLang="zh-TW" sz="1100" b="0" kern="100" baseline="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rework</a:t>
                      </a:r>
                      <a:endParaRPr lang="zh-TW" altLang="zh-TW" sz="1100" b="0" kern="1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100" b="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SCRAP</a:t>
                      </a:r>
                      <a:r>
                        <a:rPr lang="en-US" altLang="zh-TW" sz="1100" b="0" kern="100" baseline="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single lot in-line</a:t>
                      </a:r>
                      <a:endParaRPr lang="zh-TW" sz="1100" b="0" kern="1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100" b="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5</a:t>
                      </a:r>
                      <a:endParaRPr lang="zh-TW" sz="1100" b="0" kern="1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TW" sz="1100" b="0" kern="1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noFill/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altLang="zh-TW" sz="11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B/E driver </a:t>
                      </a:r>
                      <a:r>
                        <a:rPr lang="zh-TW" altLang="en-US" sz="11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燒毀 </a:t>
                      </a:r>
                      <a:r>
                        <a:rPr lang="en-US" altLang="zh-TW" sz="11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Cap </a:t>
                      </a:r>
                      <a:r>
                        <a:rPr lang="zh-TW" altLang="en-US" sz="11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未在 </a:t>
                      </a:r>
                      <a:r>
                        <a:rPr lang="en-US" altLang="zh-TW" sz="11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P04 </a:t>
                      </a:r>
                      <a:r>
                        <a:rPr lang="zh-TW" altLang="en-US" sz="11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正確位置時會 </a:t>
                      </a:r>
                      <a:r>
                        <a:rPr lang="en-US" altLang="zh-TW" sz="11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Gas </a:t>
                      </a:r>
                      <a:r>
                        <a:rPr lang="zh-TW" altLang="en-US" sz="11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1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interlock</a:t>
                      </a:r>
                      <a:r>
                        <a:rPr lang="zh-TW" altLang="en-US" sz="11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，</a:t>
                      </a:r>
                      <a:endParaRPr lang="en-US" altLang="zh-TW" sz="11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lvl="0"/>
                      <a:r>
                        <a:rPr lang="en-US" altLang="zh-TW" sz="11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H2 / O2 / Trans-LC Valve </a:t>
                      </a:r>
                      <a:r>
                        <a:rPr lang="zh-TW" altLang="en-US" sz="11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會 </a:t>
                      </a:r>
                      <a:r>
                        <a:rPr lang="en-US" altLang="zh-TW" sz="11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close </a:t>
                      </a:r>
                      <a:r>
                        <a:rPr lang="zh-TW" altLang="en-US" sz="11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停止通 </a:t>
                      </a:r>
                      <a:r>
                        <a:rPr lang="en-US" altLang="zh-TW" sz="11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Gas</a:t>
                      </a:r>
                    </a:p>
                  </a:txBody>
                  <a:tcPr marL="6675" marR="6675" marT="6675" marB="6675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100" b="0" kern="100" dirty="0">
                          <a:solidFill>
                            <a:srgbClr val="C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2</a:t>
                      </a:r>
                      <a:endParaRPr lang="zh-TW" sz="1100" b="0" kern="100" dirty="0">
                        <a:solidFill>
                          <a:srgbClr val="C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altLang="en-US" sz="11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加裝 </a:t>
                      </a:r>
                      <a:r>
                        <a:rPr lang="en-US" altLang="zh-TW" sz="11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B/E driver run / stop voltage </a:t>
                      </a:r>
                      <a:r>
                        <a:rPr lang="zh-TW" altLang="en-US" sz="11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監控電錶</a:t>
                      </a:r>
                      <a:r>
                        <a:rPr lang="en-US" altLang="zh-TW" sz="11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alarm </a:t>
                      </a:r>
                      <a:r>
                        <a:rPr lang="zh-TW" altLang="en-US" sz="11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機制</a:t>
                      </a:r>
                      <a:endParaRPr lang="zh-TW" altLang="zh-TW" sz="1100" b="0" kern="1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1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EDC</a:t>
                      </a:r>
                      <a:endParaRPr lang="zh-TW" sz="1100" b="0" kern="1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100" b="0" kern="100" dirty="0">
                          <a:solidFill>
                            <a:srgbClr val="C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2</a:t>
                      </a:r>
                      <a:endParaRPr lang="zh-TW" sz="1100" b="0" kern="100" dirty="0">
                        <a:solidFill>
                          <a:srgbClr val="C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100" b="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20</a:t>
                      </a:r>
                      <a:endParaRPr lang="zh-TW" sz="1100" b="0" kern="1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每兩年定期更換維修後之 </a:t>
                      </a:r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B/E driver</a:t>
                      </a:r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，可提前預防逐漸衰退之 </a:t>
                      </a:r>
                      <a:r>
                        <a:rPr lang="en-US" altLang="zh-TW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driver</a:t>
                      </a:r>
                      <a:r>
                        <a:rPr lang="zh-TW" altLang="en-US" sz="11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無預警</a:t>
                      </a:r>
                      <a:r>
                        <a:rPr lang="zh-TW" altLang="en-US" sz="11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瞬間燒毀。</a:t>
                      </a:r>
                      <a:endParaRPr lang="en-US" altLang="zh-TW" sz="11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675" marR="6675" marT="6675" marB="6675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100" b="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S200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100" b="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2024/01/05</a:t>
                      </a:r>
                      <a:endParaRPr lang="zh-TW" sz="1100" b="0" kern="1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1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Replace B/E driver </a:t>
                      </a:r>
                      <a:endParaRPr lang="zh-TW" sz="1100" b="0" kern="1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100" b="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5</a:t>
                      </a:r>
                      <a:endParaRPr lang="zh-TW" sz="1100" b="0" kern="1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100" b="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sz="1100" b="0" kern="1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100" b="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2</a:t>
                      </a:r>
                      <a:endParaRPr lang="zh-TW" sz="1100" b="0" kern="1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100" b="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10</a:t>
                      </a:r>
                      <a:endParaRPr lang="zh-TW" sz="1100" b="0" kern="1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675" marR="6675" marT="6675" marB="6675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83959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34395" y="1484784"/>
            <a:ext cx="409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FMEA new item:</a:t>
            </a:r>
            <a:endParaRPr lang="zh-TW" alt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77E3434-BCE3-43BE-9CC4-76BE6BA864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525" y="432538"/>
            <a:ext cx="8347890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6.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實施認永久改善對策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Corrective Actions Implementation</a:t>
            </a:r>
            <a:endParaRPr lang="zh-TW" altLang="en-US" sz="2000" b="1" dirty="0">
              <a:solidFill>
                <a:srgbClr val="4D4D4D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632029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34395" y="747573"/>
            <a:ext cx="880247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Discipline 7.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避免再發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Prevent Recurrence (Modify System / Document)</a:t>
            </a:r>
            <a:endParaRPr lang="zh-TW" altLang="en-US" sz="2000" b="1" dirty="0">
              <a:solidFill>
                <a:srgbClr val="4D4D4D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新細明體" pitchFamily="18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47250" y="1493785"/>
            <a:ext cx="237763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7.1 Systemic Actions:</a:t>
            </a:r>
            <a:endParaRPr lang="zh-TW" altLang="zh-TW" dirty="0"/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173DEC72-A1D8-5D6C-E6F1-8123EDF3B9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5480005"/>
              </p:ext>
            </p:extLst>
          </p:nvPr>
        </p:nvGraphicFramePr>
        <p:xfrm>
          <a:off x="467544" y="2132856"/>
          <a:ext cx="8388932" cy="302404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346432216"/>
                    </a:ext>
                  </a:extLst>
                </a:gridCol>
                <a:gridCol w="1915413">
                  <a:extLst>
                    <a:ext uri="{9D8B030D-6E8A-4147-A177-3AD203B41FA5}">
                      <a16:colId xmlns:a16="http://schemas.microsoft.com/office/drawing/2014/main" val="1412103406"/>
                    </a:ext>
                  </a:extLst>
                </a:gridCol>
                <a:gridCol w="958762">
                  <a:extLst>
                    <a:ext uri="{9D8B030D-6E8A-4147-A177-3AD203B41FA5}">
                      <a16:colId xmlns:a16="http://schemas.microsoft.com/office/drawing/2014/main" val="136634019"/>
                    </a:ext>
                  </a:extLst>
                </a:gridCol>
                <a:gridCol w="1014257">
                  <a:extLst>
                    <a:ext uri="{9D8B030D-6E8A-4147-A177-3AD203B41FA5}">
                      <a16:colId xmlns:a16="http://schemas.microsoft.com/office/drawing/2014/main" val="57247258"/>
                    </a:ext>
                  </a:extLst>
                </a:gridCol>
                <a:gridCol w="3060340">
                  <a:extLst>
                    <a:ext uri="{9D8B030D-6E8A-4147-A177-3AD203B41FA5}">
                      <a16:colId xmlns:a16="http://schemas.microsoft.com/office/drawing/2014/main" val="2331622569"/>
                    </a:ext>
                  </a:extLst>
                </a:gridCol>
              </a:tblGrid>
              <a:tr h="559362"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Factor</a:t>
                      </a:r>
                      <a:endParaRPr lang="zh-TW" sz="12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2700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Actions</a:t>
                      </a:r>
                      <a:endParaRPr lang="zh-TW" sz="12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Who</a:t>
                      </a:r>
                      <a:endParaRPr lang="zh-TW" sz="12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When</a:t>
                      </a:r>
                      <a:endParaRPr lang="zh-TW" sz="12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Remarks / Evidence</a:t>
                      </a:r>
                      <a:endParaRPr lang="zh-TW" sz="12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(Document/Spec/Chart #)</a:t>
                      </a:r>
                      <a:endParaRPr lang="zh-TW" sz="12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75884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Practices/ Training</a:t>
                      </a:r>
                      <a:endParaRPr lang="zh-TW" sz="12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Driver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外送維修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S220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2023/11/15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011847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Work Instruction</a:t>
                      </a:r>
                      <a:endParaRPr lang="zh-TW" sz="12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GOX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機組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B/E driver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更換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S220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2024/01/05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GOX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機台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APM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時平行展開</a:t>
                      </a: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895611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Specification</a:t>
                      </a:r>
                      <a:endParaRPr lang="zh-TW" sz="1200" kern="1200" dirty="0">
                        <a:solidFill>
                          <a:schemeClr val="dk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r>
                        <a:rPr lang="zh-TW" altLang="zh-TW" sz="12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確認 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B/E driver run / stop voltage </a:t>
                      </a:r>
                      <a:r>
                        <a:rPr lang="zh-TW" altLang="zh-TW" sz="12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電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壓</a:t>
                      </a:r>
                      <a:r>
                        <a:rPr lang="zh-TW" altLang="zh-TW" sz="12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是否正常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S220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2024/01/05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Spec  (</a:t>
                      </a:r>
                      <a:r>
                        <a:rPr kumimoji="0" lang="zh-TW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Run/Stop:0.38±0.04/0.18±0.02 )</a:t>
                      </a: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662515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Control Plan</a:t>
                      </a:r>
                      <a:endParaRPr lang="zh-TW" sz="1200" kern="1200" dirty="0">
                        <a:solidFill>
                          <a:schemeClr val="dk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PM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時檢查輸出電壓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S220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YPM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Spec  (</a:t>
                      </a:r>
                      <a:r>
                        <a:rPr kumimoji="0" lang="zh-TW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Run/Stop:0.38±0.04/0.18±0.02 ) O.I. </a:t>
                      </a:r>
                      <a:r>
                        <a:rPr kumimoji="0" lang="zh-TW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：</a:t>
                      </a: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G3363-1010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1427358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*</a:t>
                      </a:r>
                      <a:r>
                        <a:rPr lang="en-US" sz="12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FMEA (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must</a:t>
                      </a:r>
                      <a:r>
                        <a:rPr lang="en-US" sz="12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sz="1200" dirty="0">
                        <a:solidFill>
                          <a:srgbClr val="FF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定期更換 </a:t>
                      </a:r>
                      <a:r>
                        <a:rPr lang="en-US" altLang="zh-TW" sz="12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B/E driver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S220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兩年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EMS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parts PM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提醒設定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2231913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2700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Error Proofing</a:t>
                      </a:r>
                      <a:endParaRPr lang="zh-TW" sz="1200" kern="1200" dirty="0">
                        <a:solidFill>
                          <a:schemeClr val="dk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127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N/A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N/A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N/A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N/A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422301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3661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34395" y="747573"/>
            <a:ext cx="880247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Discipline 7.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避免再發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Prevent Recurrence (Modify System / Document)</a:t>
            </a:r>
            <a:endParaRPr lang="zh-TW" altLang="en-US" sz="2000" b="1" dirty="0">
              <a:solidFill>
                <a:srgbClr val="4D4D4D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新細明體" pitchFamily="18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47250" y="1493785"/>
            <a:ext cx="72850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7.2 Corrective Actions Fan-out: (</a:t>
            </a:r>
            <a:r>
              <a:rPr lang="zh-TW" altLang="en-US" dirty="0"/>
              <a:t>水平展開</a:t>
            </a:r>
            <a:r>
              <a:rPr lang="en-US" altLang="zh-TW" dirty="0"/>
              <a:t>):</a:t>
            </a:r>
            <a:endParaRPr lang="zh-TW" altLang="zh-TW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0221109"/>
              </p:ext>
            </p:extLst>
          </p:nvPr>
        </p:nvGraphicFramePr>
        <p:xfrm>
          <a:off x="431540" y="1987338"/>
          <a:ext cx="8460940" cy="18592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880209">
                  <a:extLst>
                    <a:ext uri="{9D8B030D-6E8A-4147-A177-3AD203B41FA5}">
                      <a16:colId xmlns:a16="http://schemas.microsoft.com/office/drawing/2014/main" val="346432216"/>
                    </a:ext>
                  </a:extLst>
                </a:gridCol>
                <a:gridCol w="3196355">
                  <a:extLst>
                    <a:ext uri="{9D8B030D-6E8A-4147-A177-3AD203B41FA5}">
                      <a16:colId xmlns:a16="http://schemas.microsoft.com/office/drawing/2014/main" val="1412103406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136634019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57247258"/>
                    </a:ext>
                  </a:extLst>
                </a:gridCol>
              </a:tblGrid>
              <a:tr h="440758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Machine/ Process/ Product</a:t>
                      </a:r>
                      <a:endParaRPr lang="zh-TW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Actions</a:t>
                      </a:r>
                      <a:endParaRPr lang="zh-TW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TW" sz="1600" dirty="0">
                          <a:effectLst/>
                        </a:rPr>
                        <a:t>Responsible</a:t>
                      </a:r>
                      <a:endParaRPr lang="zh-TW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Due date</a:t>
                      </a:r>
                      <a:endParaRPr lang="zh-TW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5884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TW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F06</a:t>
                      </a:r>
                    </a:p>
                    <a:p>
                      <a:pPr marL="12700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TW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F16</a:t>
                      </a:r>
                    </a:p>
                    <a:p>
                      <a:pPr marL="12700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TW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F18</a:t>
                      </a:r>
                    </a:p>
                    <a:p>
                      <a:pPr marL="12700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TW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F19</a:t>
                      </a:r>
                    </a:p>
                    <a:p>
                      <a:pPr marL="12700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TW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F23</a:t>
                      </a:r>
                      <a:endParaRPr lang="zh-TW" sz="16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更換 </a:t>
                      </a:r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B/E driver</a:t>
                      </a:r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及確認 </a:t>
                      </a:r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run / stop voltage</a:t>
                      </a:r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皆大於 </a:t>
                      </a:r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0.38 (V)</a:t>
                      </a:r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0.18(V)</a:t>
                      </a:r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endParaRPr lang="en-US" altLang="zh-TW" sz="1600" dirty="0">
                        <a:solidFill>
                          <a:srgbClr val="C00000"/>
                        </a:solidFill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S220</a:t>
                      </a:r>
                      <a:endParaRPr lang="zh-TW" altLang="en-US" sz="14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TW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F06 - 09/27/2023  done</a:t>
                      </a:r>
                    </a:p>
                    <a:p>
                      <a:pPr marL="127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F16 - 01/05/2024  done</a:t>
                      </a:r>
                    </a:p>
                    <a:p>
                      <a:pPr marL="127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F18 - 01/05/2024  done</a:t>
                      </a:r>
                    </a:p>
                    <a:p>
                      <a:pPr marL="127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F19 - 01/05/2024  done</a:t>
                      </a:r>
                    </a:p>
                    <a:p>
                      <a:pPr marL="127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+mn-cs"/>
                        </a:rPr>
                        <a:t>F23 - 01/05/2024  done</a:t>
                      </a:r>
                    </a:p>
                    <a:p>
                      <a:pPr marL="127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+mn-cs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011847256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0711C187-89A9-9A30-1DCE-EAFD4E61B6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17081"/>
              </p:ext>
            </p:extLst>
          </p:nvPr>
        </p:nvGraphicFramePr>
        <p:xfrm>
          <a:off x="2321750" y="4077072"/>
          <a:ext cx="4680519" cy="230425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60173">
                  <a:extLst>
                    <a:ext uri="{9D8B030D-6E8A-4147-A177-3AD203B41FA5}">
                      <a16:colId xmlns:a16="http://schemas.microsoft.com/office/drawing/2014/main" val="844725501"/>
                    </a:ext>
                  </a:extLst>
                </a:gridCol>
                <a:gridCol w="1560173">
                  <a:extLst>
                    <a:ext uri="{9D8B030D-6E8A-4147-A177-3AD203B41FA5}">
                      <a16:colId xmlns:a16="http://schemas.microsoft.com/office/drawing/2014/main" val="2115716717"/>
                    </a:ext>
                  </a:extLst>
                </a:gridCol>
                <a:gridCol w="1560173">
                  <a:extLst>
                    <a:ext uri="{9D8B030D-6E8A-4147-A177-3AD203B41FA5}">
                      <a16:colId xmlns:a16="http://schemas.microsoft.com/office/drawing/2014/main" val="1031117840"/>
                    </a:ext>
                  </a:extLst>
                </a:gridCol>
              </a:tblGrid>
              <a:tr h="3783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baseline="0" dirty="0">
                          <a:effectLst/>
                          <a:ea typeface="微軟正黑體" panose="020B0604030504040204" pitchFamily="34" charset="-120"/>
                        </a:rPr>
                        <a:t>Machine</a:t>
                      </a:r>
                      <a:endParaRPr lang="en-US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u="none" strike="noStrike" baseline="0" dirty="0">
                          <a:effectLst/>
                          <a:ea typeface="微軟正黑體" panose="020B0604030504040204" pitchFamily="34" charset="-120"/>
                        </a:rPr>
                        <a:t>Run</a:t>
                      </a:r>
                      <a:r>
                        <a:rPr lang="en-US" sz="1800" u="none" strike="noStrike" baseline="0" dirty="0">
                          <a:effectLst/>
                          <a:ea typeface="微軟正黑體" panose="020B0604030504040204" pitchFamily="34" charset="-120"/>
                        </a:rPr>
                        <a:t> ( vdc )</a:t>
                      </a:r>
                      <a:endParaRPr lang="en-US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u="none" strike="noStrike" baseline="0" dirty="0">
                          <a:effectLst/>
                          <a:ea typeface="微軟正黑體" panose="020B0604030504040204" pitchFamily="34" charset="-120"/>
                        </a:rPr>
                        <a:t>Stop</a:t>
                      </a:r>
                      <a:r>
                        <a:rPr lang="en-US" sz="1800" u="none" strike="noStrike" baseline="0" dirty="0">
                          <a:effectLst/>
                          <a:ea typeface="微軟正黑體" panose="020B0604030504040204" pitchFamily="34" charset="-120"/>
                        </a:rPr>
                        <a:t> ( vdc )</a:t>
                      </a:r>
                      <a:endParaRPr lang="en-US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808223"/>
                  </a:ext>
                </a:extLst>
              </a:tr>
              <a:tr h="3783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baseline="0">
                          <a:effectLst/>
                          <a:ea typeface="微軟正黑體" panose="020B0604030504040204" pitchFamily="34" charset="-120"/>
                        </a:rPr>
                        <a:t>F06</a:t>
                      </a:r>
                      <a:endParaRPr lang="en-US" sz="1800" b="0" i="0" u="none" strike="noStrike" baseline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u="none" strike="noStrike" baseline="0" dirty="0">
                          <a:effectLst/>
                          <a:ea typeface="微軟正黑體" panose="020B0604030504040204" pitchFamily="34" charset="-120"/>
                        </a:rPr>
                        <a:t>0.40</a:t>
                      </a:r>
                      <a:endParaRPr lang="en-US" altLang="zh-TW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u="none" strike="noStrike" baseline="0" dirty="0">
                          <a:effectLst/>
                          <a:ea typeface="微軟正黑體" panose="020B0604030504040204" pitchFamily="34" charset="-120"/>
                        </a:rPr>
                        <a:t>0.20</a:t>
                      </a:r>
                      <a:endParaRPr lang="en-US" altLang="zh-TW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11808031"/>
                  </a:ext>
                </a:extLst>
              </a:tr>
              <a:tr h="3783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baseline="0">
                          <a:effectLst/>
                          <a:ea typeface="微軟正黑體" panose="020B0604030504040204" pitchFamily="34" charset="-120"/>
                        </a:rPr>
                        <a:t>F16</a:t>
                      </a:r>
                      <a:endParaRPr lang="en-US" sz="1800" b="0" i="0" u="none" strike="noStrike" baseline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u="none" strike="noStrike" baseline="0" dirty="0">
                          <a:effectLst/>
                          <a:ea typeface="微軟正黑體" panose="020B0604030504040204" pitchFamily="34" charset="-120"/>
                        </a:rPr>
                        <a:t>0.39</a:t>
                      </a:r>
                      <a:endParaRPr lang="en-US" altLang="zh-TW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u="none" strike="noStrike" baseline="0" dirty="0">
                          <a:effectLst/>
                          <a:ea typeface="微軟正黑體" panose="020B0604030504040204" pitchFamily="34" charset="-120"/>
                        </a:rPr>
                        <a:t>0.19</a:t>
                      </a:r>
                      <a:endParaRPr lang="en-US" altLang="zh-TW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57871"/>
                  </a:ext>
                </a:extLst>
              </a:tr>
              <a:tr h="3783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baseline="0">
                          <a:effectLst/>
                          <a:ea typeface="微軟正黑體" panose="020B0604030504040204" pitchFamily="34" charset="-120"/>
                        </a:rPr>
                        <a:t>F18</a:t>
                      </a:r>
                      <a:endParaRPr lang="en-US" sz="1800" b="0" i="0" u="none" strike="noStrike" baseline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u="none" strike="noStrike" baseline="0" dirty="0">
                          <a:effectLst/>
                          <a:ea typeface="微軟正黑體" panose="020B0604030504040204" pitchFamily="34" charset="-120"/>
                        </a:rPr>
                        <a:t>0.40</a:t>
                      </a:r>
                      <a:endParaRPr lang="en-US" altLang="zh-TW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u="none" strike="noStrike" baseline="0" dirty="0">
                          <a:effectLst/>
                          <a:ea typeface="微軟正黑體" panose="020B0604030504040204" pitchFamily="34" charset="-120"/>
                        </a:rPr>
                        <a:t>0.19</a:t>
                      </a:r>
                      <a:endParaRPr lang="en-US" altLang="zh-TW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34790865"/>
                  </a:ext>
                </a:extLst>
              </a:tr>
              <a:tr h="3955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baseline="0">
                          <a:effectLst/>
                          <a:ea typeface="微軟正黑體" panose="020B0604030504040204" pitchFamily="34" charset="-120"/>
                        </a:rPr>
                        <a:t>F19</a:t>
                      </a:r>
                      <a:endParaRPr lang="en-US" sz="1800" b="0" i="0" u="none" strike="noStrike" baseline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u="none" strike="noStrike" baseline="0" dirty="0">
                          <a:effectLst/>
                          <a:ea typeface="微軟正黑體" panose="020B0604030504040204" pitchFamily="34" charset="-120"/>
                        </a:rPr>
                        <a:t>0.38</a:t>
                      </a:r>
                      <a:endParaRPr lang="en-US" altLang="zh-TW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u="none" strike="noStrike" baseline="0" dirty="0">
                          <a:effectLst/>
                          <a:ea typeface="微軟正黑體" panose="020B0604030504040204" pitchFamily="34" charset="-120"/>
                        </a:rPr>
                        <a:t>0.18</a:t>
                      </a:r>
                      <a:endParaRPr lang="en-US" altLang="zh-TW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822644"/>
                  </a:ext>
                </a:extLst>
              </a:tr>
              <a:tr h="3955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baseline="0">
                          <a:effectLst/>
                          <a:ea typeface="微軟正黑體" panose="020B0604030504040204" pitchFamily="34" charset="-120"/>
                        </a:rPr>
                        <a:t>F23</a:t>
                      </a:r>
                      <a:endParaRPr lang="en-US" sz="1800" b="0" i="0" u="none" strike="noStrike" baseline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u="none" strike="noStrike" baseline="0" dirty="0">
                          <a:effectLst/>
                          <a:ea typeface="微軟正黑體" panose="020B0604030504040204" pitchFamily="34" charset="-120"/>
                        </a:rPr>
                        <a:t>0.39</a:t>
                      </a:r>
                      <a:endParaRPr lang="en-US" altLang="zh-TW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u="none" strike="noStrike" baseline="0" dirty="0">
                          <a:effectLst/>
                          <a:ea typeface="微軟正黑體" panose="020B0604030504040204" pitchFamily="34" charset="-120"/>
                        </a:rPr>
                        <a:t>0.20</a:t>
                      </a:r>
                      <a:endParaRPr lang="en-US" altLang="zh-TW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59347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62065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34395" y="747573"/>
            <a:ext cx="880247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Discipline 7.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避免再發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Prevent Recurrence (Modify System / Document)</a:t>
            </a:r>
            <a:endParaRPr lang="zh-TW" altLang="en-US" sz="2000" b="1" dirty="0">
              <a:solidFill>
                <a:srgbClr val="4D4D4D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新細明體" pitchFamily="18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47250" y="1493785"/>
            <a:ext cx="72850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7.2 Corrective Actions Fan-out: (</a:t>
            </a:r>
            <a:r>
              <a:rPr lang="zh-TW" altLang="en-US" dirty="0"/>
              <a:t>水平展開</a:t>
            </a:r>
            <a:r>
              <a:rPr lang="en-US" altLang="zh-TW" dirty="0"/>
              <a:t>):</a:t>
            </a:r>
            <a:endParaRPr lang="zh-TW" altLang="zh-TW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FD9AB16-D693-7CB4-FC78-3EAA72995EE0}"/>
              </a:ext>
            </a:extLst>
          </p:cNvPr>
          <p:cNvSpPr txBox="1"/>
          <p:nvPr/>
        </p:nvSpPr>
        <p:spPr>
          <a:xfrm>
            <a:off x="627546" y="1863117"/>
            <a:ext cx="78889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EMS parts PM 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提醒設定每兩年定期更換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B/E driver</a:t>
            </a:r>
            <a:endParaRPr lang="zh-TW" altLang="en-US" sz="1600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0F141F3A-0E23-3062-0A6B-4E03BB89BE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778" b="44339"/>
          <a:stretch/>
        </p:blipFill>
        <p:spPr>
          <a:xfrm>
            <a:off x="481137" y="2492896"/>
            <a:ext cx="8142014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3211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407988" y="439837"/>
            <a:ext cx="7607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Discipline 8. Congratulate the Team</a:t>
            </a:r>
            <a:endParaRPr lang="zh-TW" altLang="en-US" sz="2000" b="1" dirty="0">
              <a:solidFill>
                <a:srgbClr val="4D4D4D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新細明體" pitchFamily="18" charset="-120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611188" y="998538"/>
            <a:ext cx="7607300" cy="401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altLang="zh-TW" sz="2000" dirty="0">
                <a:solidFill>
                  <a:srgbClr val="0000FF"/>
                </a:solidFill>
                <a:latin typeface="+mn-lt"/>
                <a:ea typeface="新細明體" pitchFamily="18" charset="-120"/>
              </a:rPr>
              <a:t>Thanks for every member helped in this case.</a:t>
            </a:r>
            <a:endParaRPr lang="zh-TW" altLang="en-US" sz="2000" dirty="0">
              <a:solidFill>
                <a:srgbClr val="0000FF"/>
              </a:solidFill>
              <a:latin typeface="+mn-lt"/>
              <a:ea typeface="新細明體" pitchFamily="18" charset="-12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7151" y="1853825"/>
            <a:ext cx="2989986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0">
              <a:lnSpc>
                <a:spcPct val="150000"/>
              </a:lnSpc>
              <a:spcAft>
                <a:spcPts val="0"/>
              </a:spcAft>
            </a:pPr>
            <a:r>
              <a:rPr lang="en-US" altLang="zh-TW" b="1" dirty="0">
                <a:latin typeface="Calibri" panose="020F0502020204030204" pitchFamily="34" charset="0"/>
                <a:ea typeface="SimSun" panose="02010600030101010101" pitchFamily="2" charset="-122"/>
              </a:rPr>
              <a:t>Reviewed and Approved by:</a:t>
            </a:r>
            <a:endParaRPr lang="zh-TW" altLang="zh-TW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8458E9C3-B605-22C2-001F-FFD12889D9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6761211"/>
              </p:ext>
            </p:extLst>
          </p:nvPr>
        </p:nvGraphicFramePr>
        <p:xfrm>
          <a:off x="642057" y="2686939"/>
          <a:ext cx="7009641" cy="147599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336547">
                  <a:extLst>
                    <a:ext uri="{9D8B030D-6E8A-4147-A177-3AD203B41FA5}">
                      <a16:colId xmlns:a16="http://schemas.microsoft.com/office/drawing/2014/main" val="346432216"/>
                    </a:ext>
                  </a:extLst>
                </a:gridCol>
                <a:gridCol w="2336547">
                  <a:extLst>
                    <a:ext uri="{9D8B030D-6E8A-4147-A177-3AD203B41FA5}">
                      <a16:colId xmlns:a16="http://schemas.microsoft.com/office/drawing/2014/main" val="1412103406"/>
                    </a:ext>
                  </a:extLst>
                </a:gridCol>
                <a:gridCol w="2336547">
                  <a:extLst>
                    <a:ext uri="{9D8B030D-6E8A-4147-A177-3AD203B41FA5}">
                      <a16:colId xmlns:a16="http://schemas.microsoft.com/office/drawing/2014/main" val="136634019"/>
                    </a:ext>
                  </a:extLst>
                </a:gridCol>
              </a:tblGrid>
              <a:tr h="139040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  <a:tabLst>
                          <a:tab pos="228600" algn="l"/>
                        </a:tabLst>
                      </a:pPr>
                      <a:r>
                        <a:rPr lang="en-US" sz="1600" dirty="0">
                          <a:effectLst/>
                        </a:rPr>
                        <a:t>Name</a:t>
                      </a:r>
                      <a:endParaRPr lang="zh-TW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000" marR="36000" marT="18415" marB="18415" anchor="ctr"/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en-US" sz="1600" dirty="0">
                          <a:effectLst/>
                        </a:rPr>
                        <a:t>2. Position</a:t>
                      </a:r>
                      <a:endParaRPr lang="zh-TW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000" marR="36000" marT="18415" marB="18415" anchor="ctr"/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en-US" sz="1600" dirty="0">
                          <a:effectLst/>
                        </a:rPr>
                        <a:t>3. Date</a:t>
                      </a:r>
                      <a:endParaRPr lang="zh-TW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000" marR="36000" marT="18415" marB="18415" anchor="ctr"/>
                </a:tc>
                <a:extLst>
                  <a:ext uri="{0D108BD9-81ED-4DB2-BD59-A6C34878D82A}">
                    <a16:rowId xmlns:a16="http://schemas.microsoft.com/office/drawing/2014/main" val="4275884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S210 </a:t>
                      </a:r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陳永昌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/>
                        <a:t>SECTION MANAGER</a:t>
                      </a:r>
                      <a:endParaRPr lang="zh-TW" altLang="en-US" sz="16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2024/01/26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2784056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S220 </a:t>
                      </a:r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邱尊護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/>
                        <a:t>SECTION MANAGER</a:t>
                      </a:r>
                      <a:endParaRPr lang="zh-TW" altLang="en-US" sz="16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2024/01/26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011847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S200 </a:t>
                      </a:r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李明驥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/>
                        <a:t>DEPARTMENT MANAGER</a:t>
                      </a:r>
                      <a:endParaRPr lang="zh-TW" altLang="en-US" sz="16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2024/01/26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422301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9010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1499B12D3BDD2F49A326658DE352AE8B" ma:contentTypeVersion="13" ma:contentTypeDescription="建立新的文件。" ma:contentTypeScope="" ma:versionID="bf3407d546762e2f1ac0f3b433cd114d">
  <xsd:schema xmlns:xsd="http://www.w3.org/2001/XMLSchema" xmlns:xs="http://www.w3.org/2001/XMLSchema" xmlns:p="http://schemas.microsoft.com/office/2006/metadata/properties" xmlns:ns3="d0e060dc-8471-452a-be78-891f5bd40791" xmlns:ns4="4af2d00d-3b65-4bb4-b897-f6f95e2f5f12" targetNamespace="http://schemas.microsoft.com/office/2006/metadata/properties" ma:root="true" ma:fieldsID="c6aeaab7c3bec291b0e7270dff689555" ns3:_="" ns4:_="">
    <xsd:import namespace="d0e060dc-8471-452a-be78-891f5bd40791"/>
    <xsd:import namespace="4af2d00d-3b65-4bb4-b897-f6f95e2f5f1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e060dc-8471-452a-be78-891f5bd407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f2d00d-3b65-4bb4-b897-f6f95e2f5f12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共用提示雜湊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0e060dc-8471-452a-be78-891f5bd40791" xsi:nil="true"/>
  </documentManagement>
</p:properties>
</file>

<file path=customXml/itemProps1.xml><?xml version="1.0" encoding="utf-8"?>
<ds:datastoreItem xmlns:ds="http://schemas.openxmlformats.org/officeDocument/2006/customXml" ds:itemID="{A1F41721-8BA7-426A-8F1E-0C7B8587C63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54A9DEA-AE9A-40FD-9156-8889D7DB482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0e060dc-8471-452a-be78-891f5bd40791"/>
    <ds:schemaRef ds:uri="4af2d00d-3b65-4bb4-b897-f6f95e2f5f1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84B34AF-550D-4C92-BB3A-AE8B9AB4904C}">
  <ds:schemaRefs>
    <ds:schemaRef ds:uri="http://www.w3.org/XML/1998/namespace"/>
    <ds:schemaRef ds:uri="http://purl.org/dc/dcmitype/"/>
    <ds:schemaRef ds:uri="http://purl.org/dc/terms/"/>
    <ds:schemaRef ds:uri="d0e060dc-8471-452a-be78-891f5bd40791"/>
    <ds:schemaRef ds:uri="http://schemas.microsoft.com/office/2006/metadata/properties"/>
    <ds:schemaRef ds:uri="4af2d00d-3b65-4bb4-b897-f6f95e2f5f12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NTC_A</Template>
  <TotalTime>19564</TotalTime>
  <Words>2424</Words>
  <Application>Microsoft Office PowerPoint</Application>
  <PresentationFormat>如螢幕大小 (4:3)</PresentationFormat>
  <Paragraphs>421</Paragraphs>
  <Slides>28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28</vt:i4>
      </vt:variant>
    </vt:vector>
  </HeadingPairs>
  <TitlesOfParts>
    <vt:vector size="34" baseType="lpstr">
      <vt:lpstr>微軟正黑體</vt:lpstr>
      <vt:lpstr>Arial</vt:lpstr>
      <vt:lpstr>Calibri</vt:lpstr>
      <vt:lpstr>Times New Roman</vt:lpstr>
      <vt:lpstr>Wingdings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EDC &amp; RTC</vt:lpstr>
      <vt:lpstr>OCAP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nuvoton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AD10 YHChang8</dc:creator>
  <cp:lastModifiedBy>S220 CLHsueh0</cp:lastModifiedBy>
  <cp:revision>177</cp:revision>
  <cp:lastPrinted>2020-06-01T03:58:51Z</cp:lastPrinted>
  <dcterms:created xsi:type="dcterms:W3CDTF">2012-03-21T02:57:47Z</dcterms:created>
  <dcterms:modified xsi:type="dcterms:W3CDTF">2024-01-26T10:31:16Z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0x0101001499B12D3BDD2F49A326658DE352AE8B</vt:lpwstr>
  </property>
</Properties>
</file>