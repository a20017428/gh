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6" r:id="rId5"/>
    <p:sldId id="261" r:id="rId6"/>
    <p:sldId id="262" r:id="rId7"/>
    <p:sldId id="338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263" r:id="rId17"/>
    <p:sldId id="264" r:id="rId18"/>
    <p:sldId id="325" r:id="rId19"/>
    <p:sldId id="265" r:id="rId20"/>
    <p:sldId id="315" r:id="rId21"/>
    <p:sldId id="284" r:id="rId22"/>
    <p:sldId id="286" r:id="rId23"/>
    <p:sldId id="287" r:id="rId24"/>
    <p:sldId id="331" r:id="rId25"/>
    <p:sldId id="337" r:id="rId26"/>
    <p:sldId id="328" r:id="rId27"/>
    <p:sldId id="349" r:id="rId28"/>
    <p:sldId id="329" r:id="rId29"/>
    <p:sldId id="351" r:id="rId30"/>
    <p:sldId id="333" r:id="rId31"/>
    <p:sldId id="267" r:id="rId32"/>
    <p:sldId id="268" r:id="rId33"/>
    <p:sldId id="313" r:id="rId34"/>
    <p:sldId id="269" r:id="rId35"/>
    <p:sldId id="298" r:id="rId36"/>
    <p:sldId id="270" r:id="rId37"/>
    <p:sldId id="271" r:id="rId38"/>
    <p:sldId id="272" r:id="rId39"/>
  </p:sldIdLst>
  <p:sldSz cx="9144000" cy="6858000" type="screen4x3"/>
  <p:notesSz cx="7010400" cy="92964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B3BBD8-D59B-4450-A8E4-E5668407AFE6}">
          <p14:sldIdLst>
            <p14:sldId id="256"/>
          </p14:sldIdLst>
        </p14:section>
        <p14:section name="Discipline 1.選定團隊 Form the Team" id="{6C6951F8-7833-4698-9FB2-AB921AB80116}">
          <p14:sldIdLst>
            <p14:sldId id="261"/>
          </p14:sldIdLst>
        </p14:section>
        <p14:section name="Discipline 2.描述問題及現況掌握Describe the Problem" id="{107A681E-3160-4285-BA4B-55314EC1346F}">
          <p14:sldIdLst>
            <p14:sldId id="262"/>
            <p14:sldId id="338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263"/>
          </p14:sldIdLst>
        </p14:section>
        <p14:section name="Discipline 3.執行及驗證暫時防堵對策 Contain the Problem" id="{61131279-163E-468E-BC70-5EA9788C1D2A}">
          <p14:sldIdLst>
            <p14:sldId id="264"/>
            <p14:sldId id="325"/>
            <p14:sldId id="265"/>
            <p14:sldId id="315"/>
          </p14:sldIdLst>
        </p14:section>
        <p14:section name="Discipline 4.定義及驗證真因 Identify the Root Cause" id="{EEA50740-6BFD-4052-94A7-B54A3F38FC38}">
          <p14:sldIdLst>
            <p14:sldId id="284"/>
            <p14:sldId id="286"/>
            <p14:sldId id="287"/>
            <p14:sldId id="331"/>
            <p14:sldId id="337"/>
            <p14:sldId id="328"/>
            <p14:sldId id="349"/>
            <p14:sldId id="329"/>
            <p14:sldId id="351"/>
            <p14:sldId id="333"/>
            <p14:sldId id="267"/>
          </p14:sldIdLst>
        </p14:section>
        <p14:section name="Discipline 5.擬定及驗證永久改善對策 Choose and verify permanent corrective action" id="{1B408094-20DA-4801-918B-8362F591C1E6}">
          <p14:sldIdLst>
            <p14:sldId id="268"/>
            <p14:sldId id="313"/>
          </p14:sldIdLst>
        </p14:section>
        <p14:section name="Discipline 6.實施認永久改善對策 Corrective Actions Implementation" id="{C19732F0-D677-44B8-9E43-04AFECE59617}">
          <p14:sldIdLst>
            <p14:sldId id="269"/>
            <p14:sldId id="298"/>
          </p14:sldIdLst>
        </p14:section>
        <p14:section name="Discipline 7.避免再發 Prevent Recurrence" id="{894029C3-602A-4064-BD55-0986CF9BB97D}">
          <p14:sldIdLst>
            <p14:sldId id="270"/>
            <p14:sldId id="271"/>
          </p14:sldIdLst>
        </p14:section>
        <p14:section name="Discipline 8.Congratulate the Team" id="{8AE983B4-97EB-4ACB-846E-959DC2C8DE7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5798"/>
    <a:srgbClr val="D00600"/>
    <a:srgbClr val="E61C0E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53" autoAdjust="0"/>
  </p:normalViewPr>
  <p:slideViewPr>
    <p:cSldViewPr>
      <p:cViewPr varScale="1">
        <p:scale>
          <a:sx n="110" d="100"/>
          <a:sy n="110" d="100"/>
        </p:scale>
        <p:origin x="16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71BFA950-4D9B-49C1-88BC-71CD835B4ACB}" type="datetimeFigureOut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5F7101-7CBB-40B9-BA2A-FB97EE2A556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6DC33ECA-595C-4C90-93AC-B3C8AC50E9E0}" type="datetimeFigureOut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BCC7E6-2CF8-46C3-9098-1DABD60058C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306FE17-8C9C-45FE-A0CC-E1BE1F6A9DB4}" type="datetime1">
              <a:rPr lang="zh-TW" altLang="en-US" smtClean="0"/>
              <a:pPr eaLnBrk="1" hangingPunct="1">
                <a:spcBef>
                  <a:spcPct val="0"/>
                </a:spcBef>
              </a:pPr>
              <a:t>2024/11/7</a:t>
            </a:fld>
            <a:endParaRPr lang="zh-TW" altLang="en-US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067A20B-1C54-437C-B8C8-900806B3B756}" type="slidenum">
              <a:rPr lang="zh-TW" altLang="en-US"/>
              <a:pPr eaLnBrk="1" hangingPunct="1">
                <a:spcBef>
                  <a:spcPct val="0"/>
                </a:spcBef>
              </a:pPr>
              <a:t>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98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57066" indent="-291179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64717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30604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96491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fld id="{550F2036-0CFA-4F19-9585-F765E4EEDFDB}" type="slidenum">
              <a:rPr kumimoji="0" lang="zh-TW" altLang="en-US" smtClean="0">
                <a:ea typeface="標楷體" pitchFamily="65" charset="-120"/>
              </a:rPr>
              <a:pPr eaLnBrk="1" hangingPunct="1"/>
              <a:t>2</a:t>
            </a:fld>
            <a:endParaRPr kumimoji="0" lang="zh-TW" altLang="en-US"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80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44016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CD423D62-69AB-4776-9D27-A481614011A3}" type="datetime1">
              <a:rPr lang="zh-TW" altLang="en-US"/>
              <a:pPr>
                <a:defRPr/>
              </a:pPr>
              <a:t>2024/11/7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fld id="{44A231B3-5E4C-4D1B-95D4-C7E3DBA05F1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7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680D2-7FDF-4135-982B-42BBCB547B39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0B2432-A20E-4E26-94E6-104434F1F0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D114F-B2F7-49D6-84C2-BEBF7C5739ED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8C9091-334D-4D2D-81D2-8FCC512423D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2379-5E08-4DCD-8D58-414798F05313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CFAE55-6585-4179-99E2-ACF000E4A3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8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EBB0F-14A2-4190-86A3-9636FD7A888E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A4EB1E-05BF-4B7D-BD16-48CA8D78EE4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9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4DBA1-126E-41A1-A531-A26B3F9257A6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10F7A5-06E4-4075-B789-BD63EF0624B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4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334A2-72CE-4E4F-B739-E3603839837D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A3647F-B5CB-4C0D-A009-B847CBF56D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EEA13-B897-446A-9E05-35D1B64E177F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009B8-C727-446A-BB14-3FF14188E0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96E2F-0C21-4EB4-8701-E162043E43C4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18E4B5-6C1A-476F-A70A-20E87078FF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DDC33-D226-41A8-9FBF-FDBA94F444A2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8670BE-EA1A-47B4-A2A3-6C3BD5E6F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7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B1025-4FFF-40E2-A260-42D6146E33EA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ED241-944F-41C1-99C2-C0CEA3245B4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67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A5CD9D-9D6D-4889-90A9-F8A0134ABA04}" type="datetime1">
              <a:rPr lang="zh-TW" altLang="en-US"/>
              <a:pPr>
                <a:defRPr/>
              </a:pPr>
              <a:t>2024/11/7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37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7F7F7F"/>
                </a:solidFill>
              </a:defRPr>
            </a:lvl1pPr>
          </a:lstStyle>
          <a:p>
            <a:fld id="{D419ED81-ED36-436D-8B37-3EE69C92156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0204" y="1080269"/>
            <a:ext cx="879433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1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2024/8/25~2024/8/31</a:t>
            </a:r>
          </a:p>
          <a:p>
            <a:pPr>
              <a:defRPr/>
            </a:pPr>
            <a:r>
              <a:rPr kumimoji="1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LP-N5</a:t>
            </a:r>
            <a:r>
              <a:rPr kumimoji="1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多批性 </a:t>
            </a:r>
            <a:r>
              <a:rPr kumimoji="1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o’clock defect</a:t>
            </a:r>
            <a:r>
              <a:rPr kumimoji="1" lang="zh-TW" alt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8D report</a:t>
            </a:r>
            <a:endParaRPr kumimoji="1" lang="zh-TW" altLang="zh-TW" sz="3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11163" y="188913"/>
            <a:ext cx="696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1. 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選定團隊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Form the Team</a:t>
            </a:r>
            <a:endParaRPr lang="zh-TW" altLang="en-US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411163" y="908720"/>
            <a:ext cx="42964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+mn-lt"/>
              </a:rPr>
              <a:t>團隊負責人</a:t>
            </a:r>
            <a:r>
              <a:rPr lang="en-US" altLang="zh-TW" sz="1600" dirty="0">
                <a:latin typeface="+mn-lt"/>
              </a:rPr>
              <a:t>Team Leader/Dept.: </a:t>
            </a:r>
            <a:r>
              <a:rPr lang="zh-TW" altLang="en-US" sz="1600" dirty="0">
                <a:latin typeface="+mn-lt"/>
              </a:rPr>
              <a:t>林韋志</a:t>
            </a:r>
            <a:r>
              <a:rPr lang="en-US" altLang="zh-TW" sz="1600" dirty="0">
                <a:latin typeface="+mn-lt"/>
              </a:rPr>
              <a:t>/S220</a:t>
            </a:r>
            <a:endParaRPr lang="en-US" altLang="zh-TW" b="1" dirty="0">
              <a:latin typeface="+mn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77214"/>
              </p:ext>
            </p:extLst>
          </p:nvPr>
        </p:nvGraphicFramePr>
        <p:xfrm>
          <a:off x="847725" y="1775965"/>
          <a:ext cx="7684715" cy="10340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797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413517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56157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6471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Department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S210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PE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S210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擴散製程課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S220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EQ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S220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擴散設備課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11163" y="1290208"/>
            <a:ext cx="2687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+mn-lt"/>
              </a:rPr>
              <a:t>成員</a:t>
            </a:r>
            <a:r>
              <a:rPr lang="en-US" altLang="zh-TW" sz="1600" dirty="0">
                <a:latin typeface="+mn-lt"/>
              </a:rPr>
              <a:t>Team Member/Dept.:</a:t>
            </a:r>
            <a:endParaRPr lang="en-US" altLang="zh-TW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013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138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71857840"/>
              </p:ext>
            </p:extLst>
          </p:nvPr>
        </p:nvGraphicFramePr>
        <p:xfrm>
          <a:off x="341313" y="1358769"/>
          <a:ext cx="8685212" cy="5191785"/>
        </p:xfrm>
        <a:graphic>
          <a:graphicData uri="http://schemas.openxmlformats.org/drawingml/2006/table">
            <a:tbl>
              <a:tblPr/>
              <a:tblGrid>
                <a:gridCol w="104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78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What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S730 Highlight C031JI-Y47443-24352630-9714_op (spec. &lt;5%)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No OOS, defect rate: 0.67~3.61%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A total of 23 pcs have a local map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OM check by under defect issue</a:t>
                      </a: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Where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LP-N5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When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2024/8/31</a:t>
                      </a: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3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Extent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On hold record check: 4217_op LP-N5 PTC issue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Suspect impact machine: 4217_op LP-N5 (8/31)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Issue entity LP-N5 (8/25~8/31) 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有多批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impact lot (Def% 1~3.5%)</a:t>
                      </a: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29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012666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1289C8-879F-4986-15F3-065DE63034A4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67057" b="7872"/>
          <a:stretch/>
        </p:blipFill>
        <p:spPr>
          <a:xfrm>
            <a:off x="5759872" y="1559811"/>
            <a:ext cx="2268512" cy="42721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0FEF4B5-A7E4-1247-7BDC-C7329C45D8D5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r="33856"/>
          <a:stretch/>
        </p:blipFill>
        <p:spPr>
          <a:xfrm>
            <a:off x="684128" y="1559811"/>
            <a:ext cx="4679960" cy="42721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內容版面配置區 1">
            <a:extLst>
              <a:ext uri="{FF2B5EF4-FFF2-40B4-BE49-F238E27FC236}">
                <a16:creationId xmlns:a16="http://schemas.microsoft.com/office/drawing/2014/main" id="{8297724F-A4BD-D176-3982-2F21BDFB59A6}"/>
              </a:ext>
            </a:extLst>
          </p:cNvPr>
          <p:cNvSpPr txBox="1">
            <a:spLocks/>
          </p:cNvSpPr>
          <p:nvPr/>
        </p:nvSpPr>
        <p:spPr>
          <a:xfrm>
            <a:off x="611560" y="5979035"/>
            <a:ext cx="5976664" cy="6042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Event 1: C031JI-Y47443-24352630-9714_op (spec &lt;5%)</a:t>
            </a:r>
          </a:p>
          <a:p>
            <a:pPr lvl="1">
              <a:buClr>
                <a:srgbClr val="0000FF"/>
              </a:buClr>
              <a:buSzPct val="105000"/>
              <a:buFont typeface="Arial" panose="020B0604020202020204" pitchFamily="34" charset="0"/>
              <a:buChar char="•"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pcs OOS Def%: 0.67~3.61%</a:t>
            </a:r>
          </a:p>
        </p:txBody>
      </p:sp>
    </p:spTree>
    <p:extLst>
      <p:ext uri="{BB962C8B-B14F-4D97-AF65-F5344CB8AC3E}">
        <p14:creationId xmlns:p14="http://schemas.microsoft.com/office/powerpoint/2010/main" val="352875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A9FE9A-C104-6C66-B4ED-49CBE9A785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F05C605-8C31-9513-F108-CD4F52411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3025147-2879-027C-51EE-7FF8D1B88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62" y="864820"/>
            <a:ext cx="3380202" cy="328575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DD2ED8C-13D3-26E7-2C48-69F8D0D27AE9}"/>
              </a:ext>
            </a:extLst>
          </p:cNvPr>
          <p:cNvSpPr txBox="1"/>
          <p:nvPr/>
        </p:nvSpPr>
        <p:spPr>
          <a:xfrm>
            <a:off x="767362" y="864820"/>
            <a:ext cx="36580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/>
              <a:t>#7</a:t>
            </a:r>
            <a:endParaRPr lang="zh-TW" altLang="en-US" sz="14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6C5919D-76CA-3D8D-FB4D-773DB13E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2" y="4206593"/>
            <a:ext cx="1922281" cy="128440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6B20386-4939-1E19-CFC1-07576492B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955" y="4206593"/>
            <a:ext cx="1389608" cy="1284401"/>
          </a:xfrm>
          <a:prstGeom prst="rect">
            <a:avLst/>
          </a:prstGeom>
        </p:spPr>
      </p:pic>
      <p:pic>
        <p:nvPicPr>
          <p:cNvPr id="8" name="圖片 7" descr="一張含有 文字, 螢幕擷取畫面, Rectangle, 平行 的圖片&#10;&#10;自動產生的描述">
            <a:extLst>
              <a:ext uri="{FF2B5EF4-FFF2-40B4-BE49-F238E27FC236}">
                <a16:creationId xmlns:a16="http://schemas.microsoft.com/office/drawing/2014/main" id="{08C9422A-D3E0-A4B5-D205-8AE8E4D6D76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0" t="2750" r="1240" b="2750"/>
          <a:stretch/>
        </p:blipFill>
        <p:spPr>
          <a:xfrm>
            <a:off x="4996438" y="868262"/>
            <a:ext cx="3759521" cy="2819641"/>
          </a:xfrm>
          <a:prstGeom prst="rect">
            <a:avLst/>
          </a:prstGeom>
        </p:spPr>
      </p:pic>
      <p:pic>
        <p:nvPicPr>
          <p:cNvPr id="9" name="圖片 8" descr="一張含有 螢幕擷取畫面, 文字, Rectangle, 圖表 的圖片&#10;&#10;自動產生的描述">
            <a:extLst>
              <a:ext uri="{FF2B5EF4-FFF2-40B4-BE49-F238E27FC236}">
                <a16:creationId xmlns:a16="http://schemas.microsoft.com/office/drawing/2014/main" id="{0BCF4FB4-54D3-D4A5-DFE0-1E6ECB7AC62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44" t="910" r="1958" b="4591"/>
          <a:stretch/>
        </p:blipFill>
        <p:spPr>
          <a:xfrm>
            <a:off x="4996438" y="3744820"/>
            <a:ext cx="3759521" cy="2819641"/>
          </a:xfrm>
          <a:prstGeom prst="rect">
            <a:avLst/>
          </a:prstGeom>
        </p:spPr>
      </p:pic>
      <p:sp>
        <p:nvSpPr>
          <p:cNvPr id="10" name="內容版面配置區 5">
            <a:extLst>
              <a:ext uri="{FF2B5EF4-FFF2-40B4-BE49-F238E27FC236}">
                <a16:creationId xmlns:a16="http://schemas.microsoft.com/office/drawing/2014/main" id="{7B0D10A2-D92C-3363-8A05-E3A485841997}"/>
              </a:ext>
            </a:extLst>
          </p:cNvPr>
          <p:cNvSpPr txBox="1">
            <a:spLocks/>
          </p:cNvSpPr>
          <p:nvPr/>
        </p:nvSpPr>
        <p:spPr>
          <a:xfrm>
            <a:off x="169603" y="5629034"/>
            <a:ext cx="5040080" cy="936104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342900" indent="-342900" eaLnBrk="0" hangingPunct="0">
              <a:spcBef>
                <a:spcPct val="20000"/>
              </a:spcBef>
              <a:buClr>
                <a:srgbClr val="D00600"/>
              </a:buClr>
              <a:buFont typeface="Wingdings" panose="05000000000000000000" pitchFamily="2" charset="2"/>
              <a:buChar char="§"/>
              <a:defRPr kumimoji="0" sz="1600" b="1">
                <a:latin typeface="+mn-lt"/>
                <a:ea typeface="+mn-ea"/>
                <a:cs typeface="Arial" pitchFamily="34" charset="0"/>
              </a:defRPr>
            </a:lvl1pPr>
            <a:lvl2pPr marL="742950" lvl="1" indent="-285750" eaLnBrk="0" hangingPunct="0">
              <a:spcBef>
                <a:spcPct val="20000"/>
              </a:spcBef>
              <a:buClr>
                <a:srgbClr val="0000FF"/>
              </a:buClr>
              <a:buSzPct val="105000"/>
              <a:buFont typeface="Arial" panose="020B0604020202020204" pitchFamily="34" charset="0"/>
              <a:buChar char="•"/>
              <a:defRPr kumimoji="0" sz="1400">
                <a:latin typeface="+mn-lt"/>
                <a:ea typeface="+mn-ea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latin typeface="+mn-lt"/>
                <a:ea typeface="+mn-ea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pPr>
              <a:buClr>
                <a:srgbClr val="FF0000"/>
              </a:buClr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Event 1: C031JI-Y47443-24352630-9714_op</a:t>
            </a:r>
          </a:p>
          <a:p>
            <a:pPr lvl="1"/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AOI defect map check: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by local (2 o’clock)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Defect size: &gt;10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μm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Leica Pictures OM Check by under defect Issue</a:t>
            </a:r>
          </a:p>
        </p:txBody>
      </p:sp>
    </p:spTree>
    <p:extLst>
      <p:ext uri="{BB962C8B-B14F-4D97-AF65-F5344CB8AC3E}">
        <p14:creationId xmlns:p14="http://schemas.microsoft.com/office/powerpoint/2010/main" val="402883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B9789D7-A86D-600F-EF49-428180859F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B442B7-7E5E-4A0A-26E6-6253324F0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F3A534-9D3F-18E4-C2F1-62F25177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3" y="836712"/>
            <a:ext cx="5032800" cy="50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510DD34-A487-F267-BB8B-6458F611C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455" y="836712"/>
            <a:ext cx="2671807" cy="50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3490349D-5BB2-5691-8605-4D5684EDB80C}"/>
              </a:ext>
            </a:extLst>
          </p:cNvPr>
          <p:cNvSpPr txBox="1">
            <a:spLocks/>
          </p:cNvSpPr>
          <p:nvPr/>
        </p:nvSpPr>
        <p:spPr>
          <a:xfrm>
            <a:off x="395536" y="6021288"/>
            <a:ext cx="5277543" cy="54103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342900" indent="-342900" eaLnBrk="0" hangingPunct="0">
              <a:spcBef>
                <a:spcPct val="20000"/>
              </a:spcBef>
              <a:buClr>
                <a:srgbClr val="D00600"/>
              </a:buClr>
              <a:buFont typeface="Wingdings" panose="05000000000000000000" pitchFamily="2" charset="2"/>
              <a:buChar char="§"/>
              <a:defRPr kumimoji="0" sz="1600" b="1">
                <a:latin typeface="+mn-lt"/>
                <a:ea typeface="+mn-ea"/>
                <a:cs typeface="Arial" pitchFamily="34" charset="0"/>
              </a:defRPr>
            </a:lvl1pPr>
            <a:lvl2pPr marL="742950" lvl="1" indent="-285750" eaLnBrk="0" hangingPunct="0">
              <a:spcBef>
                <a:spcPct val="20000"/>
              </a:spcBef>
              <a:buClr>
                <a:srgbClr val="0000FF"/>
              </a:buClr>
              <a:buSzPct val="105000"/>
              <a:buFont typeface="Arial" panose="020B0604020202020204" pitchFamily="34" charset="0"/>
              <a:buChar char="•"/>
              <a:defRPr kumimoji="0" sz="1400">
                <a:latin typeface="+mn-lt"/>
                <a:ea typeface="+mn-ea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latin typeface="+mn-lt"/>
                <a:ea typeface="+mn-ea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Event 2: C031JI-Y47443-24352490-9714_op (spec &lt;5%)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pcs OOS Def%: 1.25~3.36%</a:t>
            </a:r>
          </a:p>
        </p:txBody>
      </p:sp>
    </p:spTree>
    <p:extLst>
      <p:ext uri="{BB962C8B-B14F-4D97-AF65-F5344CB8AC3E}">
        <p14:creationId xmlns:p14="http://schemas.microsoft.com/office/powerpoint/2010/main" val="84172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8205A3E-A60D-BEE4-6C3F-973A7CEB3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E061329-C13D-0E60-1D0F-A695B140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8" y="840064"/>
            <a:ext cx="3327960" cy="323538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5F81714-0604-6345-8983-EA69A609179A}"/>
              </a:ext>
            </a:extLst>
          </p:cNvPr>
          <p:cNvSpPr txBox="1"/>
          <p:nvPr/>
        </p:nvSpPr>
        <p:spPr>
          <a:xfrm>
            <a:off x="595968" y="840064"/>
            <a:ext cx="36580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/>
              <a:t>#7</a:t>
            </a:r>
            <a:endParaRPr lang="zh-TW" altLang="en-US" sz="14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00EA65-9253-B433-5EBE-4C4062E4A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0" y="4163415"/>
            <a:ext cx="1663595" cy="134309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5F4FD90-2042-5337-AD04-B390506A1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4163415"/>
            <a:ext cx="1663594" cy="1343090"/>
          </a:xfrm>
          <a:prstGeom prst="rect">
            <a:avLst/>
          </a:prstGeom>
        </p:spPr>
      </p:pic>
      <p:pic>
        <p:nvPicPr>
          <p:cNvPr id="7" name="圖片 6" descr="一張含有 螢幕擷取畫面, 文字, 陳列, 電路 的圖片&#10;&#10;自動產生的描述">
            <a:extLst>
              <a:ext uri="{FF2B5EF4-FFF2-40B4-BE49-F238E27FC236}">
                <a16:creationId xmlns:a16="http://schemas.microsoft.com/office/drawing/2014/main" id="{D6E7B626-0F65-C1B5-25A4-0A52EB67E7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" t="2750" r="1570" b="2750"/>
          <a:stretch/>
        </p:blipFill>
        <p:spPr>
          <a:xfrm>
            <a:off x="4821913" y="840064"/>
            <a:ext cx="3658295" cy="2743721"/>
          </a:xfrm>
          <a:prstGeom prst="rect">
            <a:avLst/>
          </a:prstGeom>
        </p:spPr>
      </p:pic>
      <p:pic>
        <p:nvPicPr>
          <p:cNvPr id="8" name="圖片 7" descr="一張含有 文字, 螢幕擷取畫面, 陳列, Rectangle 的圖片&#10;&#10;自動產生的描述">
            <a:extLst>
              <a:ext uri="{FF2B5EF4-FFF2-40B4-BE49-F238E27FC236}">
                <a16:creationId xmlns:a16="http://schemas.microsoft.com/office/drawing/2014/main" id="{4738B064-5E1E-4001-111E-3A499E523CA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2" t="2749" r="1570" b="2751"/>
          <a:stretch/>
        </p:blipFill>
        <p:spPr>
          <a:xfrm>
            <a:off x="4821913" y="3717032"/>
            <a:ext cx="3658295" cy="2743721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3EACE4F2-2D85-13C8-9541-0E60CEB9E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10" name="內容版面配置區 5">
            <a:extLst>
              <a:ext uri="{FF2B5EF4-FFF2-40B4-BE49-F238E27FC236}">
                <a16:creationId xmlns:a16="http://schemas.microsoft.com/office/drawing/2014/main" id="{CBAA7842-FA87-9CD3-CD5D-72FEF2DDCFE4}"/>
              </a:ext>
            </a:extLst>
          </p:cNvPr>
          <p:cNvSpPr txBox="1">
            <a:spLocks/>
          </p:cNvSpPr>
          <p:nvPr/>
        </p:nvSpPr>
        <p:spPr>
          <a:xfrm>
            <a:off x="107504" y="5603184"/>
            <a:ext cx="4950555" cy="1056867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342900" indent="-342900" eaLnBrk="0" hangingPunct="0">
              <a:spcBef>
                <a:spcPct val="20000"/>
              </a:spcBef>
              <a:buClr>
                <a:srgbClr val="D00600"/>
              </a:buClr>
              <a:buFont typeface="Wingdings" panose="05000000000000000000" pitchFamily="2" charset="2"/>
              <a:buChar char="§"/>
              <a:defRPr kumimoji="0" sz="12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defRPr>
            </a:lvl1pPr>
            <a:lvl2pPr marL="742950" lvl="1" indent="-285750" eaLnBrk="0" hangingPunct="0">
              <a:spcBef>
                <a:spcPct val="20000"/>
              </a:spcBef>
              <a:buClr>
                <a:srgbClr val="0000FF"/>
              </a:buClr>
              <a:buSzPct val="105000"/>
              <a:buFont typeface="Arial" panose="020B0604020202020204" pitchFamily="34" charset="0"/>
              <a:buChar char="•"/>
              <a:defRPr kumimoji="0" sz="120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latin typeface="+mn-lt"/>
                <a:ea typeface="+mn-ea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altLang="zh-TW" sz="1400" dirty="0"/>
              <a:t>Event 2: C031JI-Y47443-24352490-9714_op </a:t>
            </a:r>
          </a:p>
          <a:p>
            <a:pPr lvl="1"/>
            <a:r>
              <a:rPr lang="en-US" altLang="zh-TW" sz="1400" dirty="0"/>
              <a:t>AOI defect map check: by local (2 o’clock)</a:t>
            </a:r>
          </a:p>
          <a:p>
            <a:pPr lvl="1"/>
            <a:r>
              <a:rPr lang="en-US" altLang="zh-TW" sz="1400" dirty="0"/>
              <a:t>Defect size: &gt;10 </a:t>
            </a:r>
            <a:r>
              <a:rPr lang="en-US" altLang="zh-TW" sz="1400" dirty="0" err="1"/>
              <a:t>μm</a:t>
            </a:r>
            <a:endParaRPr lang="en-US" altLang="zh-TW" sz="1400" dirty="0"/>
          </a:p>
          <a:p>
            <a:pPr lvl="1"/>
            <a:r>
              <a:rPr lang="en-US" altLang="zh-TW" sz="1400" dirty="0"/>
              <a:t>Leica Pictures OM Check by under defect Issue</a:t>
            </a:r>
          </a:p>
        </p:txBody>
      </p:sp>
    </p:spTree>
    <p:extLst>
      <p:ext uri="{BB962C8B-B14F-4D97-AF65-F5344CB8AC3E}">
        <p14:creationId xmlns:p14="http://schemas.microsoft.com/office/powerpoint/2010/main" val="3087996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E5F8E2-303D-5204-ED8C-564228DE5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6B44F7-9DB4-7A4A-FDA6-B6D013046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6EB8ECC-2C42-23CB-FA75-E4B9914729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981"/>
          <a:stretch/>
        </p:blipFill>
        <p:spPr>
          <a:xfrm>
            <a:off x="539551" y="901126"/>
            <a:ext cx="4976699" cy="49761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7DBB2C8-DAA1-C4F2-1FB9-545A45AC4F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07" b="7310"/>
          <a:stretch/>
        </p:blipFill>
        <p:spPr>
          <a:xfrm>
            <a:off x="5724128" y="901126"/>
            <a:ext cx="2651216" cy="49761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F7E55BB8-B888-94A8-A11B-2D797769F0F1}"/>
              </a:ext>
            </a:extLst>
          </p:cNvPr>
          <p:cNvSpPr txBox="1">
            <a:spLocks/>
          </p:cNvSpPr>
          <p:nvPr/>
        </p:nvSpPr>
        <p:spPr>
          <a:xfrm>
            <a:off x="471988" y="5960841"/>
            <a:ext cx="5468163" cy="52435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342900" indent="-342900" eaLnBrk="0" hangingPunct="0">
              <a:spcBef>
                <a:spcPct val="20000"/>
              </a:spcBef>
              <a:buClr>
                <a:srgbClr val="D00600"/>
              </a:buClr>
              <a:buFont typeface="Wingdings" panose="05000000000000000000" pitchFamily="2" charset="2"/>
              <a:buChar char="§"/>
              <a:defRPr kumimoji="0" sz="12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defRPr>
            </a:lvl1pPr>
            <a:lvl2pPr marL="742950" lvl="1" indent="-285750" eaLnBrk="0" hangingPunct="0">
              <a:spcBef>
                <a:spcPct val="20000"/>
              </a:spcBef>
              <a:buClr>
                <a:srgbClr val="0000FF"/>
              </a:buClr>
              <a:buSzPct val="105000"/>
              <a:buFont typeface="Arial" panose="020B0604020202020204" pitchFamily="34" charset="0"/>
              <a:buChar char="•"/>
              <a:defRPr kumimoji="0" sz="120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latin typeface="+mn-lt"/>
                <a:ea typeface="+mn-ea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altLang="zh-TW" sz="1400" dirty="0"/>
              <a:t>Event 3: C031JI-Y47443-24352510-9714_op (spec &lt;5%)</a:t>
            </a:r>
          </a:p>
          <a:p>
            <a:pPr lvl="1"/>
            <a:r>
              <a:rPr lang="en-US" altLang="zh-TW" sz="1400" dirty="0"/>
              <a:t>single pcs OOS Def%: 0.44~5.18%</a:t>
            </a:r>
          </a:p>
        </p:txBody>
      </p:sp>
    </p:spTree>
    <p:extLst>
      <p:ext uri="{BB962C8B-B14F-4D97-AF65-F5344CB8AC3E}">
        <p14:creationId xmlns:p14="http://schemas.microsoft.com/office/powerpoint/2010/main" val="2794440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BCD57C-A7C1-8EBA-7E61-3A939A6493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1D3D1C-C27D-4165-0774-5B556721B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C7005C-0F45-4E68-6F51-FC6D948E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32" y="826218"/>
            <a:ext cx="3322552" cy="321994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FC3879B-B689-E3FE-3CC2-560C6CF9741A}"/>
              </a:ext>
            </a:extLst>
          </p:cNvPr>
          <p:cNvSpPr txBox="1"/>
          <p:nvPr/>
        </p:nvSpPr>
        <p:spPr>
          <a:xfrm>
            <a:off x="624032" y="841985"/>
            <a:ext cx="36580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/>
              <a:t>#5</a:t>
            </a:r>
            <a:endParaRPr lang="zh-TW" altLang="en-US" sz="14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DC09AF3-CA0E-1DD2-878C-B22A9E25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32" y="4149080"/>
            <a:ext cx="1781118" cy="12241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F19362D-D919-6AA9-C9BD-9398F410B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634" y="4142078"/>
            <a:ext cx="1400950" cy="1231138"/>
          </a:xfrm>
          <a:prstGeom prst="rect">
            <a:avLst/>
          </a:prstGeom>
        </p:spPr>
      </p:pic>
      <p:pic>
        <p:nvPicPr>
          <p:cNvPr id="8" name="圖片 7" descr="一張含有 文字, 螢幕擷取畫面, 平行 的圖片&#10;&#10;自動產生的描述">
            <a:extLst>
              <a:ext uri="{FF2B5EF4-FFF2-40B4-BE49-F238E27FC236}">
                <a16:creationId xmlns:a16="http://schemas.microsoft.com/office/drawing/2014/main" id="{4A20227F-E1E2-F8C4-FD25-32D4EEE9E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841985"/>
            <a:ext cx="3689144" cy="2766858"/>
          </a:xfrm>
          <a:prstGeom prst="rect">
            <a:avLst/>
          </a:prstGeom>
        </p:spPr>
      </p:pic>
      <p:pic>
        <p:nvPicPr>
          <p:cNvPr id="9" name="圖片 8" descr="一張含有 螢幕擷取畫面, 文字, Rectangle, 平行 的圖片&#10;&#10;自動產生的描述">
            <a:extLst>
              <a:ext uri="{FF2B5EF4-FFF2-40B4-BE49-F238E27FC236}">
                <a16:creationId xmlns:a16="http://schemas.microsoft.com/office/drawing/2014/main" id="{4D4F637D-4981-95EC-BEED-6FBC4BAC8E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717032"/>
            <a:ext cx="3689144" cy="2766858"/>
          </a:xfrm>
          <a:prstGeom prst="rect">
            <a:avLst/>
          </a:prstGeom>
        </p:spPr>
      </p:pic>
      <p:sp>
        <p:nvSpPr>
          <p:cNvPr id="10" name="內容版面配置區 5">
            <a:extLst>
              <a:ext uri="{FF2B5EF4-FFF2-40B4-BE49-F238E27FC236}">
                <a16:creationId xmlns:a16="http://schemas.microsoft.com/office/drawing/2014/main" id="{AFE1BA1A-DAD9-61BC-615A-E60C2DD6847E}"/>
              </a:ext>
            </a:extLst>
          </p:cNvPr>
          <p:cNvSpPr txBox="1">
            <a:spLocks/>
          </p:cNvSpPr>
          <p:nvPr/>
        </p:nvSpPr>
        <p:spPr>
          <a:xfrm>
            <a:off x="35496" y="5517232"/>
            <a:ext cx="4858890" cy="1122522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342900" indent="-342900" eaLnBrk="0" hangingPunct="0">
              <a:spcBef>
                <a:spcPct val="20000"/>
              </a:spcBef>
              <a:buClr>
                <a:srgbClr val="D00600"/>
              </a:buClr>
              <a:buFont typeface="Wingdings" panose="05000000000000000000" pitchFamily="2" charset="2"/>
              <a:buChar char="§"/>
              <a:defRPr kumimoji="0" sz="12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defRPr>
            </a:lvl1pPr>
            <a:lvl2pPr marL="742950" lvl="1" indent="-285750" eaLnBrk="0" hangingPunct="0">
              <a:spcBef>
                <a:spcPct val="20000"/>
              </a:spcBef>
              <a:buClr>
                <a:srgbClr val="0000FF"/>
              </a:buClr>
              <a:buSzPct val="105000"/>
              <a:buFont typeface="Arial" panose="020B0604020202020204" pitchFamily="34" charset="0"/>
              <a:buChar char="•"/>
              <a:defRPr kumimoji="0" sz="1200"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latin typeface="+mn-lt"/>
                <a:ea typeface="+mn-ea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latin typeface="+mn-lt"/>
                <a:ea typeface="+mn-ea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latin typeface="+mn-lt"/>
                <a:ea typeface="+mn-ea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en-US" altLang="zh-TW" sz="1400" dirty="0"/>
              <a:t>Event 3: C031JI-Y47443-24352510-9714_op </a:t>
            </a:r>
          </a:p>
          <a:p>
            <a:pPr lvl="1"/>
            <a:r>
              <a:rPr lang="en-US" altLang="zh-TW" sz="1400" dirty="0"/>
              <a:t>AOI defect map check: by local (2 o’clock)</a:t>
            </a:r>
          </a:p>
          <a:p>
            <a:pPr lvl="1"/>
            <a:r>
              <a:rPr lang="en-US" altLang="zh-TW" sz="1400" dirty="0"/>
              <a:t>Defect size: &gt;10 </a:t>
            </a:r>
            <a:r>
              <a:rPr lang="en-US" altLang="zh-TW" sz="1400" dirty="0" err="1"/>
              <a:t>μm</a:t>
            </a:r>
            <a:endParaRPr lang="en-US" altLang="zh-TW" sz="1400" dirty="0"/>
          </a:p>
          <a:p>
            <a:pPr lvl="1"/>
            <a:r>
              <a:rPr lang="en-US" altLang="zh-TW" sz="1400" dirty="0"/>
              <a:t>Leica Pictures OM Check by under defect Issue</a:t>
            </a:r>
          </a:p>
        </p:txBody>
      </p:sp>
    </p:spTree>
    <p:extLst>
      <p:ext uri="{BB962C8B-B14F-4D97-AF65-F5344CB8AC3E}">
        <p14:creationId xmlns:p14="http://schemas.microsoft.com/office/powerpoint/2010/main" val="37987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83F687-6B2D-F16F-FA7C-3302369579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838C0A3F-A68D-A8BA-BB0D-0733C3C0DE0F}"/>
              </a:ext>
            </a:extLst>
          </p:cNvPr>
          <p:cNvSpPr txBox="1">
            <a:spLocks/>
          </p:cNvSpPr>
          <p:nvPr/>
        </p:nvSpPr>
        <p:spPr>
          <a:xfrm>
            <a:off x="284115" y="2215909"/>
            <a:ext cx="8640960" cy="4773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kumimoji="0"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 hold record check: 4217_op LP-N5 PTC issue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kumimoji="0"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Under layer AOI check: NA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kumimoji="0" lang="en-US" sz="14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7C473-9D4B-41A0-A4C4-72484FA01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9D811079-3F46-514E-8577-AF7D552E0E85}"/>
              </a:ext>
            </a:extLst>
          </p:cNvPr>
          <p:cNvSpPr txBox="1">
            <a:spLocks/>
          </p:cNvSpPr>
          <p:nvPr/>
        </p:nvSpPr>
        <p:spPr>
          <a:xfrm>
            <a:off x="341525" y="6168219"/>
            <a:ext cx="8640960" cy="4320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kumimoji="0"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Suspect impact machine: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4217_op LP-N5 (8/31)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kumimoji="0" lang="en-US" sz="1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8DEE157-06A7-807C-AA79-3F72B0211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5" y="815521"/>
            <a:ext cx="8657070" cy="138391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78D6377-8FDA-FAD2-4445-316B7A2A6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73" y="2906529"/>
            <a:ext cx="3699395" cy="327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8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C13BB6-9BEA-67EB-A67F-0F983E9161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A1374F8-2CBD-5EEB-5630-A0154BC52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185C2BC-EDC1-F00D-DFA7-D10D52BC9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19"/>
            <a:ext cx="8036766" cy="581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41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54CBFF-C0FE-44FC-4E6A-8E91BD472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DD6A041-0B24-CF5D-25ED-CE13D4253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0" y="372809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F5338BE-50E9-266C-F6D5-3E83C2F1A0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840"/>
          <a:stretch/>
        </p:blipFill>
        <p:spPr>
          <a:xfrm>
            <a:off x="179512" y="928247"/>
            <a:ext cx="8724014" cy="557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2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012666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Is/Is Not Analysis table 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釐清問題</a:t>
            </a:r>
            <a:r>
              <a:rPr lang="en-US" altLang="zh-TW" sz="2000" dirty="0"/>
              <a:t>):</a:t>
            </a:r>
            <a:endParaRPr lang="zh-TW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6838C9-599C-4541-07D5-A44566FFF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622719"/>
              </p:ext>
            </p:extLst>
          </p:nvPr>
        </p:nvGraphicFramePr>
        <p:xfrm>
          <a:off x="395536" y="1560884"/>
          <a:ext cx="8229600" cy="2879736"/>
        </p:xfrm>
        <a:graphic>
          <a:graphicData uri="http://schemas.openxmlformats.org/drawingml/2006/table">
            <a:tbl>
              <a:tblPr/>
              <a:tblGrid>
                <a:gridCol w="1071716">
                  <a:extLst>
                    <a:ext uri="{9D8B030D-6E8A-4147-A177-3AD203B41FA5}">
                      <a16:colId xmlns:a16="http://schemas.microsoft.com/office/drawing/2014/main" val="956814940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507271339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773316266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420031959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820988365"/>
                    </a:ext>
                  </a:extLst>
                </a:gridCol>
              </a:tblGrid>
              <a:tr h="4783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Not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Difference/Conclusion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66903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bject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Particle OOC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Normal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Particle OOC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557674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o’clock 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Normal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o’clock 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714792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FAB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D-Tunnel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Other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place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FAB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D-Tunnel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881455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Other machine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38079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time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2024/8/25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 before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First time, Not Before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56506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Reoccurred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4647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11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lots / 275 pcs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Other lot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 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lots / 275 pcs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824573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Trend</a:t>
                      </a:r>
                    </a:p>
                  </a:txBody>
                  <a:tcPr marL="7504" marR="7504" marT="7504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7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11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78326"/>
              </p:ext>
            </p:extLst>
          </p:nvPr>
        </p:nvGraphicFramePr>
        <p:xfrm>
          <a:off x="611560" y="2165080"/>
          <a:ext cx="8075238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21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l-PL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24352490</a:t>
                      </a: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AOI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scan</a:t>
                      </a: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+mj-lt"/>
                          <a:ea typeface="微軟正黑體" panose="020B0604030504040204" pitchFamily="34" charset="-120"/>
                        </a:rPr>
                        <a:t>S210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+mj-lt"/>
                          <a:ea typeface="微軟正黑體" panose="020B0604030504040204" pitchFamily="34" charset="-120"/>
                        </a:rPr>
                        <a:t>09/21</a:t>
                      </a:r>
                      <a:endParaRPr lang="zh-TW" altLang="en-US" sz="1200" dirty="0"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+mj-lt"/>
                          <a:ea typeface="微軟正黑體" panose="020B0604030504040204" pitchFamily="34" charset="-120"/>
                        </a:rPr>
                        <a:t>09/21</a:t>
                      </a:r>
                      <a:endParaRPr lang="zh-TW" altLang="en-US" sz="1200" dirty="0"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Def%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：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#05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5.18% scrap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others 0.44~3.09%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pass</a:t>
                      </a:r>
                    </a:p>
                  </a:txBody>
                  <a:tcPr marL="36002" marR="36002" marT="45652" marB="45652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67544" y="1622993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3.1 </a:t>
            </a:r>
            <a:r>
              <a:rPr lang="zh-TW" altLang="en-US" sz="1600" b="1" dirty="0">
                <a:solidFill>
                  <a:srgbClr val="0000FF"/>
                </a:solidFill>
              </a:rPr>
              <a:t>異常產品 </a:t>
            </a:r>
            <a:r>
              <a:rPr lang="en-US" altLang="zh-TW" sz="1600" b="1" dirty="0">
                <a:solidFill>
                  <a:srgbClr val="0000FF"/>
                </a:solidFill>
              </a:rPr>
              <a:t>(Defect Lots)</a:t>
            </a:r>
          </a:p>
        </p:txBody>
      </p:sp>
    </p:spTree>
    <p:extLst>
      <p:ext uri="{BB962C8B-B14F-4D97-AF65-F5344CB8AC3E}">
        <p14:creationId xmlns:p14="http://schemas.microsoft.com/office/powerpoint/2010/main" val="145169597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2DF72F-1EDC-911C-8516-BD095447DF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B2432-A20E-4E26-94E6-104434F1F062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218AF49-75D6-DA8D-0B97-A4320F0A8B57}"/>
              </a:ext>
            </a:extLst>
          </p:cNvPr>
          <p:cNvSpPr/>
          <p:nvPr/>
        </p:nvSpPr>
        <p:spPr>
          <a:xfrm>
            <a:off x="420703" y="136733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3.2 </a:t>
            </a:r>
            <a:r>
              <a:rPr lang="zh-TW" altLang="en-US" sz="1600" b="1" dirty="0">
                <a:solidFill>
                  <a:srgbClr val="0000FF"/>
                </a:solidFill>
              </a:rPr>
              <a:t>波及產品 </a:t>
            </a:r>
            <a:r>
              <a:rPr lang="en-US" altLang="zh-TW" sz="1600" b="1" dirty="0">
                <a:solidFill>
                  <a:srgbClr val="0000FF"/>
                </a:solidFill>
              </a:rPr>
              <a:t>(Impact Lots)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937CD85-6403-84B7-2A35-6EDA89DFB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93802FC-6144-FAB4-A2FB-18FB86386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26159"/>
              </p:ext>
            </p:extLst>
          </p:nvPr>
        </p:nvGraphicFramePr>
        <p:xfrm>
          <a:off x="559548" y="1811118"/>
          <a:ext cx="8075238" cy="261504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21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620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24342030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24342070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24340680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24340730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24350020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24341380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24331380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24331520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24350120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24352540</a:t>
                      </a: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j-lt"/>
                          <a:ea typeface="微軟正黑體" panose="020B0604030504040204" pitchFamily="34" charset="-120"/>
                          <a:cs typeface="+mn-cs"/>
                        </a:rPr>
                        <a:t>AOI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j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j-lt"/>
                          <a:ea typeface="微軟正黑體" panose="020B0604030504040204" pitchFamily="34" charset="-120"/>
                          <a:cs typeface="+mn-cs"/>
                        </a:rPr>
                        <a:t>scan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+mj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+mj-lt"/>
                          <a:ea typeface="微軟正黑體" panose="020B0604030504040204" pitchFamily="34" charset="-120"/>
                        </a:rPr>
                        <a:t>S210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+mj-lt"/>
                          <a:ea typeface="微軟正黑體" panose="020B0604030504040204" pitchFamily="34" charset="-120"/>
                        </a:rPr>
                        <a:t>09/21</a:t>
                      </a:r>
                      <a:endParaRPr lang="zh-TW" altLang="en-US" sz="1200" dirty="0"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09/21</a:t>
                      </a:r>
                      <a:endParaRPr lang="zh-TW" altLang="en-US" sz="1200" dirty="0"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6002" marR="36002" marT="45652" marB="45652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Def%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all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&lt;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5%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pass</a:t>
                      </a:r>
                    </a:p>
                  </a:txBody>
                  <a:tcPr marL="36002" marR="36002" marT="45652" marB="45652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6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0521" y="558382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10" y="2996952"/>
            <a:ext cx="83452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3.4</a:t>
            </a:r>
            <a:r>
              <a:rPr lang="zh-TW" altLang="en-US" sz="1600" b="1" dirty="0">
                <a:solidFill>
                  <a:srgbClr val="0000FF"/>
                </a:solidFill>
              </a:rPr>
              <a:t> 波及製程 </a:t>
            </a:r>
            <a:r>
              <a:rPr lang="en-US" altLang="zh-TW" sz="1600" b="1" dirty="0">
                <a:solidFill>
                  <a:srgbClr val="0000FF"/>
                </a:solidFill>
              </a:rPr>
              <a:t>(Impact Route) : 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5556" y="4556506"/>
            <a:ext cx="81009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3.5 </a:t>
            </a:r>
            <a:r>
              <a:rPr lang="zh-TW" altLang="en-US" sz="1600" b="1" dirty="0">
                <a:solidFill>
                  <a:srgbClr val="0000FF"/>
                </a:solidFill>
              </a:rPr>
              <a:t>產品召回選項，是否需進行客戶端波及產品的召回</a:t>
            </a:r>
            <a:r>
              <a:rPr lang="en-US" altLang="zh-TW" sz="1600" b="1" dirty="0">
                <a:solidFill>
                  <a:srgbClr val="0000FF"/>
                </a:solidFill>
              </a:rPr>
              <a:t>?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TW" altLang="en-US" sz="1600" b="1" dirty="0"/>
              <a:t>否</a:t>
            </a:r>
            <a:r>
              <a:rPr lang="en-US" altLang="zh-TW" sz="1600" b="1" dirty="0"/>
              <a:t>(No)</a:t>
            </a:r>
            <a:r>
              <a:rPr lang="zh-TW" altLang="en-US" sz="1600" b="1" dirty="0"/>
              <a:t> </a:t>
            </a:r>
            <a:endParaRPr lang="en-US" altLang="zh-TW" sz="16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8076" y="4925838"/>
          <a:ext cx="8068733" cy="7046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12965">
                  <a:extLst>
                    <a:ext uri="{9D8B030D-6E8A-4147-A177-3AD203B41FA5}">
                      <a16:colId xmlns:a16="http://schemas.microsoft.com/office/drawing/2014/main" val="86909870"/>
                    </a:ext>
                  </a:extLst>
                </a:gridCol>
                <a:gridCol w="18129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998365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44438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3338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Customer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Product No.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Lot</a:t>
                      </a:r>
                      <a:r>
                        <a:rPr lang="en-US" altLang="zh-TW" sz="1200" b="0" kern="100" baseline="0" dirty="0">
                          <a:effectLst/>
                        </a:rPr>
                        <a:t> number / Wafer number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Approx.</a:t>
                      </a:r>
                      <a:r>
                        <a:rPr lang="en-US" altLang="zh-TW" sz="1200" b="0" kern="100" baseline="0" dirty="0">
                          <a:effectLst/>
                        </a:rPr>
                        <a:t> Quantity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7210" y="1460111"/>
            <a:ext cx="67610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3.3</a:t>
            </a:r>
            <a:r>
              <a:rPr lang="zh-TW" altLang="en-US" sz="1600" b="1" dirty="0">
                <a:solidFill>
                  <a:srgbClr val="0000FF"/>
                </a:solidFill>
              </a:rPr>
              <a:t> 波及設備 </a:t>
            </a:r>
            <a:r>
              <a:rPr lang="en-US" altLang="zh-TW" sz="1600" b="1" dirty="0">
                <a:solidFill>
                  <a:srgbClr val="0000FF"/>
                </a:solidFill>
              </a:rPr>
              <a:t>(Impact Machine)</a:t>
            </a:r>
            <a:r>
              <a:rPr lang="zh-TW" altLang="en-US" sz="1600" b="1" dirty="0">
                <a:solidFill>
                  <a:srgbClr val="0000FF"/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497061"/>
              </p:ext>
            </p:extLst>
          </p:nvPr>
        </p:nvGraphicFramePr>
        <p:xfrm>
          <a:off x="701570" y="191910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/>
                        <a:t>LP-N5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/>
                        <a:t>停機檢查機台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S220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EQ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2024/8/31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2024/8/31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Check </a:t>
                      </a:r>
                      <a:r>
                        <a:rPr lang="zh-TW" altLang="en-US" sz="1200" dirty="0"/>
                        <a:t>磁性流體抖動異常，</a:t>
                      </a:r>
                      <a:endParaRPr lang="en-US" altLang="zh-TW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更換磁性流體 </a:t>
                      </a:r>
                      <a:r>
                        <a:rPr lang="en-US" altLang="zh-TW" sz="1200" dirty="0"/>
                        <a:t>ok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4719" y="349728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/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200991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1A87D0-B488-F4F7-5E65-476A9634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7B0EAB2-D9EA-CDDF-5BAD-ECC642E7CAF0}"/>
              </a:ext>
            </a:extLst>
          </p:cNvPr>
          <p:cNvSpPr txBox="1"/>
          <p:nvPr/>
        </p:nvSpPr>
        <p:spPr>
          <a:xfrm>
            <a:off x="323528" y="860265"/>
            <a:ext cx="8937485" cy="1524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2024/8/31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N01 C4 particle=194 OOC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map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集中於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點鐘方向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加量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C1~C6 particle=3/51/44/194/12/1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only C4 OOC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加量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C1 slot2/slot13/slot25 particle=129/164/116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OOC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點鐘方向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產品洽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 check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，停機檢查機台。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12E97-BF30-9597-FE1D-72EC12E8068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312377" y="3159299"/>
            <a:ext cx="720045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圖片 3" descr="一張含有 文字, 螢幕擷取畫面, 軟體, 繪圖軟體 的圖片&#10;&#10;自動產生的描述">
            <a:extLst>
              <a:ext uri="{FF2B5EF4-FFF2-40B4-BE49-F238E27FC236}">
                <a16:creationId xmlns:a16="http://schemas.microsoft.com/office/drawing/2014/main" id="{A94B6BCA-AF1D-34CE-D941-29773B3641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4" y="2549563"/>
            <a:ext cx="3462595" cy="1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 descr="一張含有 文字, 螢幕擷取畫面, 軟體, 圖表 的圖片&#10;&#10;自動產生的描述">
            <a:extLst>
              <a:ext uri="{FF2B5EF4-FFF2-40B4-BE49-F238E27FC236}">
                <a16:creationId xmlns:a16="http://schemas.microsoft.com/office/drawing/2014/main" id="{5C45E817-B991-F55A-38AD-BF7D1F46EA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605" y="2549563"/>
            <a:ext cx="3462595" cy="1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 descr="一張含有 文字, 螢幕擷取畫面, 軟體, 繪圖軟體 的圖片&#10;&#10;自動產生的描述">
            <a:extLst>
              <a:ext uri="{FF2B5EF4-FFF2-40B4-BE49-F238E27FC236}">
                <a16:creationId xmlns:a16="http://schemas.microsoft.com/office/drawing/2014/main" id="{A02848C6-2275-1FFC-B220-0163C1D5FF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491902"/>
            <a:ext cx="3462595" cy="1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 descr="一張含有 文字, 螢幕擷取畫面, 軟體, 圖表 的圖片&#10;&#10;自動產生的描述">
            <a:extLst>
              <a:ext uri="{FF2B5EF4-FFF2-40B4-BE49-F238E27FC236}">
                <a16:creationId xmlns:a16="http://schemas.microsoft.com/office/drawing/2014/main" id="{88D32C4F-B144-1F0C-BE26-FE2C9117E8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055" y="4491902"/>
            <a:ext cx="3462595" cy="1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31E4522-BE4C-5780-892D-8DCCB43E6AF5}"/>
              </a:ext>
            </a:extLst>
          </p:cNvPr>
          <p:cNvSpPr txBox="1"/>
          <p:nvPr/>
        </p:nvSpPr>
        <p:spPr>
          <a:xfrm>
            <a:off x="2849920" y="3875380"/>
            <a:ext cx="883575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C4 slot1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AF5F9B-203E-1132-9F14-D27718D60002}"/>
              </a:ext>
            </a:extLst>
          </p:cNvPr>
          <p:cNvSpPr txBox="1"/>
          <p:nvPr/>
        </p:nvSpPr>
        <p:spPr>
          <a:xfrm>
            <a:off x="6823183" y="3917715"/>
            <a:ext cx="883575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C4 slot2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A3806CE-890E-B722-4B85-92B7037EC2D1}"/>
              </a:ext>
            </a:extLst>
          </p:cNvPr>
          <p:cNvSpPr txBox="1"/>
          <p:nvPr/>
        </p:nvSpPr>
        <p:spPr>
          <a:xfrm>
            <a:off x="2742518" y="5771250"/>
            <a:ext cx="990977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C4 slot13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90E04DE-82E3-FE18-54A1-447B46E450E1}"/>
              </a:ext>
            </a:extLst>
          </p:cNvPr>
          <p:cNvSpPr txBox="1"/>
          <p:nvPr/>
        </p:nvSpPr>
        <p:spPr>
          <a:xfrm>
            <a:off x="6834402" y="5809377"/>
            <a:ext cx="990977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C4 slot25</a:t>
            </a:r>
          </a:p>
        </p:txBody>
      </p:sp>
    </p:spTree>
    <p:extLst>
      <p:ext uri="{BB962C8B-B14F-4D97-AF65-F5344CB8AC3E}">
        <p14:creationId xmlns:p14="http://schemas.microsoft.com/office/powerpoint/2010/main" val="2556457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199266" y="291446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431" y="878556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FBD7899-6774-8604-52B1-A49FCCF53163}"/>
              </a:ext>
            </a:extLst>
          </p:cNvPr>
          <p:cNvSpPr txBox="1"/>
          <p:nvPr/>
        </p:nvSpPr>
        <p:spPr>
          <a:xfrm>
            <a:off x="415798" y="1494109"/>
            <a:ext cx="8604448" cy="416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加量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 map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點鐘方向皆有異常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pattern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，進行機台檢查確認。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3335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3288131-7D00-CA49-E048-AB9F98513B87}"/>
              </a:ext>
            </a:extLst>
          </p:cNvPr>
          <p:cNvGrpSpPr/>
          <p:nvPr/>
        </p:nvGrpSpPr>
        <p:grpSpPr>
          <a:xfrm>
            <a:off x="966562" y="2018737"/>
            <a:ext cx="7632848" cy="3744708"/>
            <a:chOff x="730980" y="938680"/>
            <a:chExt cx="7785223" cy="4585109"/>
          </a:xfrm>
        </p:grpSpPr>
        <p:grpSp>
          <p:nvGrpSpPr>
            <p:cNvPr id="3" name="Group 90">
              <a:extLst>
                <a:ext uri="{FF2B5EF4-FFF2-40B4-BE49-F238E27FC236}">
                  <a16:creationId xmlns:a16="http://schemas.microsoft.com/office/drawing/2014/main" id="{B8BDFFAE-7772-F2C9-C02A-F2058968818E}"/>
                </a:ext>
              </a:extLst>
            </p:cNvPr>
            <p:cNvGrpSpPr/>
            <p:nvPr/>
          </p:nvGrpSpPr>
          <p:grpSpPr>
            <a:xfrm>
              <a:off x="730980" y="1861420"/>
              <a:ext cx="7785223" cy="3662369"/>
              <a:chOff x="730980" y="1861420"/>
              <a:chExt cx="7785223" cy="3662369"/>
            </a:xfrm>
          </p:grpSpPr>
          <p:cxnSp>
            <p:nvCxnSpPr>
              <p:cNvPr id="15" name="Straight Connector 40">
                <a:extLst>
                  <a:ext uri="{FF2B5EF4-FFF2-40B4-BE49-F238E27FC236}">
                    <a16:creationId xmlns:a16="http://schemas.microsoft.com/office/drawing/2014/main" id="{A91D92A4-D2BB-FB49-FFD5-A109BA1C0B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45430" y="1960091"/>
                <a:ext cx="581618" cy="1833459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1" name="Straight Connector 27">
                <a:extLst>
                  <a:ext uri="{FF2B5EF4-FFF2-40B4-BE49-F238E27FC236}">
                    <a16:creationId xmlns:a16="http://schemas.microsoft.com/office/drawing/2014/main" id="{91356830-A97C-D47E-723A-F1CFF07A7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001" y="1861420"/>
                <a:ext cx="696302" cy="1881824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2" name="Straight Connector 39">
                <a:extLst>
                  <a:ext uri="{FF2B5EF4-FFF2-40B4-BE49-F238E27FC236}">
                    <a16:creationId xmlns:a16="http://schemas.microsoft.com/office/drawing/2014/main" id="{74F05D9C-95F9-873B-40ED-7254619A3CC6}"/>
                  </a:ext>
                </a:extLst>
              </p:cNvPr>
              <p:cNvCxnSpPr/>
              <p:nvPr/>
            </p:nvCxnSpPr>
            <p:spPr>
              <a:xfrm flipV="1">
                <a:off x="3918281" y="3987964"/>
                <a:ext cx="609600" cy="1535825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E672E0F3-3305-8703-BA94-6ECF4DAB6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980" y="2259654"/>
                <a:ext cx="7785223" cy="2960610"/>
              </a:xfrm>
              <a:custGeom>
                <a:avLst/>
                <a:gdLst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83886 w 7785223"/>
                  <a:gd name="connsiteY18" fmla="*/ 1786984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785223" h="2960610">
                    <a:moveTo>
                      <a:pt x="6458167" y="833882"/>
                    </a:moveTo>
                    <a:cubicBezTo>
                      <a:pt x="6319152" y="833882"/>
                      <a:pt x="6206458" y="946576"/>
                      <a:pt x="6206458" y="1085591"/>
                    </a:cubicBezTo>
                    <a:cubicBezTo>
                      <a:pt x="6206458" y="1224606"/>
                      <a:pt x="6319152" y="1337300"/>
                      <a:pt x="6458167" y="1337300"/>
                    </a:cubicBezTo>
                    <a:cubicBezTo>
                      <a:pt x="6597182" y="1337300"/>
                      <a:pt x="6709876" y="1224606"/>
                      <a:pt x="6709876" y="1085591"/>
                    </a:cubicBezTo>
                    <a:cubicBezTo>
                      <a:pt x="6709876" y="946576"/>
                      <a:pt x="6597182" y="833882"/>
                      <a:pt x="6458167" y="833882"/>
                    </a:cubicBezTo>
                    <a:close/>
                    <a:moveTo>
                      <a:pt x="124054" y="0"/>
                    </a:moveTo>
                    <a:cubicBezTo>
                      <a:pt x="124054" y="0"/>
                      <a:pt x="694494" y="17040"/>
                      <a:pt x="881802" y="766777"/>
                    </a:cubicBezTo>
                    <a:cubicBezTo>
                      <a:pt x="975349" y="1143344"/>
                      <a:pt x="1108255" y="1399114"/>
                      <a:pt x="1232618" y="1485722"/>
                    </a:cubicBezTo>
                    <a:cubicBezTo>
                      <a:pt x="1356981" y="1572330"/>
                      <a:pt x="1831368" y="1540253"/>
                      <a:pt x="2569785" y="1533897"/>
                    </a:cubicBezTo>
                    <a:cubicBezTo>
                      <a:pt x="3308202" y="1527541"/>
                      <a:pt x="4961056" y="1460173"/>
                      <a:pt x="5663118" y="1447586"/>
                    </a:cubicBezTo>
                    <a:cubicBezTo>
                      <a:pt x="5764083" y="633577"/>
                      <a:pt x="6000518" y="305361"/>
                      <a:pt x="6184373" y="217410"/>
                    </a:cubicBezTo>
                    <a:cubicBezTo>
                      <a:pt x="6504706" y="184050"/>
                      <a:pt x="7316553" y="874307"/>
                      <a:pt x="7585117" y="1247424"/>
                    </a:cubicBezTo>
                    <a:cubicBezTo>
                      <a:pt x="7737800" y="1452337"/>
                      <a:pt x="7785205" y="1625731"/>
                      <a:pt x="7785223" y="1625797"/>
                    </a:cubicBezTo>
                    <a:cubicBezTo>
                      <a:pt x="7785158" y="1625937"/>
                      <a:pt x="7690374" y="1830829"/>
                      <a:pt x="7506128" y="2067231"/>
                    </a:cubicBezTo>
                    <a:cubicBezTo>
                      <a:pt x="7395543" y="2209120"/>
                      <a:pt x="7263894" y="2377287"/>
                      <a:pt x="7074320" y="2519175"/>
                    </a:cubicBezTo>
                    <a:cubicBezTo>
                      <a:pt x="6895320" y="2340543"/>
                      <a:pt x="6737376" y="2324743"/>
                      <a:pt x="6737299" y="2324735"/>
                    </a:cubicBezTo>
                    <a:cubicBezTo>
                      <a:pt x="6737317" y="2324764"/>
                      <a:pt x="6868950" y="2545458"/>
                      <a:pt x="6911075" y="2629534"/>
                    </a:cubicBezTo>
                    <a:cubicBezTo>
                      <a:pt x="6705703" y="2760914"/>
                      <a:pt x="6463469" y="2876528"/>
                      <a:pt x="6173841" y="2960610"/>
                    </a:cubicBezTo>
                    <a:cubicBezTo>
                      <a:pt x="6173686" y="2960472"/>
                      <a:pt x="5712200" y="2625849"/>
                      <a:pt x="5683886" y="1786984"/>
                    </a:cubicBezTo>
                    <a:cubicBezTo>
                      <a:pt x="5351100" y="1778601"/>
                      <a:pt x="4997819" y="1710631"/>
                      <a:pt x="4260900" y="1707212"/>
                    </a:cubicBezTo>
                    <a:cubicBezTo>
                      <a:pt x="3523981" y="1703793"/>
                      <a:pt x="1406504" y="1698533"/>
                      <a:pt x="1262370" y="1766472"/>
                    </a:cubicBezTo>
                    <a:cubicBezTo>
                      <a:pt x="1118236" y="1834411"/>
                      <a:pt x="1130100" y="2066835"/>
                      <a:pt x="907344" y="2381268"/>
                    </a:cubicBezTo>
                    <a:cubicBezTo>
                      <a:pt x="684588" y="2695701"/>
                      <a:pt x="192167" y="2960610"/>
                      <a:pt x="192166" y="2960610"/>
                    </a:cubicBezTo>
                    <a:cubicBezTo>
                      <a:pt x="243251" y="2474985"/>
                      <a:pt x="136825" y="2313110"/>
                      <a:pt x="149596" y="2142715"/>
                    </a:cubicBezTo>
                    <a:cubicBezTo>
                      <a:pt x="175137" y="1836023"/>
                      <a:pt x="515658" y="1640074"/>
                      <a:pt x="515699" y="1640050"/>
                    </a:cubicBezTo>
                    <a:cubicBezTo>
                      <a:pt x="515699" y="1640050"/>
                      <a:pt x="68713" y="1431317"/>
                      <a:pt x="4858" y="958471"/>
                    </a:cubicBezTo>
                    <a:cubicBezTo>
                      <a:pt x="-41969" y="604902"/>
                      <a:pt x="268793" y="481366"/>
                      <a:pt x="124054" y="0"/>
                    </a:cubicBez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7" name="Rounded Rectangle 44">
              <a:extLst>
                <a:ext uri="{FF2B5EF4-FFF2-40B4-BE49-F238E27FC236}">
                  <a16:creationId xmlns:a16="http://schemas.microsoft.com/office/drawing/2014/main" id="{E396D1D8-3833-058B-7763-2D6323091F87}"/>
                </a:ext>
              </a:extLst>
            </p:cNvPr>
            <p:cNvSpPr/>
            <p:nvPr/>
          </p:nvSpPr>
          <p:spPr>
            <a:xfrm>
              <a:off x="4403982" y="938680"/>
              <a:ext cx="1399876" cy="668740"/>
            </a:xfrm>
            <a:prstGeom prst="roundRect">
              <a:avLst>
                <a:gd name="adj" fmla="val 4267"/>
              </a:avLst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b="1" kern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石英異常</a:t>
              </a:r>
              <a:endParaRPr kumimoji="0" lang="en-US" b="1" kern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B0A2D6-83DE-0B57-3CC8-CAE91D7235FC}"/>
                </a:ext>
              </a:extLst>
            </p:cNvPr>
            <p:cNvSpPr/>
            <p:nvPr/>
          </p:nvSpPr>
          <p:spPr>
            <a:xfrm>
              <a:off x="7164000" y="3348000"/>
              <a:ext cx="36000" cy="3600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none" numCol="1">
              <a:prstTxWarp prst="textCircle">
                <a:avLst/>
              </a:prstTxWarp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TW" sz="300" b="1" spc="-1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http://home.rapidbbs.cn/?fromuid=22138</a:t>
              </a:r>
              <a:endParaRPr lang="zh-TW" altLang="en-US" sz="300" b="1" spc="-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Rounded Rectangle 18">
              <a:extLst>
                <a:ext uri="{FF2B5EF4-FFF2-40B4-BE49-F238E27FC236}">
                  <a16:creationId xmlns:a16="http://schemas.microsoft.com/office/drawing/2014/main" id="{5DAA8620-F899-1C4C-DC4D-284A2C750345}"/>
                </a:ext>
              </a:extLst>
            </p:cNvPr>
            <p:cNvSpPr/>
            <p:nvPr/>
          </p:nvSpPr>
          <p:spPr>
            <a:xfrm>
              <a:off x="2027185" y="1110038"/>
              <a:ext cx="1279526" cy="655010"/>
            </a:xfrm>
            <a:prstGeom prst="roundRect">
              <a:avLst>
                <a:gd name="adj" fmla="val 4267"/>
              </a:avLst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b="1" kern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壓力異常</a:t>
              </a:r>
              <a:endParaRPr kumimoji="0" lang="en-US" b="1" kern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6" name="Straight Connector 39">
            <a:extLst>
              <a:ext uri="{FF2B5EF4-FFF2-40B4-BE49-F238E27FC236}">
                <a16:creationId xmlns:a16="http://schemas.microsoft.com/office/drawing/2014/main" id="{960F6FD9-4C6C-B7FA-DD2A-D9E489C3FB9B}"/>
              </a:ext>
            </a:extLst>
          </p:cNvPr>
          <p:cNvCxnSpPr>
            <a:cxnSpLocks/>
          </p:cNvCxnSpPr>
          <p:nvPr/>
        </p:nvCxnSpPr>
        <p:spPr>
          <a:xfrm flipH="1" flipV="1">
            <a:off x="3929418" y="4867888"/>
            <a:ext cx="437313" cy="240983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cxnSp>
        <p:nvCxnSpPr>
          <p:cNvPr id="18" name="Straight Connector 39">
            <a:extLst>
              <a:ext uri="{FF2B5EF4-FFF2-40B4-BE49-F238E27FC236}">
                <a16:creationId xmlns:a16="http://schemas.microsoft.com/office/drawing/2014/main" id="{0449B6C1-D869-EC8F-80DE-8A0A6DC7086D}"/>
              </a:ext>
            </a:extLst>
          </p:cNvPr>
          <p:cNvCxnSpPr>
            <a:cxnSpLocks/>
          </p:cNvCxnSpPr>
          <p:nvPr/>
        </p:nvCxnSpPr>
        <p:spPr>
          <a:xfrm flipH="1" flipV="1">
            <a:off x="4634417" y="4725144"/>
            <a:ext cx="456629" cy="251898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cxnSp>
        <p:nvCxnSpPr>
          <p:cNvPr id="20" name="Straight Connector 39">
            <a:extLst>
              <a:ext uri="{FF2B5EF4-FFF2-40B4-BE49-F238E27FC236}">
                <a16:creationId xmlns:a16="http://schemas.microsoft.com/office/drawing/2014/main" id="{018976F6-8F8F-1DE7-A042-DA2848464852}"/>
              </a:ext>
            </a:extLst>
          </p:cNvPr>
          <p:cNvCxnSpPr>
            <a:cxnSpLocks/>
          </p:cNvCxnSpPr>
          <p:nvPr/>
        </p:nvCxnSpPr>
        <p:spPr>
          <a:xfrm flipH="1">
            <a:off x="5516035" y="2890473"/>
            <a:ext cx="447061" cy="249241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E194A91-99FA-4434-5E0A-D23665595F1D}"/>
              </a:ext>
            </a:extLst>
          </p:cNvPr>
          <p:cNvSpPr txBox="1"/>
          <p:nvPr/>
        </p:nvSpPr>
        <p:spPr>
          <a:xfrm>
            <a:off x="3690070" y="2947719"/>
            <a:ext cx="1135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Vent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氣聲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Straight Connector 39">
            <a:extLst>
              <a:ext uri="{FF2B5EF4-FFF2-40B4-BE49-F238E27FC236}">
                <a16:creationId xmlns:a16="http://schemas.microsoft.com/office/drawing/2014/main" id="{D16D19EF-9832-3D05-2298-57BAEEBEA35B}"/>
              </a:ext>
            </a:extLst>
          </p:cNvPr>
          <p:cNvCxnSpPr>
            <a:cxnSpLocks/>
          </p:cNvCxnSpPr>
          <p:nvPr/>
        </p:nvCxnSpPr>
        <p:spPr>
          <a:xfrm flipH="1">
            <a:off x="5160472" y="3409022"/>
            <a:ext cx="404627" cy="195294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cxnSp>
        <p:nvCxnSpPr>
          <p:cNvPr id="30" name="Straight Connector 39">
            <a:extLst>
              <a:ext uri="{FF2B5EF4-FFF2-40B4-BE49-F238E27FC236}">
                <a16:creationId xmlns:a16="http://schemas.microsoft.com/office/drawing/2014/main" id="{794F4672-C01B-AA6A-D304-A961CBDC0F14}"/>
              </a:ext>
            </a:extLst>
          </p:cNvPr>
          <p:cNvCxnSpPr>
            <a:cxnSpLocks/>
          </p:cNvCxnSpPr>
          <p:nvPr/>
        </p:nvCxnSpPr>
        <p:spPr>
          <a:xfrm flipH="1">
            <a:off x="3422787" y="3308991"/>
            <a:ext cx="607046" cy="128645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54CE068-F7FC-4E66-A9D4-759AB0E199CE}"/>
              </a:ext>
            </a:extLst>
          </p:cNvPr>
          <p:cNvSpPr/>
          <p:nvPr/>
        </p:nvSpPr>
        <p:spPr>
          <a:xfrm>
            <a:off x="6660232" y="4302963"/>
            <a:ext cx="16672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 OOC 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F1A5477-BC23-4A39-BD39-14B875E31184}"/>
              </a:ext>
            </a:extLst>
          </p:cNvPr>
          <p:cNvSpPr txBox="1"/>
          <p:nvPr/>
        </p:nvSpPr>
        <p:spPr>
          <a:xfrm>
            <a:off x="3214207" y="4654616"/>
            <a:ext cx="806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刮管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83554F5-E553-3021-B176-7BCBEF2A8FAE}"/>
              </a:ext>
            </a:extLst>
          </p:cNvPr>
          <p:cNvSpPr txBox="1"/>
          <p:nvPr/>
        </p:nvSpPr>
        <p:spPr>
          <a:xfrm>
            <a:off x="1829534" y="2970437"/>
            <a:ext cx="806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Pump 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1FD660B-8D2F-20D9-8C7C-78ADBBF8D0EF}"/>
              </a:ext>
            </a:extLst>
          </p:cNvPr>
          <p:cNvSpPr txBox="1"/>
          <p:nvPr/>
        </p:nvSpPr>
        <p:spPr>
          <a:xfrm>
            <a:off x="5999194" y="2653725"/>
            <a:ext cx="682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Tube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F98B71A-9DC8-587F-81EA-227E5F46B10F}"/>
              </a:ext>
            </a:extLst>
          </p:cNvPr>
          <p:cNvSpPr txBox="1"/>
          <p:nvPr/>
        </p:nvSpPr>
        <p:spPr>
          <a:xfrm>
            <a:off x="4521976" y="3677110"/>
            <a:ext cx="1013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Pedestal 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7" name="Straight Connector 39">
            <a:extLst>
              <a:ext uri="{FF2B5EF4-FFF2-40B4-BE49-F238E27FC236}">
                <a16:creationId xmlns:a16="http://schemas.microsoft.com/office/drawing/2014/main" id="{FA5AF12A-E689-F95D-87F0-BF51F3725316}"/>
              </a:ext>
            </a:extLst>
          </p:cNvPr>
          <p:cNvCxnSpPr>
            <a:cxnSpLocks/>
          </p:cNvCxnSpPr>
          <p:nvPr/>
        </p:nvCxnSpPr>
        <p:spPr>
          <a:xfrm flipH="1">
            <a:off x="2588181" y="3112467"/>
            <a:ext cx="624195" cy="99889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6" name="Rounded Rectangle 43">
            <a:extLst>
              <a:ext uri="{FF2B5EF4-FFF2-40B4-BE49-F238E27FC236}">
                <a16:creationId xmlns:a16="http://schemas.microsoft.com/office/drawing/2014/main" id="{1553E0AD-6D52-7BE8-CF63-3F8319E2CBF0}"/>
              </a:ext>
            </a:extLst>
          </p:cNvPr>
          <p:cNvSpPr/>
          <p:nvPr/>
        </p:nvSpPr>
        <p:spPr>
          <a:xfrm>
            <a:off x="3222916" y="5884526"/>
            <a:ext cx="1656184" cy="546166"/>
          </a:xfrm>
          <a:prstGeom prst="roundRect">
            <a:avLst>
              <a:gd name="adj" fmla="val 4267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b="1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傳送相關異常</a:t>
            </a:r>
            <a:endParaRPr kumimoji="0" lang="en-US" b="1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Straight Connector 39">
            <a:extLst>
              <a:ext uri="{FF2B5EF4-FFF2-40B4-BE49-F238E27FC236}">
                <a16:creationId xmlns:a16="http://schemas.microsoft.com/office/drawing/2014/main" id="{F6919D4F-956B-4FD4-3B0F-56756C3893B2}"/>
              </a:ext>
            </a:extLst>
          </p:cNvPr>
          <p:cNvCxnSpPr>
            <a:cxnSpLocks/>
          </p:cNvCxnSpPr>
          <p:nvPr/>
        </p:nvCxnSpPr>
        <p:spPr>
          <a:xfrm flipH="1" flipV="1">
            <a:off x="4300592" y="5440571"/>
            <a:ext cx="456629" cy="251898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30AF17E-0C10-7E0B-47C8-AC1597E47402}"/>
              </a:ext>
            </a:extLst>
          </p:cNvPr>
          <p:cNvSpPr txBox="1"/>
          <p:nvPr/>
        </p:nvSpPr>
        <p:spPr>
          <a:xfrm>
            <a:off x="5062179" y="4869596"/>
            <a:ext cx="682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刮傷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4472B6-2B13-368D-B6A7-FC32E2A7AF7B}"/>
              </a:ext>
            </a:extLst>
          </p:cNvPr>
          <p:cNvSpPr txBox="1"/>
          <p:nvPr/>
        </p:nvSpPr>
        <p:spPr>
          <a:xfrm>
            <a:off x="4825294" y="5545972"/>
            <a:ext cx="1008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</a:t>
            </a:r>
          </a:p>
        </p:txBody>
      </p:sp>
      <p:cxnSp>
        <p:nvCxnSpPr>
          <p:cNvPr id="23" name="Straight Connector 39">
            <a:extLst>
              <a:ext uri="{FF2B5EF4-FFF2-40B4-BE49-F238E27FC236}">
                <a16:creationId xmlns:a16="http://schemas.microsoft.com/office/drawing/2014/main" id="{76F0B074-8356-C765-7F11-FE7D0B34C9EB}"/>
              </a:ext>
            </a:extLst>
          </p:cNvPr>
          <p:cNvCxnSpPr>
            <a:cxnSpLocks/>
          </p:cNvCxnSpPr>
          <p:nvPr/>
        </p:nvCxnSpPr>
        <p:spPr>
          <a:xfrm flipH="1">
            <a:off x="5754557" y="3496398"/>
            <a:ext cx="447061" cy="249241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14DD771-56EA-1ECB-723E-91ED2CBE4133}"/>
              </a:ext>
            </a:extLst>
          </p:cNvPr>
          <p:cNvSpPr txBox="1"/>
          <p:nvPr/>
        </p:nvSpPr>
        <p:spPr>
          <a:xfrm>
            <a:off x="6208572" y="3268359"/>
            <a:ext cx="682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7" name="Straight Connector 39">
            <a:extLst>
              <a:ext uri="{FF2B5EF4-FFF2-40B4-BE49-F238E27FC236}">
                <a16:creationId xmlns:a16="http://schemas.microsoft.com/office/drawing/2014/main" id="{3F5C1356-1E8C-7B5D-A2FE-E85076B4992F}"/>
              </a:ext>
            </a:extLst>
          </p:cNvPr>
          <p:cNvCxnSpPr>
            <a:cxnSpLocks/>
          </p:cNvCxnSpPr>
          <p:nvPr/>
        </p:nvCxnSpPr>
        <p:spPr>
          <a:xfrm flipH="1">
            <a:off x="2863179" y="3795295"/>
            <a:ext cx="624195" cy="99889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DF1DD0C-BD54-65B3-E834-CEF7BCA109A4}"/>
              </a:ext>
            </a:extLst>
          </p:cNvPr>
          <p:cNvSpPr txBox="1"/>
          <p:nvPr/>
        </p:nvSpPr>
        <p:spPr>
          <a:xfrm>
            <a:off x="2234058" y="3745043"/>
            <a:ext cx="622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641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42428178-835F-263E-FD1D-35CC274173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2"/>
          <a:stretch/>
        </p:blipFill>
        <p:spPr>
          <a:xfrm>
            <a:off x="6779930" y="457932"/>
            <a:ext cx="1681260" cy="1749501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23528" y="1694435"/>
            <a:ext cx="8604448" cy="231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石英異常：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Tube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Tube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無髒污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破損，非真因。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Pedestal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檢視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Pedestal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無髒污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破損，非真因。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無髒污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破損，非真因。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乘號 22">
            <a:extLst>
              <a:ext uri="{FF2B5EF4-FFF2-40B4-BE49-F238E27FC236}">
                <a16:creationId xmlns:a16="http://schemas.microsoft.com/office/drawing/2014/main" id="{84A05BF8-47A2-2DEF-78B5-A7BA2CD9B3CD}"/>
              </a:ext>
            </a:extLst>
          </p:cNvPr>
          <p:cNvSpPr/>
          <p:nvPr/>
        </p:nvSpPr>
        <p:spPr>
          <a:xfrm>
            <a:off x="7547420" y="1020262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乘號 25">
            <a:extLst>
              <a:ext uri="{FF2B5EF4-FFF2-40B4-BE49-F238E27FC236}">
                <a16:creationId xmlns:a16="http://schemas.microsoft.com/office/drawing/2014/main" id="{7700EC05-9231-0BAC-EF8F-C4C9FC704AAE}"/>
              </a:ext>
            </a:extLst>
          </p:cNvPr>
          <p:cNvSpPr/>
          <p:nvPr/>
        </p:nvSpPr>
        <p:spPr>
          <a:xfrm>
            <a:off x="7276924" y="1379856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乘號 16">
            <a:extLst>
              <a:ext uri="{FF2B5EF4-FFF2-40B4-BE49-F238E27FC236}">
                <a16:creationId xmlns:a16="http://schemas.microsoft.com/office/drawing/2014/main" id="{3E13599D-F549-7549-E052-F0D1C3B3F2B1}"/>
              </a:ext>
            </a:extLst>
          </p:cNvPr>
          <p:cNvSpPr/>
          <p:nvPr/>
        </p:nvSpPr>
        <p:spPr>
          <a:xfrm>
            <a:off x="7733750" y="1446466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5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4B89644A-8975-2D78-F807-C081A1ECD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637" y="306415"/>
            <a:ext cx="1980827" cy="1623921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9D3792C-EE75-3408-A20C-BB3CC0A43AF2}"/>
              </a:ext>
            </a:extLst>
          </p:cNvPr>
          <p:cNvSpPr txBox="1"/>
          <p:nvPr/>
        </p:nvSpPr>
        <p:spPr>
          <a:xfrm>
            <a:off x="357685" y="1611382"/>
            <a:ext cx="8604448" cy="4577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壓力異常：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Pump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RMS issue run pump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壓力正常，亦無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pump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，非真因。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Vent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氣聲：</a:t>
            </a:r>
            <a:b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測試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vent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氣聲正常，非真因。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乘號 4">
            <a:extLst>
              <a:ext uri="{FF2B5EF4-FFF2-40B4-BE49-F238E27FC236}">
                <a16:creationId xmlns:a16="http://schemas.microsoft.com/office/drawing/2014/main" id="{D3DDEBB8-0719-8ED0-3957-E602451610BB}"/>
              </a:ext>
            </a:extLst>
          </p:cNvPr>
          <p:cNvSpPr/>
          <p:nvPr/>
        </p:nvSpPr>
        <p:spPr>
          <a:xfrm>
            <a:off x="7413768" y="878102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470C770D-E174-4E64-EE08-FE94CE629111}"/>
              </a:ext>
            </a:extLst>
          </p:cNvPr>
          <p:cNvSpPr/>
          <p:nvPr/>
        </p:nvSpPr>
        <p:spPr>
          <a:xfrm>
            <a:off x="7945331" y="102470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DF62B83-C805-0069-7243-2872EA629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711693"/>
              </p:ext>
            </p:extLst>
          </p:nvPr>
        </p:nvGraphicFramePr>
        <p:xfrm>
          <a:off x="903409" y="2688479"/>
          <a:ext cx="7049981" cy="2745090"/>
        </p:xfrm>
        <a:graphic>
          <a:graphicData uri="http://schemas.openxmlformats.org/drawingml/2006/table">
            <a:tbl>
              <a:tblPr/>
              <a:tblGrid>
                <a:gridCol w="1193728">
                  <a:extLst>
                    <a:ext uri="{9D8B030D-6E8A-4147-A177-3AD203B41FA5}">
                      <a16:colId xmlns:a16="http://schemas.microsoft.com/office/drawing/2014/main" val="2291240383"/>
                    </a:ext>
                  </a:extLst>
                </a:gridCol>
                <a:gridCol w="510296">
                  <a:extLst>
                    <a:ext uri="{9D8B030D-6E8A-4147-A177-3AD203B41FA5}">
                      <a16:colId xmlns:a16="http://schemas.microsoft.com/office/drawing/2014/main" val="235843832"/>
                    </a:ext>
                  </a:extLst>
                </a:gridCol>
                <a:gridCol w="461696">
                  <a:extLst>
                    <a:ext uri="{9D8B030D-6E8A-4147-A177-3AD203B41FA5}">
                      <a16:colId xmlns:a16="http://schemas.microsoft.com/office/drawing/2014/main" val="3999147890"/>
                    </a:ext>
                  </a:extLst>
                </a:gridCol>
                <a:gridCol w="643945">
                  <a:extLst>
                    <a:ext uri="{9D8B030D-6E8A-4147-A177-3AD203B41FA5}">
                      <a16:colId xmlns:a16="http://schemas.microsoft.com/office/drawing/2014/main" val="2867701883"/>
                    </a:ext>
                  </a:extLst>
                </a:gridCol>
                <a:gridCol w="902130">
                  <a:extLst>
                    <a:ext uri="{9D8B030D-6E8A-4147-A177-3AD203B41FA5}">
                      <a16:colId xmlns:a16="http://schemas.microsoft.com/office/drawing/2014/main" val="2545771444"/>
                    </a:ext>
                  </a:extLst>
                </a:gridCol>
                <a:gridCol w="391835">
                  <a:extLst>
                    <a:ext uri="{9D8B030D-6E8A-4147-A177-3AD203B41FA5}">
                      <a16:colId xmlns:a16="http://schemas.microsoft.com/office/drawing/2014/main" val="2200300225"/>
                    </a:ext>
                  </a:extLst>
                </a:gridCol>
                <a:gridCol w="902130">
                  <a:extLst>
                    <a:ext uri="{9D8B030D-6E8A-4147-A177-3AD203B41FA5}">
                      <a16:colId xmlns:a16="http://schemas.microsoft.com/office/drawing/2014/main" val="510868160"/>
                    </a:ext>
                  </a:extLst>
                </a:gridCol>
                <a:gridCol w="498146">
                  <a:extLst>
                    <a:ext uri="{9D8B030D-6E8A-4147-A177-3AD203B41FA5}">
                      <a16:colId xmlns:a16="http://schemas.microsoft.com/office/drawing/2014/main" val="823268060"/>
                    </a:ext>
                  </a:extLst>
                </a:gridCol>
                <a:gridCol w="498146">
                  <a:extLst>
                    <a:ext uri="{9D8B030D-6E8A-4147-A177-3AD203B41FA5}">
                      <a16:colId xmlns:a16="http://schemas.microsoft.com/office/drawing/2014/main" val="4090448143"/>
                    </a:ext>
                  </a:extLst>
                </a:gridCol>
                <a:gridCol w="473846">
                  <a:extLst>
                    <a:ext uri="{9D8B030D-6E8A-4147-A177-3AD203B41FA5}">
                      <a16:colId xmlns:a16="http://schemas.microsoft.com/office/drawing/2014/main" val="210990449"/>
                    </a:ext>
                  </a:extLst>
                </a:gridCol>
                <a:gridCol w="574083">
                  <a:extLst>
                    <a:ext uri="{9D8B030D-6E8A-4147-A177-3AD203B41FA5}">
                      <a16:colId xmlns:a16="http://schemas.microsoft.com/office/drawing/2014/main" val="3170174960"/>
                    </a:ext>
                  </a:extLst>
                </a:gridCol>
              </a:tblGrid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SampleTime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Tube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Recipe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RemainingS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RemainingT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Remk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Angle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452865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0002:24:42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00:05:30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22106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0002:24:42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00:05:30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55104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0002:24:42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00:05:30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60604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0002:23:02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00:03:50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87754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0002:23:02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00:03:50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311793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0002:23:02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00:03:50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63004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0002:23:02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00:03:50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830042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0002:21:17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00:02:05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68497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0002:21:17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00:02:05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10698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0002:21:17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00:02:05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412946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0002:19:32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00:00:20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330659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0002:19:32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00:00:20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78000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0002:19:32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00:00:20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208779"/>
                  </a:ext>
                </a:extLst>
              </a:tr>
              <a:tr h="1830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 11:57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LN5N01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0002:19:32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00:00:20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929529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ADAF4820-5499-6DC0-0172-A00B29643DFB}"/>
              </a:ext>
            </a:extLst>
          </p:cNvPr>
          <p:cNvSpPr/>
          <p:nvPr/>
        </p:nvSpPr>
        <p:spPr>
          <a:xfrm>
            <a:off x="6400800" y="2647406"/>
            <a:ext cx="505097" cy="2830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18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4B89644A-8975-2D78-F807-C081A1ECD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637" y="306415"/>
            <a:ext cx="1980827" cy="1623921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9D3792C-EE75-3408-A20C-BB3CC0A43AF2}"/>
              </a:ext>
            </a:extLst>
          </p:cNvPr>
          <p:cNvSpPr txBox="1"/>
          <p:nvPr/>
        </p:nvSpPr>
        <p:spPr>
          <a:xfrm>
            <a:off x="357685" y="1611382"/>
            <a:ext cx="8604448" cy="1022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壓力異常：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issue run step.17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反應步驟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angle=104~113 stable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servo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壓力亦正常，非真因。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乘號 4">
            <a:extLst>
              <a:ext uri="{FF2B5EF4-FFF2-40B4-BE49-F238E27FC236}">
                <a16:creationId xmlns:a16="http://schemas.microsoft.com/office/drawing/2014/main" id="{D3DDEBB8-0719-8ED0-3957-E602451610BB}"/>
              </a:ext>
            </a:extLst>
          </p:cNvPr>
          <p:cNvSpPr/>
          <p:nvPr/>
        </p:nvSpPr>
        <p:spPr>
          <a:xfrm>
            <a:off x="7413768" y="878102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470C770D-E174-4E64-EE08-FE94CE629111}"/>
              </a:ext>
            </a:extLst>
          </p:cNvPr>
          <p:cNvSpPr/>
          <p:nvPr/>
        </p:nvSpPr>
        <p:spPr>
          <a:xfrm>
            <a:off x="7945331" y="102470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2B3A002-F7A2-4695-7241-F2B0AD646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07" y="2726338"/>
            <a:ext cx="5556429" cy="383922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57ADFEA-C6F1-A1B2-D45D-F219C92BADE1}"/>
              </a:ext>
            </a:extLst>
          </p:cNvPr>
          <p:cNvCxnSpPr/>
          <p:nvPr/>
        </p:nvCxnSpPr>
        <p:spPr>
          <a:xfrm>
            <a:off x="2555776" y="4013773"/>
            <a:ext cx="0" cy="20162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DE717E5-F953-8251-B761-0E12F5988E52}"/>
              </a:ext>
            </a:extLst>
          </p:cNvPr>
          <p:cNvCxnSpPr/>
          <p:nvPr/>
        </p:nvCxnSpPr>
        <p:spPr>
          <a:xfrm>
            <a:off x="5220072" y="4013773"/>
            <a:ext cx="0" cy="20162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0911734-EA3E-EDA4-FCEC-B219B6F9685B}"/>
              </a:ext>
            </a:extLst>
          </p:cNvPr>
          <p:cNvCxnSpPr>
            <a:cxnSpLocks/>
          </p:cNvCxnSpPr>
          <p:nvPr/>
        </p:nvCxnSpPr>
        <p:spPr>
          <a:xfrm>
            <a:off x="2763091" y="4572419"/>
            <a:ext cx="223224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314CC49-0CCA-9F17-B202-48E29588177A}"/>
              </a:ext>
            </a:extLst>
          </p:cNvPr>
          <p:cNvSpPr txBox="1"/>
          <p:nvPr/>
        </p:nvSpPr>
        <p:spPr>
          <a:xfrm>
            <a:off x="3182034" y="4197758"/>
            <a:ext cx="1377621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step.17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反應步驟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乘號 15">
            <a:extLst>
              <a:ext uri="{FF2B5EF4-FFF2-40B4-BE49-F238E27FC236}">
                <a16:creationId xmlns:a16="http://schemas.microsoft.com/office/drawing/2014/main" id="{9B703752-CFA6-CF73-90B2-20EEA79623E0}"/>
              </a:ext>
            </a:extLst>
          </p:cNvPr>
          <p:cNvSpPr/>
          <p:nvPr/>
        </p:nvSpPr>
        <p:spPr>
          <a:xfrm>
            <a:off x="7608810" y="1344709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35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070E0A8-274E-0E48-1D68-1AA3DCB17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82" y="332656"/>
            <a:ext cx="2087998" cy="1655533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57685" y="1644765"/>
            <a:ext cx="8604448" cy="296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傳送相關異常：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刮傷：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fork-5 &amp; fork-1 transfer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，無刮傷疑慮，非真因。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刮管：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boat in tube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旋轉無刮管疑慮，非真因。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磁性流體：</a:t>
            </a:r>
            <a:b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磁性流體轉子轉動時有異音抖動，卸載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motor 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以手轉動磁性流體轉子有一個角度較緊。</a:t>
            </a:r>
            <a:endParaRPr lang="en-US" altLang="zh-TW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需針對磁性流體進一步進行分析及驗證。</a:t>
            </a:r>
            <a:endParaRPr lang="en-US" altLang="zh-TW" sz="1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乘號 22">
            <a:extLst>
              <a:ext uri="{FF2B5EF4-FFF2-40B4-BE49-F238E27FC236}">
                <a16:creationId xmlns:a16="http://schemas.microsoft.com/office/drawing/2014/main" id="{84A05BF8-47A2-2DEF-78B5-A7BA2CD9B3CD}"/>
              </a:ext>
            </a:extLst>
          </p:cNvPr>
          <p:cNvSpPr/>
          <p:nvPr/>
        </p:nvSpPr>
        <p:spPr>
          <a:xfrm>
            <a:off x="8012378" y="491285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70D7F64F-426A-3F36-5B62-54AE9F0D6E6D}"/>
              </a:ext>
            </a:extLst>
          </p:cNvPr>
          <p:cNvSpPr/>
          <p:nvPr/>
        </p:nvSpPr>
        <p:spPr>
          <a:xfrm>
            <a:off x="7422522" y="55608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86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57684" y="1700808"/>
            <a:ext cx="8534796" cy="1668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磁性流體轉子簡介：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磁流體軸封是利用磁流體之特性，搭配特殊的磁路設計，使其在軸心表面形成如「液體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O-ring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之密封機構，藉此滿足軸心旋轉與腔體密封之需求。相較於其他類型之旋轉密封件，磁流體軸封具有低摩擦力、低粉塵、高密封性、高穩定性之特性，特別適合用於高科技產業之真空製程設備。透過磁流體軸封，使用者能夠將外部馬達的旋轉，傳遞至腔體內部，用以驅動各式機構動作或機械手臂。</a:t>
            </a:r>
            <a:endParaRPr lang="en-US" altLang="zh-TW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A8EECF-F1F7-F885-6B94-9BFA1A936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82" y="332656"/>
            <a:ext cx="2087998" cy="1655533"/>
          </a:xfrm>
          <a:prstGeom prst="rect">
            <a:avLst/>
          </a:prstGeom>
        </p:spPr>
      </p:pic>
      <p:sp>
        <p:nvSpPr>
          <p:cNvPr id="5" name="乘號 4">
            <a:extLst>
              <a:ext uri="{FF2B5EF4-FFF2-40B4-BE49-F238E27FC236}">
                <a16:creationId xmlns:a16="http://schemas.microsoft.com/office/drawing/2014/main" id="{EE7D83B4-0C1F-4582-CED3-875E6932ADF0}"/>
              </a:ext>
            </a:extLst>
          </p:cNvPr>
          <p:cNvSpPr/>
          <p:nvPr/>
        </p:nvSpPr>
        <p:spPr>
          <a:xfrm>
            <a:off x="8012378" y="491285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D8EB508C-7D40-0501-3D02-248FC9C8D239}"/>
              </a:ext>
            </a:extLst>
          </p:cNvPr>
          <p:cNvSpPr/>
          <p:nvPr/>
        </p:nvSpPr>
        <p:spPr>
          <a:xfrm>
            <a:off x="7422522" y="55608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4300028-5E40-3E39-84C8-7F769D2B5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639786"/>
            <a:ext cx="5242434" cy="288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DBDE25B-4DF4-9607-251D-047052DE0828}"/>
              </a:ext>
            </a:extLst>
          </p:cNvPr>
          <p:cNvSpPr txBox="1"/>
          <p:nvPr/>
        </p:nvSpPr>
        <p:spPr>
          <a:xfrm>
            <a:off x="1835696" y="3639786"/>
            <a:ext cx="1569660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磁性流體轉子剖面圖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0480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239192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808884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57685" y="1853007"/>
            <a:ext cx="8534796" cy="1022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磁性流體轉子分析：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Nitride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製程反應生成物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coating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較多，於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時皆會拆下磁性流體轉子清潔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確認是否有異音抖動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情形，如果異常即會更換之。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A8EECF-F1F7-F885-6B94-9BFA1A936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82" y="332656"/>
            <a:ext cx="2087998" cy="1655533"/>
          </a:xfrm>
          <a:prstGeom prst="rect">
            <a:avLst/>
          </a:prstGeom>
        </p:spPr>
      </p:pic>
      <p:sp>
        <p:nvSpPr>
          <p:cNvPr id="5" name="乘號 4">
            <a:extLst>
              <a:ext uri="{FF2B5EF4-FFF2-40B4-BE49-F238E27FC236}">
                <a16:creationId xmlns:a16="http://schemas.microsoft.com/office/drawing/2014/main" id="{EE7D83B4-0C1F-4582-CED3-875E6932ADF0}"/>
              </a:ext>
            </a:extLst>
          </p:cNvPr>
          <p:cNvSpPr/>
          <p:nvPr/>
        </p:nvSpPr>
        <p:spPr>
          <a:xfrm>
            <a:off x="8012378" y="491285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D8EB508C-7D40-0501-3D02-248FC9C8D239}"/>
              </a:ext>
            </a:extLst>
          </p:cNvPr>
          <p:cNvSpPr/>
          <p:nvPr/>
        </p:nvSpPr>
        <p:spPr>
          <a:xfrm>
            <a:off x="7422522" y="55608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33B1977-0DEE-2B77-80DF-F4FF34CE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49" y="3005661"/>
            <a:ext cx="3744416" cy="29377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4337093-F9F5-BBD2-12F1-5EC305039AE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3005661"/>
            <a:ext cx="3744000" cy="2937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CEEAD481-00FF-0CFB-55B5-DFB851CB47B8}"/>
              </a:ext>
            </a:extLst>
          </p:cNvPr>
          <p:cNvSpPr txBox="1"/>
          <p:nvPr/>
        </p:nvSpPr>
        <p:spPr>
          <a:xfrm>
            <a:off x="670785" y="2996952"/>
            <a:ext cx="2878032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將磁性流體表面 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coating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清除</a:t>
            </a:r>
            <a:endParaRPr 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8A5FD65-D354-5012-14CF-7DDFFB0984A1}"/>
              </a:ext>
            </a:extLst>
          </p:cNvPr>
          <p:cNvSpPr/>
          <p:nvPr/>
        </p:nvSpPr>
        <p:spPr>
          <a:xfrm>
            <a:off x="1997130" y="3615259"/>
            <a:ext cx="1512168" cy="14780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A6E3F57-A5F4-E775-7335-217E8CBFBE6F}"/>
              </a:ext>
            </a:extLst>
          </p:cNvPr>
          <p:cNvSpPr txBox="1"/>
          <p:nvPr/>
        </p:nvSpPr>
        <p:spPr>
          <a:xfrm>
            <a:off x="4707307" y="5604707"/>
            <a:ext cx="3237105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異常下機之磁性流體內部 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coating</a:t>
            </a:r>
            <a:endParaRPr 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8896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239192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808884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20833" y="1369231"/>
            <a:ext cx="8534796" cy="1022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分析結論：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爐管使用磁性流體轉子承載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Pedestal &amp; Boat &amp; 170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pcs wafer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TW" altLang="en-US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若磁性流體轉子有卡頓抖動，會導致上方 </a:t>
            </a:r>
            <a:r>
              <a:rPr lang="en-US" altLang="zh-TW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wafer </a:t>
            </a:r>
            <a:r>
              <a:rPr lang="zh-TW" altLang="en-US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 pitch</a:t>
            </a:r>
            <a:r>
              <a:rPr lang="zh-TW" altLang="en-US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摩擦，因而產生 </a:t>
            </a:r>
            <a:r>
              <a:rPr lang="en-US" altLang="zh-TW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 defect</a:t>
            </a:r>
            <a:r>
              <a:rPr lang="zh-TW" altLang="en-US" sz="1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A8EECF-F1F7-F885-6B94-9BFA1A936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82" y="332656"/>
            <a:ext cx="2087998" cy="1655533"/>
          </a:xfrm>
          <a:prstGeom prst="rect">
            <a:avLst/>
          </a:prstGeom>
        </p:spPr>
      </p:pic>
      <p:sp>
        <p:nvSpPr>
          <p:cNvPr id="5" name="乘號 4">
            <a:extLst>
              <a:ext uri="{FF2B5EF4-FFF2-40B4-BE49-F238E27FC236}">
                <a16:creationId xmlns:a16="http://schemas.microsoft.com/office/drawing/2014/main" id="{EE7D83B4-0C1F-4582-CED3-875E6932ADF0}"/>
              </a:ext>
            </a:extLst>
          </p:cNvPr>
          <p:cNvSpPr/>
          <p:nvPr/>
        </p:nvSpPr>
        <p:spPr>
          <a:xfrm>
            <a:off x="8012378" y="491285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D8EB508C-7D40-0501-3D02-248FC9C8D239}"/>
              </a:ext>
            </a:extLst>
          </p:cNvPr>
          <p:cNvSpPr/>
          <p:nvPr/>
        </p:nvSpPr>
        <p:spPr>
          <a:xfrm>
            <a:off x="7422522" y="55608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00198918-E3A9-7852-454B-96F6BF63A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8" t="9810" r="27278" b="7509"/>
          <a:stretch>
            <a:fillRect/>
          </a:stretch>
        </p:blipFill>
        <p:spPr bwMode="auto">
          <a:xfrm>
            <a:off x="5508104" y="2954697"/>
            <a:ext cx="3000994" cy="3440470"/>
          </a:xfrm>
          <a:prstGeom prst="rect">
            <a:avLst/>
          </a:prstGeom>
          <a:noFill/>
          <a:ln w="9525">
            <a:solidFill>
              <a:srgbClr val="5B524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9DDF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EC8BA"/>
                  </a:outerShdw>
                </a:effectLst>
              </a14:hiddenEffects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97BD3FC-9440-5D08-FF30-0A4ADAF7595B}"/>
              </a:ext>
            </a:extLst>
          </p:cNvPr>
          <p:cNvSpPr/>
          <p:nvPr/>
        </p:nvSpPr>
        <p:spPr>
          <a:xfrm>
            <a:off x="7020272" y="5995162"/>
            <a:ext cx="504056" cy="47592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6FF7B9-65AF-2FBC-CA60-D8271047A756}"/>
              </a:ext>
            </a:extLst>
          </p:cNvPr>
          <p:cNvSpPr txBox="1"/>
          <p:nvPr/>
        </p:nvSpPr>
        <p:spPr>
          <a:xfrm>
            <a:off x="4588231" y="6169191"/>
            <a:ext cx="1107996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磁性流體轉子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31C78E-B59B-DFD0-945B-5970881C2353}"/>
              </a:ext>
            </a:extLst>
          </p:cNvPr>
          <p:cNvCxnSpPr>
            <a:cxnSpLocks/>
          </p:cNvCxnSpPr>
          <p:nvPr/>
        </p:nvCxnSpPr>
        <p:spPr>
          <a:xfrm flipH="1">
            <a:off x="5804283" y="6316399"/>
            <a:ext cx="111013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圖片 43">
            <a:extLst>
              <a:ext uri="{FF2B5EF4-FFF2-40B4-BE49-F238E27FC236}">
                <a16:creationId xmlns:a16="http://schemas.microsoft.com/office/drawing/2014/main" id="{CA09B620-FC87-0324-121A-3F462D5B5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2708920"/>
            <a:ext cx="3024336" cy="287431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2E0EBA21-B69D-17F8-DC7E-9E884DFF09D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062446" y="2455817"/>
            <a:ext cx="3293530" cy="4119154"/>
          </a:xfrm>
          <a:prstGeom prst="rect">
            <a:avLst/>
          </a:prstGeom>
        </p:spPr>
      </p:pic>
      <p:sp>
        <p:nvSpPr>
          <p:cNvPr id="45" name="橢圓 44">
            <a:extLst>
              <a:ext uri="{FF2B5EF4-FFF2-40B4-BE49-F238E27FC236}">
                <a16:creationId xmlns:a16="http://schemas.microsoft.com/office/drawing/2014/main" id="{76ED979F-DC12-4093-BC9D-D1FB46F3817F}"/>
              </a:ext>
            </a:extLst>
          </p:cNvPr>
          <p:cNvSpPr/>
          <p:nvPr/>
        </p:nvSpPr>
        <p:spPr>
          <a:xfrm>
            <a:off x="3507662" y="2972115"/>
            <a:ext cx="392475" cy="4022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914A781-4F57-EFBA-D4EE-03E18B3EDBD7}"/>
              </a:ext>
            </a:extLst>
          </p:cNvPr>
          <p:cNvSpPr txBox="1"/>
          <p:nvPr/>
        </p:nvSpPr>
        <p:spPr>
          <a:xfrm>
            <a:off x="3923862" y="2710216"/>
            <a:ext cx="1130887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Boat pitch 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0131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F4D2FE-5FFE-D0AF-D24B-3C5DCA9BE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482" y="332656"/>
            <a:ext cx="2087998" cy="1655533"/>
          </a:xfrm>
          <a:prstGeom prst="rect">
            <a:avLst/>
          </a:prstGeom>
        </p:spPr>
      </p:pic>
      <p:sp>
        <p:nvSpPr>
          <p:cNvPr id="5" name="乘號 4">
            <a:extLst>
              <a:ext uri="{FF2B5EF4-FFF2-40B4-BE49-F238E27FC236}">
                <a16:creationId xmlns:a16="http://schemas.microsoft.com/office/drawing/2014/main" id="{B29A834F-64B0-BF3C-040F-7BC7915C2A79}"/>
              </a:ext>
            </a:extLst>
          </p:cNvPr>
          <p:cNvSpPr/>
          <p:nvPr/>
        </p:nvSpPr>
        <p:spPr>
          <a:xfrm>
            <a:off x="8012378" y="491285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乘號 6">
            <a:extLst>
              <a:ext uri="{FF2B5EF4-FFF2-40B4-BE49-F238E27FC236}">
                <a16:creationId xmlns:a16="http://schemas.microsoft.com/office/drawing/2014/main" id="{48DECB8F-CDD7-BFFF-3342-41A76C6C3FD6}"/>
              </a:ext>
            </a:extLst>
          </p:cNvPr>
          <p:cNvSpPr/>
          <p:nvPr/>
        </p:nvSpPr>
        <p:spPr>
          <a:xfrm>
            <a:off x="7422522" y="55608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51B26EA-3D12-D4E9-4B88-31B80CD8EC27}"/>
              </a:ext>
            </a:extLst>
          </p:cNvPr>
          <p:cNvSpPr txBox="1"/>
          <p:nvPr/>
        </p:nvSpPr>
        <p:spPr>
          <a:xfrm>
            <a:off x="183455" y="1672345"/>
            <a:ext cx="6822263" cy="4577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真因驗證：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更換磁性流體轉子，確認轉動時無異音及抖動。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 run N01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C1/C4/C6 particle=0/0/0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release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觀察更換磁性流體轉子後，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2024/8/31~2024/10/31 particle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穩定。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ü"/>
            </a:pP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真因為磁性流體轉子抖動產生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defect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9276C1-7F3A-E500-475A-57387B293836}"/>
              </a:ext>
            </a:extLst>
          </p:cNvPr>
          <p:cNvSpPr/>
          <p:nvPr/>
        </p:nvSpPr>
        <p:spPr>
          <a:xfrm>
            <a:off x="8154982" y="1222702"/>
            <a:ext cx="716160" cy="2448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7404A64-AFFD-9F2D-8858-2B111FBB4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95" y="3122886"/>
            <a:ext cx="8565009" cy="2678118"/>
          </a:xfrm>
          <a:prstGeom prst="rect">
            <a:avLst/>
          </a:prstGeom>
        </p:spPr>
      </p:pic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110D6014-8150-2A61-EA44-4191BFA83C2A}"/>
              </a:ext>
            </a:extLst>
          </p:cNvPr>
          <p:cNvCxnSpPr/>
          <p:nvPr/>
        </p:nvCxnSpPr>
        <p:spPr>
          <a:xfrm>
            <a:off x="2077847" y="3319820"/>
            <a:ext cx="0" cy="1944216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0D0EF2A-9D60-3B86-42B9-47F886F02113}"/>
              </a:ext>
            </a:extLst>
          </p:cNvPr>
          <p:cNvCxnSpPr/>
          <p:nvPr/>
        </p:nvCxnSpPr>
        <p:spPr>
          <a:xfrm>
            <a:off x="2478462" y="3937881"/>
            <a:ext cx="223224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844B1EB-6790-4E16-8EB0-3D4F7B4E5466}"/>
              </a:ext>
            </a:extLst>
          </p:cNvPr>
          <p:cNvSpPr txBox="1"/>
          <p:nvPr/>
        </p:nvSpPr>
        <p:spPr>
          <a:xfrm>
            <a:off x="2855805" y="3530492"/>
            <a:ext cx="1569660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更換磁性流體轉子後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BD4D63C-8FA6-A1D8-44B4-3CE916407F62}"/>
              </a:ext>
            </a:extLst>
          </p:cNvPr>
          <p:cNvSpPr/>
          <p:nvPr/>
        </p:nvSpPr>
        <p:spPr>
          <a:xfrm>
            <a:off x="1826987" y="3328529"/>
            <a:ext cx="216024" cy="2193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92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516EA4A-9540-14D6-26FC-CC304767F07A}"/>
              </a:ext>
            </a:extLst>
          </p:cNvPr>
          <p:cNvSpPr txBox="1"/>
          <p:nvPr/>
        </p:nvSpPr>
        <p:spPr>
          <a:xfrm>
            <a:off x="821356" y="1700808"/>
            <a:ext cx="8038623" cy="328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LP-N5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會有產品報廢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LP-N5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2024/8/25~2024/8/31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有多批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o’clock defect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，其中一片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defect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&gt;5%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報廢。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多批性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o’clock defect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僅發生至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2024/8/31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LP-N5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2024/8/31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 OOC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停機檢查機台。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LP-N5 2024/8/31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C4 particle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OOC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因為磁性流體異音抖動影響產品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有發現磁性流體異音抖動影響產品仍造成產品報廢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 all &lt; 200ea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 spec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，產品洽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 check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pass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particle OOC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，可以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pass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OCAP&lt;4217&gt; Nitride particle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異常處理程序無定義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OOC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需進行處理。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j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555" y="1102975"/>
            <a:ext cx="85059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4.2 </a:t>
            </a:r>
            <a:r>
              <a:rPr lang="en-US" altLang="zh-TW" sz="1600" b="1" dirty="0">
                <a:solidFill>
                  <a:srgbClr val="FF0000"/>
                </a:solidFill>
              </a:rPr>
              <a:t>Non-detection / escape root cause </a:t>
            </a:r>
            <a:r>
              <a:rPr lang="en-US" altLang="zh-TW" sz="1600" b="1" i="1" dirty="0">
                <a:solidFill>
                  <a:srgbClr val="0000FF"/>
                </a:solidFill>
              </a:rPr>
              <a:t>(Provide reason to why the current system failed to detect)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36857" y="5157192"/>
            <a:ext cx="2436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b) Conclusion</a:t>
            </a:r>
            <a:r>
              <a:rPr lang="zh-TW" altLang="en-US" sz="1600" b="1" dirty="0">
                <a:solidFill>
                  <a:srgbClr val="0000FF"/>
                </a:solidFill>
              </a:rPr>
              <a:t>：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1357834"/>
            <a:ext cx="14841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 a) 5-why: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87CEE9-4554-2CDF-2547-C160B54D8824}"/>
              </a:ext>
            </a:extLst>
          </p:cNvPr>
          <p:cNvSpPr txBox="1"/>
          <p:nvPr/>
        </p:nvSpPr>
        <p:spPr>
          <a:xfrm>
            <a:off x="939327" y="5517232"/>
            <a:ext cx="690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修改 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OCAP&lt;4217&gt;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Nitride particle 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異常處理流程，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particle OOC 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需進行 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rework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。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513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3495" y="1124744"/>
            <a:ext cx="837093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5.1 What was the chosen corrective action to correct the root cause? (Add photo or diagram where applicable.)</a:t>
            </a:r>
          </a:p>
          <a:p>
            <a:pPr lvl="1"/>
            <a:endParaRPr lang="en-US" altLang="zh-TW" sz="1400" b="1" dirty="0"/>
          </a:p>
          <a:p>
            <a:pPr lvl="1"/>
            <a:endParaRPr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52122A6-39E9-D1BD-9A57-F089B3FC9E1B}"/>
              </a:ext>
            </a:extLst>
          </p:cNvPr>
          <p:cNvSpPr txBox="1"/>
          <p:nvPr/>
        </p:nvSpPr>
        <p:spPr>
          <a:xfrm>
            <a:off x="330183" y="1785131"/>
            <a:ext cx="8604448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OCAP&lt;4217&gt; Nitride particle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異常處理流程，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particle OOC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需進行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rework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BE7DAC-70A5-E0B5-5139-E4FBC7AE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454688"/>
            <a:ext cx="5616624" cy="40866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DD12A1C-ED5D-FEC8-B14B-D140289CEDBC}"/>
              </a:ext>
            </a:extLst>
          </p:cNvPr>
          <p:cNvSpPr txBox="1"/>
          <p:nvPr/>
        </p:nvSpPr>
        <p:spPr>
          <a:xfrm>
            <a:off x="5334737" y="2446533"/>
            <a:ext cx="1037463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修改前</a:t>
            </a:r>
            <a:endParaRPr lang="en-US" altLang="zh-TW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無定義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OOC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0087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8650" y="1074222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9F0E68-3678-3E21-935C-541F7D011500}"/>
              </a:ext>
            </a:extLst>
          </p:cNvPr>
          <p:cNvSpPr txBox="1"/>
          <p:nvPr/>
        </p:nvSpPr>
        <p:spPr>
          <a:xfrm>
            <a:off x="369170" y="1556792"/>
            <a:ext cx="8604448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O.I number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G3212-3200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晶圓廠 擴散區異常處理規範內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OCAP&lt;4217&gt;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Nitride particle OOC/OOS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異常處理流程，修改後處理流程如下。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ED0543-B958-3B77-8DE5-93C01F6D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500227"/>
            <a:ext cx="5976664" cy="38561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743743C-FEC7-20C2-3235-95C9CCD4F401}"/>
              </a:ext>
            </a:extLst>
          </p:cNvPr>
          <p:cNvSpPr txBox="1"/>
          <p:nvPr/>
        </p:nvSpPr>
        <p:spPr>
          <a:xfrm>
            <a:off x="6085909" y="2491596"/>
            <a:ext cx="646331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修改後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2474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6525" y="432538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545" y="1223755"/>
            <a:ext cx="8055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6.1 For non-conformance root cause (</a:t>
            </a:r>
            <a:r>
              <a:rPr lang="en-US" altLang="zh-TW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dirty="0"/>
              <a:t>):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08126"/>
              </p:ext>
            </p:extLst>
          </p:nvPr>
        </p:nvGraphicFramePr>
        <p:xfrm>
          <a:off x="570939" y="1662756"/>
          <a:ext cx="8177526" cy="8902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4109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1616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0751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27110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1939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LP-N5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更換磁性流體轉子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</a:t>
                      </a: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 run particle=0/0/0</a:t>
                      </a: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47498" y="3158970"/>
            <a:ext cx="8505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6.2 For </a:t>
            </a:r>
            <a:r>
              <a:rPr lang="en-US" altLang="zh-TW" dirty="0">
                <a:solidFill>
                  <a:srgbClr val="FF0000"/>
                </a:solidFill>
              </a:rPr>
              <a:t>non-detection / escape root cause</a:t>
            </a:r>
            <a:endParaRPr lang="en-US" altLang="zh-TW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87600"/>
              </p:ext>
            </p:extLst>
          </p:nvPr>
        </p:nvGraphicFramePr>
        <p:xfrm>
          <a:off x="552992" y="3603133"/>
          <a:ext cx="8195472" cy="125088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5390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21684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2793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47540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08065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OCAP&lt;4217&gt; Nitride particle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異常處理流程，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particle OOC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需進行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rework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2024/11/30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G3212-3200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晶圓廠 擴散區異常處理規範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537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31</a:t>
            </a:fld>
            <a:endParaRPr lang="zh-TW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460590"/>
              </p:ext>
            </p:extLst>
          </p:nvPr>
        </p:nvGraphicFramePr>
        <p:xfrm>
          <a:off x="251520" y="2155505"/>
          <a:ext cx="8640959" cy="2191583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4281742479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569813929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161683626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235104329"/>
                    </a:ext>
                  </a:extLst>
                </a:gridCol>
                <a:gridCol w="168018">
                  <a:extLst>
                    <a:ext uri="{9D8B030D-6E8A-4147-A177-3AD203B41FA5}">
                      <a16:colId xmlns:a16="http://schemas.microsoft.com/office/drawing/2014/main" val="938082307"/>
                    </a:ext>
                  </a:extLst>
                </a:gridCol>
                <a:gridCol w="762940">
                  <a:extLst>
                    <a:ext uri="{9D8B030D-6E8A-4147-A177-3AD203B41FA5}">
                      <a16:colId xmlns:a16="http://schemas.microsoft.com/office/drawing/2014/main" val="1140651841"/>
                    </a:ext>
                  </a:extLst>
                </a:gridCol>
                <a:gridCol w="197166">
                  <a:extLst>
                    <a:ext uri="{9D8B030D-6E8A-4147-A177-3AD203B41FA5}">
                      <a16:colId xmlns:a16="http://schemas.microsoft.com/office/drawing/2014/main" val="1997588725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4218907990"/>
                    </a:ext>
                  </a:extLst>
                </a:gridCol>
                <a:gridCol w="984111">
                  <a:extLst>
                    <a:ext uri="{9D8B030D-6E8A-4147-A177-3AD203B41FA5}">
                      <a16:colId xmlns:a16="http://schemas.microsoft.com/office/drawing/2014/main" val="2170847209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620016126"/>
                    </a:ext>
                  </a:extLst>
                </a:gridCol>
                <a:gridCol w="168017">
                  <a:extLst>
                    <a:ext uri="{9D8B030D-6E8A-4147-A177-3AD203B41FA5}">
                      <a16:colId xmlns:a16="http://schemas.microsoft.com/office/drawing/2014/main" val="278200256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1105303017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182701899"/>
                    </a:ext>
                  </a:extLst>
                </a:gridCol>
                <a:gridCol w="1320149">
                  <a:extLst>
                    <a:ext uri="{9D8B030D-6E8A-4147-A177-3AD203B41FA5}">
                      <a16:colId xmlns:a16="http://schemas.microsoft.com/office/drawing/2014/main" val="2378533175"/>
                    </a:ext>
                  </a:extLst>
                </a:gridCol>
                <a:gridCol w="308600">
                  <a:extLst>
                    <a:ext uri="{9D8B030D-6E8A-4147-A177-3AD203B41FA5}">
                      <a16:colId xmlns:a16="http://schemas.microsoft.com/office/drawing/2014/main" val="2035519991"/>
                    </a:ext>
                  </a:extLst>
                </a:gridCol>
                <a:gridCol w="308606">
                  <a:extLst>
                    <a:ext uri="{9D8B030D-6E8A-4147-A177-3AD203B41FA5}">
                      <a16:colId xmlns:a16="http://schemas.microsoft.com/office/drawing/2014/main" val="4031166011"/>
                    </a:ext>
                  </a:extLst>
                </a:gridCol>
                <a:gridCol w="308606">
                  <a:extLst>
                    <a:ext uri="{9D8B030D-6E8A-4147-A177-3AD203B41FA5}">
                      <a16:colId xmlns:a16="http://schemas.microsoft.com/office/drawing/2014/main" val="539692759"/>
                    </a:ext>
                  </a:extLst>
                </a:gridCol>
                <a:gridCol w="154307">
                  <a:extLst>
                    <a:ext uri="{9D8B030D-6E8A-4147-A177-3AD203B41FA5}">
                      <a16:colId xmlns:a16="http://schemas.microsoft.com/office/drawing/2014/main" val="4196876526"/>
                    </a:ext>
                  </a:extLst>
                </a:gridCol>
              </a:tblGrid>
              <a:tr h="1026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Item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Potential 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Failure Mode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Potential 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Effect(s) of Failure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S.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E.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V.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C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L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A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S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S.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Potential cause(s) / mechanism(s) of Failure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O.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C.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C.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Current Process Control Prevention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effectLst/>
                        </a:rPr>
                        <a:t>Current Process Controls Detection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D.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E.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T.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R.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P.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N.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Recommended 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Action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Responsibility &amp; Target Completion Date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Action Results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803040"/>
                  </a:ext>
                </a:extLst>
              </a:tr>
              <a:tr h="4076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Process, Function, Requirements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Actions Taken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S.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E.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V.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O.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C.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C.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</a:rPr>
                        <a:t>D.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E.</a:t>
                      </a:r>
                      <a:br>
                        <a:rPr lang="en-US" sz="800" kern="0">
                          <a:effectLst/>
                        </a:rPr>
                      </a:br>
                      <a:r>
                        <a:rPr lang="en-US" sz="800" kern="0">
                          <a:effectLst/>
                        </a:rPr>
                        <a:t>T.</a:t>
                      </a:r>
                      <a:endParaRPr lang="zh-TW" sz="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effectLst/>
                        </a:rPr>
                        <a:t>R.</a:t>
                      </a:r>
                      <a:br>
                        <a:rPr lang="en-US" sz="800" kern="0" dirty="0">
                          <a:effectLst/>
                        </a:rPr>
                      </a:br>
                      <a:r>
                        <a:rPr lang="en-US" sz="800" kern="0" dirty="0">
                          <a:effectLst/>
                        </a:rPr>
                        <a:t>P.</a:t>
                      </a:r>
                      <a:br>
                        <a:rPr lang="en-US" sz="800" kern="0" dirty="0">
                          <a:effectLst/>
                        </a:rPr>
                      </a:br>
                      <a:r>
                        <a:rPr lang="en-US" sz="800" kern="0" dirty="0">
                          <a:effectLst/>
                        </a:rPr>
                        <a:t>N.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796289"/>
                  </a:ext>
                </a:extLst>
              </a:tr>
              <a:tr h="15552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395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395" y="1484784"/>
            <a:ext cx="409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FMEA new item:</a:t>
            </a:r>
            <a:endParaRPr lang="zh-TW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7E3434-BCE3-43BE-9CC4-76BE6BA86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25" y="432538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3202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2377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7.1 Systemic Actions: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42819"/>
              </p:ext>
            </p:extLst>
          </p:nvPr>
        </p:nvGraphicFramePr>
        <p:xfrm>
          <a:off x="431540" y="1863117"/>
          <a:ext cx="8388932" cy="341089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755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97802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5876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019260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55337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559362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Factor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Actions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Who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When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Remarks / Evidence</a:t>
                      </a:r>
                      <a:endParaRPr lang="zh-TW" sz="14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(Document/Spec/Chart #)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Practices/ Training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更換磁性流體轉子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2024/8/31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 run particle=0/0/0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Work Instruction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修改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OCAP&lt;4217&gt; Nitride particle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異常處理流程，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particle OOC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需進行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rework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。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2024/11/30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G3212-3200 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晶圓廠 擴散區異常處理規範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89561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Specification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6251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Control Plan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endParaRPr lang="zh-TW" alt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42735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r>
                        <a:rPr lang="en-US" sz="1400" dirty="0">
                          <a:effectLst/>
                        </a:rPr>
                        <a:t> FMEA 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must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2319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Error Proofing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NA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66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392511"/>
              </p:ext>
            </p:extLst>
          </p:nvPr>
        </p:nvGraphicFramePr>
        <p:xfrm>
          <a:off x="431540" y="1987338"/>
          <a:ext cx="8280919" cy="1199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4020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668408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0736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364943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</a:tblGrid>
              <a:tr h="4407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Machine/ Process/ Product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Actions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</a:rPr>
                        <a:t>Responsible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Due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OCAP&lt;4217&gt; Nitride particle </a:t>
                      </a:r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異常處理流程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OCAP&lt;4217&gt; Nitride particle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異常處理流程，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particle OOC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需進行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rework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2024/11/30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206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07988" y="439837"/>
            <a:ext cx="760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8. Congratulate the Team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1188" y="998538"/>
            <a:ext cx="76073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  <a:ea typeface="新細明體" pitchFamily="18" charset="-120"/>
              </a:rPr>
              <a:t>Thanks for every member helped in this case.</a:t>
            </a:r>
            <a:endParaRPr lang="zh-TW" altLang="en-US" sz="2000" dirty="0">
              <a:solidFill>
                <a:srgbClr val="0000FF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151" y="1853825"/>
            <a:ext cx="29899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0">
              <a:lnSpc>
                <a:spcPct val="150000"/>
              </a:lnSpc>
              <a:spcAft>
                <a:spcPts val="0"/>
              </a:spcAft>
            </a:pPr>
            <a:r>
              <a:rPr lang="en-US" altLang="zh-TW" b="1" dirty="0">
                <a:latin typeface="Calibri" panose="020F0502020204030204" pitchFamily="34" charset="0"/>
                <a:ea typeface="SimSun" panose="02010600030101010101" pitchFamily="2" charset="-122"/>
              </a:rPr>
              <a:t>Reviewed and Approved by:</a:t>
            </a:r>
            <a:endParaRPr lang="zh-TW" altLang="zh-TW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50588"/>
              </p:ext>
            </p:extLst>
          </p:nvPr>
        </p:nvGraphicFramePr>
        <p:xfrm>
          <a:off x="591954" y="2547465"/>
          <a:ext cx="7009641" cy="147599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36547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336547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336547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2. 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3.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S200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李明驥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DEPARTMENT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2024/11/11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陳永昌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SECTION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2024/11/11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邱尊護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SECTION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2024/11/11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13970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01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e060dc-8471-452a-be78-891f5bd407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499B12D3BDD2F49A326658DE352AE8B" ma:contentTypeVersion="13" ma:contentTypeDescription="建立新的文件。" ma:contentTypeScope="" ma:versionID="bf3407d546762e2f1ac0f3b433cd114d">
  <xsd:schema xmlns:xsd="http://www.w3.org/2001/XMLSchema" xmlns:xs="http://www.w3.org/2001/XMLSchema" xmlns:p="http://schemas.microsoft.com/office/2006/metadata/properties" xmlns:ns3="d0e060dc-8471-452a-be78-891f5bd40791" xmlns:ns4="4af2d00d-3b65-4bb4-b897-f6f95e2f5f12" targetNamespace="http://schemas.microsoft.com/office/2006/metadata/properties" ma:root="true" ma:fieldsID="c6aeaab7c3bec291b0e7270dff689555" ns3:_="" ns4:_="">
    <xsd:import namespace="d0e060dc-8471-452a-be78-891f5bd40791"/>
    <xsd:import namespace="4af2d00d-3b65-4bb4-b897-f6f95e2f5f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e060dc-8471-452a-be78-891f5bd40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2d00d-3b65-4bb4-b897-f6f95e2f5f1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共用提示雜湊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4B34AF-550D-4C92-BB3A-AE8B9AB4904C}">
  <ds:schemaRefs>
    <ds:schemaRef ds:uri="http://www.w3.org/XML/1998/namespace"/>
    <ds:schemaRef ds:uri="http://purl.org/dc/dcmitype/"/>
    <ds:schemaRef ds:uri="http://purl.org/dc/terms/"/>
    <ds:schemaRef ds:uri="d0e060dc-8471-452a-be78-891f5bd40791"/>
    <ds:schemaRef ds:uri="http://schemas.microsoft.com/office/2006/metadata/properties"/>
    <ds:schemaRef ds:uri="4af2d00d-3b65-4bb4-b897-f6f95e2f5f12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1F41721-8BA7-426A-8F1E-0C7B8587C6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4A9DEA-AE9A-40FD-9156-8889D7DB48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e060dc-8471-452a-be78-891f5bd40791"/>
    <ds:schemaRef ds:uri="4af2d00d-3b65-4bb4-b897-f6f95e2f5f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7921</TotalTime>
  <Words>3041</Words>
  <Application>Microsoft Office PowerPoint</Application>
  <PresentationFormat>如螢幕大小 (4:3)</PresentationFormat>
  <Paragraphs>596</Paragraphs>
  <Slides>35</Slides>
  <Notes>2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2" baseType="lpstr">
      <vt:lpstr>微軟正黑體</vt:lpstr>
      <vt:lpstr>標楷體</vt:lpstr>
      <vt:lpstr>Arial</vt:lpstr>
      <vt:lpstr>Calibri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326</cp:revision>
  <cp:lastPrinted>2020-06-01T03:58:51Z</cp:lastPrinted>
  <dcterms:created xsi:type="dcterms:W3CDTF">2012-03-21T02:57:47Z</dcterms:created>
  <dcterms:modified xsi:type="dcterms:W3CDTF">2024-11-07T03:18:35Z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0x0101001499B12D3BDD2F49A326658DE352AE8B</vt:lpwstr>
  </property>
</Properties>
</file>