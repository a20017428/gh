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346" r:id="rId7"/>
    <p:sldId id="391" r:id="rId8"/>
    <p:sldId id="397" r:id="rId9"/>
    <p:sldId id="394" r:id="rId10"/>
    <p:sldId id="392" r:id="rId11"/>
    <p:sldId id="393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600"/>
    <a:srgbClr val="FC2110"/>
    <a:srgbClr val="0000FF"/>
    <a:srgbClr val="E61C0E"/>
    <a:srgbClr val="FFFF99"/>
    <a:srgbClr val="D0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 autoAdjust="0"/>
    <p:restoredTop sz="98207" autoAdjust="0"/>
  </p:normalViewPr>
  <p:slideViewPr>
    <p:cSldViewPr showGuides="1">
      <p:cViewPr varScale="1">
        <p:scale>
          <a:sx n="106" d="100"/>
          <a:sy n="106" d="100"/>
        </p:scale>
        <p:origin x="1854" y="108"/>
      </p:cViewPr>
      <p:guideLst>
        <p:guide orient="horz" pos="43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FE536D5D-4A10-474D-9A57-9CE69273F75E}" type="datetimeFigureOut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F7031D16-7EE7-44BB-B348-E4812D10B50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36889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CB77A8D-146A-4E31-BF8B-89BD71021044}" type="datetimeFigureOut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D275FC39-0E56-412E-BF18-195F09853B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24600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7412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283D49B-40DF-439A-BC98-D9EE1F9C4AA8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B01F183-C53E-43E8-9270-650F8A785315}" type="slidenum">
              <a:rPr lang="zh-TW" altLang="en-US" smtClean="0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  <p:sp>
        <p:nvSpPr>
          <p:cNvPr id="17414" name="Footer Placeholder 1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3272F98-8E77-4936-83B9-D684CAF586B3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668E336-2E00-4A9F-AEF2-73F1A523B8FB}" type="slidenum">
              <a:rPr lang="zh-TW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18438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FC73298-31DF-4737-923B-E2FCB5EBAA29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1606CAD-1406-4DC3-8AB6-DE8837AE16B5}" type="slidenum">
              <a:rPr lang="zh-TW" altLang="en-US" smtClean="0"/>
              <a:pPr eaLnBrk="1" hangingPunct="1">
                <a:spcBef>
                  <a:spcPct val="0"/>
                </a:spcBef>
              </a:pPr>
              <a:t>2</a:t>
            </a:fld>
            <a:endParaRPr lang="zh-TW" altLang="en-US"/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E01233F-6C5D-4711-BB7F-EBE9AE1DD0E4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5CAC72B-18C3-4722-80D2-08DB11D28DFB}" type="slidenum">
              <a:rPr lang="zh-TW" altLang="en-US" smtClean="0"/>
              <a:pPr eaLnBrk="1" hangingPunct="1">
                <a:spcBef>
                  <a:spcPct val="0"/>
                </a:spcBef>
              </a:pPr>
              <a:t>3</a:t>
            </a:fld>
            <a:endParaRPr lang="zh-TW" altLang="en-US"/>
          </a:p>
        </p:txBody>
      </p:sp>
      <p:sp>
        <p:nvSpPr>
          <p:cNvPr id="20486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49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E01233F-6C5D-4711-BB7F-EBE9AE1DD0E4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5CAC72B-18C3-4722-80D2-08DB11D28DFB}" type="slidenum">
              <a:rPr lang="zh-TW" altLang="en-US" smtClean="0"/>
              <a:pPr eaLnBrk="1" hangingPunct="1">
                <a:spcBef>
                  <a:spcPct val="0"/>
                </a:spcBef>
              </a:pPr>
              <a:t>4</a:t>
            </a:fld>
            <a:endParaRPr lang="zh-TW" altLang="en-US"/>
          </a:p>
        </p:txBody>
      </p:sp>
      <p:sp>
        <p:nvSpPr>
          <p:cNvPr id="20486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504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E01233F-6C5D-4711-BB7F-EBE9AE1DD0E4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5CAC72B-18C3-4722-80D2-08DB11D28DFB}" type="slidenum">
              <a:rPr lang="zh-TW" altLang="en-US" smtClean="0"/>
              <a:pPr eaLnBrk="1" hangingPunct="1">
                <a:spcBef>
                  <a:spcPct val="0"/>
                </a:spcBef>
              </a:pPr>
              <a:t>5</a:t>
            </a:fld>
            <a:endParaRPr lang="zh-TW" altLang="en-US"/>
          </a:p>
        </p:txBody>
      </p:sp>
      <p:sp>
        <p:nvSpPr>
          <p:cNvPr id="20486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956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1508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1989A9B-BE45-4073-B261-C0EC2EDEB1D6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D4B2ADB-6A32-47B4-9345-5368877E8054}" type="slidenum">
              <a:rPr lang="zh-TW" altLang="en-US" smtClean="0"/>
              <a:pPr eaLnBrk="1" hangingPunct="1">
                <a:spcBef>
                  <a:spcPct val="0"/>
                </a:spcBef>
              </a:pPr>
              <a:t>6</a:t>
            </a:fld>
            <a:endParaRPr lang="zh-TW" altLang="en-US"/>
          </a:p>
        </p:txBody>
      </p:sp>
      <p:sp>
        <p:nvSpPr>
          <p:cNvPr id="21510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57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532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809A8F6-2C60-4700-A306-3F05F8D12CEE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1163C04-1F54-46F8-8EB5-0F4D21E995C1}" type="slidenum">
              <a:rPr lang="zh-TW" altLang="en-US" smtClean="0"/>
              <a:pPr eaLnBrk="1" hangingPunct="1">
                <a:spcBef>
                  <a:spcPct val="0"/>
                </a:spcBef>
              </a:pPr>
              <a:t>7</a:t>
            </a:fld>
            <a:endParaRPr lang="zh-TW" altLang="en-US"/>
          </a:p>
        </p:txBody>
      </p:sp>
      <p:sp>
        <p:nvSpPr>
          <p:cNvPr id="22534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009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E3CF896-2603-4D52-998D-BB7746549DAC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48B8125-098C-4F3C-A53C-53C640575B9B}" type="slidenum">
              <a:rPr lang="zh-TW" altLang="en-US" smtClean="0"/>
              <a:pPr eaLnBrk="1" hangingPunct="1">
                <a:spcBef>
                  <a:spcPct val="0"/>
                </a:spcBef>
              </a:pPr>
              <a:t>8</a:t>
            </a:fld>
            <a:endParaRPr lang="zh-TW" altLang="en-US"/>
          </a:p>
        </p:txBody>
      </p:sp>
      <p:sp>
        <p:nvSpPr>
          <p:cNvPr id="23558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580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2EBD2AB-9DAE-4BC2-859D-DFBD1469AB38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5679488-F47A-4343-A258-B6F80A3BBF26}" type="slidenum">
              <a:rPr lang="zh-TW" altLang="en-US" smtClean="0"/>
              <a:pPr eaLnBrk="1" hangingPunct="1">
                <a:spcBef>
                  <a:spcPct val="0"/>
                </a:spcBef>
              </a:pPr>
              <a:t>9</a:t>
            </a:fld>
            <a:endParaRPr lang="zh-TW" altLang="en-US"/>
          </a:p>
        </p:txBody>
      </p:sp>
      <p:sp>
        <p:nvSpPr>
          <p:cNvPr id="2458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54340EC-7F23-4F37-9573-D11AF1EBAC09}" type="datetime1">
              <a:rPr lang="zh-TW" altLang="en-US" smtClean="0"/>
              <a:pPr eaLnBrk="1" hangingPunct="1">
                <a:spcBef>
                  <a:spcPct val="0"/>
                </a:spcBef>
              </a:pPr>
              <a:t>2025/9/30</a:t>
            </a:fld>
            <a:endParaRPr lang="zh-TW" altLang="en-US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9A88345-F4B6-4693-A259-48C8F3BFCD1B}" type="slidenum">
              <a:rPr lang="zh-TW" altLang="en-US" smtClean="0"/>
              <a:pPr eaLnBrk="1" hangingPunct="1">
                <a:spcBef>
                  <a:spcPct val="0"/>
                </a:spcBef>
              </a:pPr>
              <a:t>10</a:t>
            </a:fld>
            <a:endParaRPr lang="zh-TW" altLang="en-US"/>
          </a:p>
        </p:txBody>
      </p:sp>
      <p:sp>
        <p:nvSpPr>
          <p:cNvPr id="25606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744"/>
            <a:ext cx="7772400" cy="1296144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2976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72F3D856-AFF1-4616-A471-EF07D3AAAA7D}" type="datetime1">
              <a:rPr lang="zh-TW" altLang="en-US"/>
              <a:pPr>
                <a:defRPr/>
              </a:pPr>
              <a:t>2025/9/30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FEB971A1-CD22-4C4D-9E57-C1AFEF9F4910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49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9CC1B-1E3B-46F2-8F0D-55946A0C65FD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052D4-10CD-42B4-B963-4CDBB7ED148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714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EE919-8002-4069-B77F-46FB7508B877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4EF93-40A0-4B7D-8F8E-BC500F185F84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5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B6A34-15A6-4782-A8AF-8FC87640654D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F1C61-D1A1-4F16-B8D4-84F693055777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622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D1323-F569-40F0-A11F-09CC396784FC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861C4-CE9B-4497-9C69-73518BFBA2A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894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8A89C-EFA2-4C2F-9435-40BD41CCD0DD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A258B-E4D8-4A99-B504-06F83824AF9E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522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B6475-0C48-44CE-9667-957348347A8A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F76F3-FB7A-4DA2-ACD0-07684F1ABFD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811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28383-7510-4106-A204-961078C95863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D4A187-9E59-4BA8-B99F-8DF1CAFE1DB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868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F0C4F-FF3D-4895-9E8B-78A2FC8726FC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872FE-4F58-4E52-BBEB-DAA54F4B74F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907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B8A85-128F-4380-8739-FB1FDE3397D5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371D9-0563-4BAF-9BDB-38744F5AFC5B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519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415B1-ABFC-47A3-944F-2C7E515FDC4F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45320-DCF5-4484-B986-DACD0721CB0E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721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D0C018-3748-4B58-950F-777A8FF45690}" type="datetime1">
              <a:rPr lang="zh-TW" altLang="en-US"/>
              <a:pPr>
                <a:defRPr/>
              </a:pPr>
              <a:t>2025/9/30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62197F8-017C-4902-BDB0-3BB0A2E49054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79512" y="1556792"/>
            <a:ext cx="8712968" cy="864096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20250927 LP-T1 C6 PTC OOS</a:t>
            </a:r>
            <a:endParaRPr lang="zh-TW" altLang="en-US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D1E011-399C-4433-A83F-38A148A1BCC4}" type="slidenum">
              <a:rPr lang="zh-TW" altLang="en-US"/>
              <a:pPr>
                <a:defRPr/>
              </a:pPr>
              <a:t>1</a:t>
            </a:fld>
            <a:endParaRPr lang="zh-TW" altLang="en-US" dirty="0"/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269305" y="0"/>
            <a:ext cx="7255023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78999"/>
                </a:srgbClr>
              </a:gs>
              <a:gs pos="50000">
                <a:schemeClr val="bg1">
                  <a:alpha val="72000"/>
                </a:schemeClr>
              </a:gs>
              <a:gs pos="100000">
                <a:srgbClr val="FF9900">
                  <a:alpha val="78999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1. Form the Team</a:t>
            </a:r>
            <a:b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成立小組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通常是跨功能性的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由相關人員組成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8772562" y="439601"/>
            <a:ext cx="371438" cy="864096"/>
            <a:chOff x="4175956" y="2024844"/>
            <a:chExt cx="360040" cy="1152128"/>
          </a:xfr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</p:grpSpPr>
        <p:sp>
          <p:nvSpPr>
            <p:cNvPr id="5" name="流程圖: 人工作業 4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175956" y="2276872"/>
              <a:ext cx="360040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D1</a:t>
              </a:r>
              <a:endParaRPr lang="zh-TW" altLang="en-US" dirty="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8778261" y="1231689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11" name="流程圖: 人工作業 10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D2</a:t>
              </a:r>
              <a:endParaRPr lang="zh-TW" altLang="en-US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8778261" y="2023777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14" name="流程圖: 人工作業 13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D3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8778261" y="2815865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17" name="流程圖: 人工作業 16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D4</a:t>
              </a:r>
              <a:endParaRPr lang="zh-TW" altLang="en-US" dirty="0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8772562" y="3607953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20" name="流程圖: 人工作業 19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D5</a:t>
              </a:r>
              <a:endParaRPr lang="zh-TW" altLang="en-US" dirty="0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8778261" y="4400041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23" name="流程圖: 人工作業 22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D6</a:t>
              </a:r>
              <a:endParaRPr lang="zh-TW" altLang="en-US" dirty="0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8778261" y="5191422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26" name="流程圖: 人工作業 25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D7</a:t>
              </a:r>
              <a:endParaRPr lang="zh-TW" altLang="en-US" dirty="0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8778261" y="5984217"/>
            <a:ext cx="416552" cy="864096"/>
            <a:chOff x="4125144" y="2024844"/>
            <a:chExt cx="461665" cy="1152128"/>
          </a:xfrm>
          <a:solidFill>
            <a:schemeClr val="bg1"/>
          </a:solidFill>
        </p:grpSpPr>
        <p:sp>
          <p:nvSpPr>
            <p:cNvPr id="29" name="流程圖: 人工作業 28"/>
            <p:cNvSpPr/>
            <p:nvPr/>
          </p:nvSpPr>
          <p:spPr>
            <a:xfrm rot="5400000">
              <a:off x="3779912" y="2420888"/>
              <a:ext cx="1152128" cy="360040"/>
            </a:xfrm>
            <a:prstGeom prst="flowChartManualOperation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4125144" y="2276872"/>
              <a:ext cx="461665" cy="646331"/>
            </a:xfrm>
            <a:prstGeom prst="rect">
              <a:avLst/>
            </a:prstGeom>
            <a:noFill/>
            <a:ln w="3175">
              <a:noFill/>
            </a:ln>
          </p:spPr>
          <p:txBody>
            <a:bodyPr vert="vert27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TW" dirty="0"/>
                <a:t>D8</a:t>
              </a:r>
              <a:endParaRPr lang="zh-TW" altLang="en-US" dirty="0"/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1DACDF-20CA-4989-8153-AA3341A476C7}" type="slidenum">
              <a:rPr lang="zh-TW" altLang="en-US"/>
              <a:pPr>
                <a:defRPr/>
              </a:pPr>
              <a:t>2</a:t>
            </a:fld>
            <a:endParaRPr lang="zh-TW" altLang="en-US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70000"/>
                </a:srgbClr>
              </a:gs>
              <a:gs pos="50000">
                <a:schemeClr val="bg1"/>
              </a:gs>
              <a:gs pos="100000">
                <a:srgbClr val="FF9900">
                  <a:alpha val="70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+mn-ea"/>
                <a:ea typeface="+mn-ea"/>
              </a:rPr>
              <a:t>Discipline 2. Describe the Problem </a:t>
            </a:r>
            <a:br>
              <a:rPr lang="en-US" altLang="zh-TW" b="1" dirty="0">
                <a:latin typeface="+mn-ea"/>
                <a:ea typeface="+mn-ea"/>
              </a:rPr>
            </a:br>
            <a:r>
              <a:rPr lang="en-US" altLang="zh-TW" b="1" dirty="0">
                <a:latin typeface="+mn-ea"/>
                <a:ea typeface="+mn-ea"/>
              </a:rPr>
              <a:t>                      </a:t>
            </a:r>
            <a:r>
              <a:rPr lang="zh-TW" altLang="en-US" b="1" dirty="0">
                <a:latin typeface="+mn-ea"/>
                <a:ea typeface="+mn-ea"/>
              </a:rPr>
              <a:t>現況分析</a:t>
            </a:r>
            <a:r>
              <a:rPr lang="en-US" altLang="zh-TW" b="1" dirty="0">
                <a:latin typeface="+mn-ea"/>
                <a:ea typeface="+mn-ea"/>
              </a:rPr>
              <a:t>:</a:t>
            </a:r>
            <a:r>
              <a:rPr lang="zh-TW" altLang="en-US" b="1" dirty="0">
                <a:latin typeface="+mn-ea"/>
                <a:ea typeface="+mn-ea"/>
              </a:rPr>
              <a:t>將問題儘可能量化清楚</a:t>
            </a: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250056" y="686894"/>
            <a:ext cx="8461375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  <a:tabLst>
                <a:tab pos="1255713" algn="l"/>
              </a:tabLst>
              <a:defRPr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 marL="0" indent="0">
              <a:spcBef>
                <a:spcPct val="50000"/>
              </a:spcBef>
              <a:tabLst>
                <a:tab pos="1255713" algn="l"/>
              </a:tabLst>
              <a:defRPr/>
            </a:pP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50000"/>
              </a:spcBef>
              <a:tabLst>
                <a:tab pos="1255713" algn="l"/>
              </a:tabLst>
              <a:defRPr/>
            </a:pP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50000"/>
              </a:spcBef>
              <a:tabLst>
                <a:tab pos="1255713" algn="l"/>
              </a:tabLst>
              <a:defRPr/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事件說明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run LT1T05 C6 PTC=405 OOS</a:t>
            </a:r>
          </a:p>
          <a:p>
            <a:pPr marL="0" indent="0">
              <a:spcBef>
                <a:spcPct val="50000"/>
              </a:spcBef>
              <a:tabLst>
                <a:tab pos="1255713" algn="l"/>
              </a:tabLst>
              <a:defRPr/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Impact :  6 Lots/128 pcs</a:t>
            </a:r>
          </a:p>
          <a:p>
            <a:pPr marL="0" indent="0">
              <a:spcBef>
                <a:spcPct val="50000"/>
              </a:spcBef>
              <a:tabLst>
                <a:tab pos="1255713" algn="l"/>
              </a:tabLst>
              <a:defRPr/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Machine : LP-T1</a:t>
            </a:r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2293144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6" name="流程圖: 人工作業 15"/>
          <p:cNvSpPr/>
          <p:nvPr/>
        </p:nvSpPr>
        <p:spPr>
          <a:xfrm rot="5400000">
            <a:off x="8554244" y="30853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9482" y="3877469"/>
            <a:ext cx="863600" cy="325437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32211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22" name="流程圖: 人工作業 21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25" name="流程圖: 人工作業 24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28" name="流程圖: 人工作業 27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31" name="流程圖: 人工作業 30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628E442-4274-D94D-937B-A1D2DC78C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725901"/>
              </p:ext>
            </p:extLst>
          </p:nvPr>
        </p:nvGraphicFramePr>
        <p:xfrm>
          <a:off x="458924" y="1098054"/>
          <a:ext cx="8073514" cy="2042915"/>
        </p:xfrm>
        <a:graphic>
          <a:graphicData uri="http://schemas.openxmlformats.org/drawingml/2006/table">
            <a:tbl>
              <a:tblPr/>
              <a:tblGrid>
                <a:gridCol w="1466216">
                  <a:extLst>
                    <a:ext uri="{9D8B030D-6E8A-4147-A177-3AD203B41FA5}">
                      <a16:colId xmlns:a16="http://schemas.microsoft.com/office/drawing/2014/main" val="3667883106"/>
                    </a:ext>
                  </a:extLst>
                </a:gridCol>
                <a:gridCol w="582009">
                  <a:extLst>
                    <a:ext uri="{9D8B030D-6E8A-4147-A177-3AD203B41FA5}">
                      <a16:colId xmlns:a16="http://schemas.microsoft.com/office/drawing/2014/main" val="3704642698"/>
                    </a:ext>
                  </a:extLst>
                </a:gridCol>
                <a:gridCol w="701396">
                  <a:extLst>
                    <a:ext uri="{9D8B030D-6E8A-4147-A177-3AD203B41FA5}">
                      <a16:colId xmlns:a16="http://schemas.microsoft.com/office/drawing/2014/main" val="1064699496"/>
                    </a:ext>
                  </a:extLst>
                </a:gridCol>
                <a:gridCol w="462623">
                  <a:extLst>
                    <a:ext uri="{9D8B030D-6E8A-4147-A177-3AD203B41FA5}">
                      <a16:colId xmlns:a16="http://schemas.microsoft.com/office/drawing/2014/main" val="1189340896"/>
                    </a:ext>
                  </a:extLst>
                </a:gridCol>
                <a:gridCol w="928977">
                  <a:extLst>
                    <a:ext uri="{9D8B030D-6E8A-4147-A177-3AD203B41FA5}">
                      <a16:colId xmlns:a16="http://schemas.microsoft.com/office/drawing/2014/main" val="2725776011"/>
                    </a:ext>
                  </a:extLst>
                </a:gridCol>
                <a:gridCol w="1331906">
                  <a:extLst>
                    <a:ext uri="{9D8B030D-6E8A-4147-A177-3AD203B41FA5}">
                      <a16:colId xmlns:a16="http://schemas.microsoft.com/office/drawing/2014/main" val="1300081155"/>
                    </a:ext>
                  </a:extLst>
                </a:gridCol>
                <a:gridCol w="776012">
                  <a:extLst>
                    <a:ext uri="{9D8B030D-6E8A-4147-A177-3AD203B41FA5}">
                      <a16:colId xmlns:a16="http://schemas.microsoft.com/office/drawing/2014/main" val="2707353491"/>
                    </a:ext>
                  </a:extLst>
                </a:gridCol>
                <a:gridCol w="526048">
                  <a:extLst>
                    <a:ext uri="{9D8B030D-6E8A-4147-A177-3AD203B41FA5}">
                      <a16:colId xmlns:a16="http://schemas.microsoft.com/office/drawing/2014/main" val="1745088928"/>
                    </a:ext>
                  </a:extLst>
                </a:gridCol>
                <a:gridCol w="895398">
                  <a:extLst>
                    <a:ext uri="{9D8B030D-6E8A-4147-A177-3AD203B41FA5}">
                      <a16:colId xmlns:a16="http://schemas.microsoft.com/office/drawing/2014/main" val="2668694910"/>
                    </a:ext>
                  </a:extLst>
                </a:gridCol>
                <a:gridCol w="402929">
                  <a:extLst>
                    <a:ext uri="{9D8B030D-6E8A-4147-A177-3AD203B41FA5}">
                      <a16:colId xmlns:a16="http://schemas.microsoft.com/office/drawing/2014/main" val="462262276"/>
                    </a:ext>
                  </a:extLst>
                </a:gridCol>
              </a:tblGrid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上貨時間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Product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CurrOper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900625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25371090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Y6N04X    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G046CI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137065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25370170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Y6F01X003 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P046CI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26400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25380040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Y5V56X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U046WI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38502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25380030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Y5V56X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U046WI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423407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S636929A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BA5D10    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C031RI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282999"/>
                  </a:ext>
                </a:extLst>
              </a:tr>
              <a:tr h="291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2025/9/27 16:08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LT1T05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25361140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Y5Y10Y     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L041SI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450539"/>
                  </a:ext>
                </a:extLst>
              </a:tr>
            </a:tbl>
          </a:graphicData>
        </a:graphic>
      </p:graphicFrame>
      <p:pic>
        <p:nvPicPr>
          <p:cNvPr id="10" name="圖片 9" descr="一張含有 螢幕擷取畫面, 文字, 軟體, 繪圖軟體 的圖片&#10;&#10;自動產生的描述">
            <a:extLst>
              <a:ext uri="{FF2B5EF4-FFF2-40B4-BE49-F238E27FC236}">
                <a16:creationId xmlns:a16="http://schemas.microsoft.com/office/drawing/2014/main" id="{4691A032-1B2B-BAE9-2BB9-84D199A2F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999" y="3719819"/>
            <a:ext cx="5400598" cy="28541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446645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2C7CD-B94E-4527-A639-AA8FC39C22E5}" type="slidenum">
              <a:rPr lang="zh-TW" altLang="en-US"/>
              <a:pPr>
                <a:defRPr/>
              </a:pPr>
              <a:t>3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70000"/>
                </a:srgbClr>
              </a:gs>
              <a:gs pos="50000">
                <a:schemeClr val="bg1"/>
              </a:gs>
              <a:gs pos="100000">
                <a:srgbClr val="FF9900">
                  <a:alpha val="70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3. Contain the Problem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緊急對策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對於解決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的行動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包含清庫存等 </a:t>
            </a:r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30853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49482" y="3877469"/>
            <a:ext cx="863600" cy="325437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21" name="流程圖: 人工作業 20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23" name="流程圖: 人工作業 22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B00C81-138B-1D66-4C1D-23EE634B9A22}"/>
              </a:ext>
            </a:extLst>
          </p:cNvPr>
          <p:cNvSpPr txBox="1"/>
          <p:nvPr/>
        </p:nvSpPr>
        <p:spPr>
          <a:xfrm>
            <a:off x="628080" y="815196"/>
            <a:ext cx="7350282" cy="5217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LP-T1 run T05 step.22 ID.01 alarm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(ID.01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 position error)</a:t>
            </a:r>
            <a:endParaRPr lang="en-US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check B/E driver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電壓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0.1~0.15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v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閃爍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driver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有燒焦味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破大氣時因 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異常，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B/E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servo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隨著螺桿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往下滑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因剛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破大氣 →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B/E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馬上往下滑 → 產生壓差氣聲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 product for PE check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該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C6 m/w PTC=405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OOS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check map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分布均勻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B/E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無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servo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往下滑時壓差產生之 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PTC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A4CB75-A097-150D-A94F-64596BAD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90" y="1790543"/>
            <a:ext cx="288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C184CBF-D8DF-2309-69D5-D446903D999C}"/>
              </a:ext>
            </a:extLst>
          </p:cNvPr>
          <p:cNvSpPr txBox="1"/>
          <p:nvPr/>
        </p:nvSpPr>
        <p:spPr>
          <a:xfrm>
            <a:off x="2024977" y="2563191"/>
            <a:ext cx="10695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0.1~0.15V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110228D-E4E9-6DDB-024B-2DC15EEED6F7}"/>
              </a:ext>
            </a:extLst>
          </p:cNvPr>
          <p:cNvSpPr txBox="1"/>
          <p:nvPr/>
        </p:nvSpPr>
        <p:spPr>
          <a:xfrm>
            <a:off x="1043666" y="1781490"/>
            <a:ext cx="1791324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電壓監控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B81D28-7CFB-3B16-4491-A9DF12999927}"/>
              </a:ext>
            </a:extLst>
          </p:cNvPr>
          <p:cNvSpPr/>
          <p:nvPr/>
        </p:nvSpPr>
        <p:spPr>
          <a:xfrm>
            <a:off x="1692096" y="2443917"/>
            <a:ext cx="1512168" cy="7155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0AE907A-7C62-D361-D864-2F220A3AC1F9}"/>
              </a:ext>
            </a:extLst>
          </p:cNvPr>
          <p:cNvPicPr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5" t="25030" r="12491" b="28298"/>
          <a:stretch/>
        </p:blipFill>
        <p:spPr bwMode="auto">
          <a:xfrm>
            <a:off x="4230317" y="1790543"/>
            <a:ext cx="288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9748E6C1-2E99-4F0F-4771-FC69284D8CCB}"/>
              </a:ext>
            </a:extLst>
          </p:cNvPr>
          <p:cNvSpPr/>
          <p:nvPr/>
        </p:nvSpPr>
        <p:spPr>
          <a:xfrm rot="21379315">
            <a:off x="6093637" y="2626999"/>
            <a:ext cx="288032" cy="7155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BAEE089-819C-1615-F421-AA880679C30F}"/>
              </a:ext>
            </a:extLst>
          </p:cNvPr>
          <p:cNvSpPr txBox="1"/>
          <p:nvPr/>
        </p:nvSpPr>
        <p:spPr>
          <a:xfrm>
            <a:off x="4220018" y="1781490"/>
            <a:ext cx="1028295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3DB98E3-C58F-2261-6231-18BFB7BA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546" y="2519596"/>
            <a:ext cx="192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C9746E1-B442-7E6E-602F-3F2512F19F6E}"/>
              </a:ext>
            </a:extLst>
          </p:cNvPr>
          <p:cNvCxnSpPr>
            <a:cxnSpLocks/>
          </p:cNvCxnSpPr>
          <p:nvPr/>
        </p:nvCxnSpPr>
        <p:spPr>
          <a:xfrm>
            <a:off x="6485273" y="3062849"/>
            <a:ext cx="542144" cy="96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21855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2C7CD-B94E-4527-A639-AA8FC39C22E5}" type="slidenum">
              <a:rPr lang="zh-TW" altLang="en-US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70000"/>
                </a:srgbClr>
              </a:gs>
              <a:gs pos="50000">
                <a:schemeClr val="bg1"/>
              </a:gs>
              <a:gs pos="100000">
                <a:srgbClr val="FF9900">
                  <a:alpha val="70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3. Contain the Problem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緊急對策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對於解決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的行動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包含清庫存等 </a:t>
            </a:r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30853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49482" y="3877469"/>
            <a:ext cx="863600" cy="325437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21" name="流程圖: 人工作業 20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23" name="流程圖: 人工作業 22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  <p:pic>
        <p:nvPicPr>
          <p:cNvPr id="31" name="圖片 30" descr="一張含有 Rectangle, 門, 鏡子, 視窗 的圖片&#10;&#10;自動產生的描述">
            <a:extLst>
              <a:ext uri="{FF2B5EF4-FFF2-40B4-BE49-F238E27FC236}">
                <a16:creationId xmlns:a16="http://schemas.microsoft.com/office/drawing/2014/main" id="{2F4D2FD7-5509-1C2A-C429-9CF96D01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075" y="1144025"/>
            <a:ext cx="3118965" cy="5400000"/>
          </a:xfrm>
          <a:prstGeom prst="rect">
            <a:avLst/>
          </a:prstGeom>
          <a:ln>
            <a:noFill/>
          </a:ln>
        </p:spPr>
      </p:pic>
      <p:pic>
        <p:nvPicPr>
          <p:cNvPr id="33" name="圖片 32" descr="一張含有 Rectangle, 視窗, 設計 的圖片&#10;&#10;自動產生的描述">
            <a:extLst>
              <a:ext uri="{FF2B5EF4-FFF2-40B4-BE49-F238E27FC236}">
                <a16:creationId xmlns:a16="http://schemas.microsoft.com/office/drawing/2014/main" id="{3BA97D53-D2C4-67F5-6B9B-E9F7E528B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5" y="1197352"/>
            <a:ext cx="3030131" cy="5400000"/>
          </a:xfrm>
          <a:prstGeom prst="rect">
            <a:avLst/>
          </a:prstGeom>
          <a:ln>
            <a:noFill/>
          </a:ln>
        </p:spPr>
      </p:pic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A1AAE4EC-EB90-1879-17E3-BB47DF0848AB}"/>
              </a:ext>
            </a:extLst>
          </p:cNvPr>
          <p:cNvSpPr/>
          <p:nvPr/>
        </p:nvSpPr>
        <p:spPr>
          <a:xfrm>
            <a:off x="3987565" y="3763533"/>
            <a:ext cx="986616" cy="365995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BD4A89C-863B-1A60-B0DA-A1526FE6B715}"/>
              </a:ext>
            </a:extLst>
          </p:cNvPr>
          <p:cNvSpPr txBox="1"/>
          <p:nvPr/>
        </p:nvSpPr>
        <p:spPr>
          <a:xfrm>
            <a:off x="3617096" y="3355272"/>
            <a:ext cx="162922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B/E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servo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下滑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接點: 弧形 40">
            <a:extLst>
              <a:ext uri="{FF2B5EF4-FFF2-40B4-BE49-F238E27FC236}">
                <a16:creationId xmlns:a16="http://schemas.microsoft.com/office/drawing/2014/main" id="{7B3FA3AD-BC81-105F-2027-68D9F4B32169}"/>
              </a:ext>
            </a:extLst>
          </p:cNvPr>
          <p:cNvCxnSpPr/>
          <p:nvPr/>
        </p:nvCxnSpPr>
        <p:spPr>
          <a:xfrm flipV="1">
            <a:off x="5795963" y="3918591"/>
            <a:ext cx="504056" cy="439982"/>
          </a:xfrm>
          <a:prstGeom prst="curvedConnector3">
            <a:avLst>
              <a:gd name="adj1" fmla="val 100291"/>
            </a:avLst>
          </a:prstGeom>
          <a:ln w="28575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接點: 弧形 58">
            <a:extLst>
              <a:ext uri="{FF2B5EF4-FFF2-40B4-BE49-F238E27FC236}">
                <a16:creationId xmlns:a16="http://schemas.microsoft.com/office/drawing/2014/main" id="{A2245758-63DE-3D78-0C0A-BC8EFD437EE8}"/>
              </a:ext>
            </a:extLst>
          </p:cNvPr>
          <p:cNvCxnSpPr>
            <a:cxnSpLocks/>
          </p:cNvCxnSpPr>
          <p:nvPr/>
        </p:nvCxnSpPr>
        <p:spPr>
          <a:xfrm rot="10800000">
            <a:off x="6849514" y="3918071"/>
            <a:ext cx="607641" cy="440502"/>
          </a:xfrm>
          <a:prstGeom prst="curvedConnector3">
            <a:avLst>
              <a:gd name="adj1" fmla="val 100658"/>
            </a:avLst>
          </a:prstGeom>
          <a:ln w="28575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直線單箭頭接點 2052">
            <a:extLst>
              <a:ext uri="{FF2B5EF4-FFF2-40B4-BE49-F238E27FC236}">
                <a16:creationId xmlns:a16="http://schemas.microsoft.com/office/drawing/2014/main" id="{672D7CEE-B28E-8F5B-6FC9-78A157A999CF}"/>
              </a:ext>
            </a:extLst>
          </p:cNvPr>
          <p:cNvCxnSpPr/>
          <p:nvPr/>
        </p:nvCxnSpPr>
        <p:spPr>
          <a:xfrm flipV="1">
            <a:off x="6588224" y="3934014"/>
            <a:ext cx="0" cy="432000"/>
          </a:xfrm>
          <a:prstGeom prst="straightConnector1">
            <a:avLst/>
          </a:prstGeom>
          <a:ln w="28575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文字方塊 2054">
            <a:extLst>
              <a:ext uri="{FF2B5EF4-FFF2-40B4-BE49-F238E27FC236}">
                <a16:creationId xmlns:a16="http://schemas.microsoft.com/office/drawing/2014/main" id="{0D546AA2-FC32-0F50-8DBD-4BB21BD3348A}"/>
              </a:ext>
            </a:extLst>
          </p:cNvPr>
          <p:cNvSpPr txBox="1"/>
          <p:nvPr/>
        </p:nvSpPr>
        <p:spPr>
          <a:xfrm>
            <a:off x="1975042" y="3869359"/>
            <a:ext cx="11688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</a:t>
            </a:r>
          </a:p>
        </p:txBody>
      </p:sp>
      <p:sp>
        <p:nvSpPr>
          <p:cNvPr id="2056" name="文字方塊 2055">
            <a:extLst>
              <a:ext uri="{FF2B5EF4-FFF2-40B4-BE49-F238E27FC236}">
                <a16:creationId xmlns:a16="http://schemas.microsoft.com/office/drawing/2014/main" id="{76B2BEA9-6B88-5A67-A60E-5DD744D9D696}"/>
              </a:ext>
            </a:extLst>
          </p:cNvPr>
          <p:cNvSpPr txBox="1"/>
          <p:nvPr/>
        </p:nvSpPr>
        <p:spPr>
          <a:xfrm>
            <a:off x="6537549" y="4695436"/>
            <a:ext cx="11688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</a:t>
            </a:r>
          </a:p>
        </p:txBody>
      </p:sp>
      <p:sp>
        <p:nvSpPr>
          <p:cNvPr id="2057" name="文字方塊 2056">
            <a:extLst>
              <a:ext uri="{FF2B5EF4-FFF2-40B4-BE49-F238E27FC236}">
                <a16:creationId xmlns:a16="http://schemas.microsoft.com/office/drawing/2014/main" id="{A769AEB6-60C7-9CDD-6F0E-004EF25CD810}"/>
              </a:ext>
            </a:extLst>
          </p:cNvPr>
          <p:cNvSpPr txBox="1"/>
          <p:nvPr/>
        </p:nvSpPr>
        <p:spPr>
          <a:xfrm>
            <a:off x="4670840" y="4497688"/>
            <a:ext cx="1429174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2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輕微壓差產生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PTC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8" name="文字方塊 2057">
            <a:extLst>
              <a:ext uri="{FF2B5EF4-FFF2-40B4-BE49-F238E27FC236}">
                <a16:creationId xmlns:a16="http://schemas.microsoft.com/office/drawing/2014/main" id="{A7AD35AF-0742-7890-5AC3-F7833B418366}"/>
              </a:ext>
            </a:extLst>
          </p:cNvPr>
          <p:cNvSpPr txBox="1"/>
          <p:nvPr/>
        </p:nvSpPr>
        <p:spPr>
          <a:xfrm>
            <a:off x="413592" y="827420"/>
            <a:ext cx="334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下滑示意圖：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124240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2C7CD-B94E-4527-A639-AA8FC39C22E5}" type="slidenum">
              <a:rPr lang="zh-TW" altLang="en-US"/>
              <a:pPr>
                <a:defRPr/>
              </a:pPr>
              <a:t>5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70000"/>
                </a:srgbClr>
              </a:gs>
              <a:gs pos="50000">
                <a:schemeClr val="bg1"/>
              </a:gs>
              <a:gs pos="100000">
                <a:srgbClr val="FF9900">
                  <a:alpha val="70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3. Contain the Problem</a:t>
            </a:r>
            <a:b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緊急對策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對於解決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D2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的行動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包含清庫存等 </a:t>
            </a:r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30853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49482" y="3877469"/>
            <a:ext cx="863600" cy="325437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21" name="流程圖: 人工作業 20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23" name="流程圖: 人工作業 22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C3A8539-84CB-6087-DBEF-71D07D45D7C4}"/>
              </a:ext>
            </a:extLst>
          </p:cNvPr>
          <p:cNvSpPr txBox="1"/>
          <p:nvPr/>
        </p:nvSpPr>
        <p:spPr>
          <a:xfrm>
            <a:off x="628080" y="815196"/>
            <a:ext cx="6863482" cy="1155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Check cap &amp; pedestal &amp; boat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無明顯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powder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tube &amp; injector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正常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確認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cap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壓縮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vent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氣聲正常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 boat dummy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PG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→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follow test run*2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次。</a:t>
            </a:r>
            <a:endParaRPr lang="en-US" altLang="zh-TW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5596E8-49CD-0DA3-504C-AB4E43D9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43163"/>
            <a:ext cx="288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D2D30A4-31C8-A2FE-01B2-A6C44A87D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654" y="2643163"/>
            <a:ext cx="288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44162C6-7490-BCC0-4418-2D1554DE4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45322" y="2564864"/>
            <a:ext cx="288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64EA3F8-EF4E-5F60-41B8-7821245EEC0D}"/>
              </a:ext>
            </a:extLst>
          </p:cNvPr>
          <p:cNvSpPr txBox="1"/>
          <p:nvPr/>
        </p:nvSpPr>
        <p:spPr>
          <a:xfrm>
            <a:off x="387653" y="4499147"/>
            <a:ext cx="2463175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cap &amp; pedestal no powder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578304-BF0F-018A-FC3F-F823F53C4B52}"/>
              </a:ext>
            </a:extLst>
          </p:cNvPr>
          <p:cNvSpPr txBox="1"/>
          <p:nvPr/>
        </p:nvSpPr>
        <p:spPr>
          <a:xfrm>
            <a:off x="3432045" y="4495386"/>
            <a:ext cx="1564531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 powder</a:t>
            </a:r>
          </a:p>
        </p:txBody>
      </p:sp>
    </p:spTree>
    <p:extLst>
      <p:ext uri="{BB962C8B-B14F-4D97-AF65-F5344CB8AC3E}">
        <p14:creationId xmlns:p14="http://schemas.microsoft.com/office/powerpoint/2010/main" val="114576274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人工作業 20"/>
          <p:cNvSpPr/>
          <p:nvPr/>
        </p:nvSpPr>
        <p:spPr>
          <a:xfrm rot="5400000">
            <a:off x="8539957" y="3080543"/>
            <a:ext cx="863600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74DFA0-903E-4772-9AE3-00826A469973}" type="slidenum">
              <a:rPr lang="zh-TW" altLang="en-US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66000"/>
                </a:srgbClr>
              </a:gs>
              <a:gs pos="50000">
                <a:schemeClr val="bg1"/>
              </a:gs>
              <a:gs pos="100000">
                <a:srgbClr val="FF9900">
                  <a:alpha val="66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4. Identify the Root Cause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確認真因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問題的原因</a:t>
            </a:r>
          </a:p>
        </p:txBody>
      </p:sp>
      <p:sp>
        <p:nvSpPr>
          <p:cNvPr id="5" name="流程圖: 人工作業 4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流程圖: 人工作業 5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1" name="流程圖: 人工作業 10"/>
          <p:cNvSpPr/>
          <p:nvPr/>
        </p:nvSpPr>
        <p:spPr>
          <a:xfrm rot="5400000">
            <a:off x="8549482" y="3877469"/>
            <a:ext cx="863600" cy="325437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838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人工作業 20"/>
          <p:cNvSpPr/>
          <p:nvPr/>
        </p:nvSpPr>
        <p:spPr>
          <a:xfrm rot="5400000">
            <a:off x="8543925" y="3871913"/>
            <a:ext cx="865188" cy="334962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28EF0D1-8664-4729-9ADB-EC77FD959A92}" type="slidenum">
              <a:rPr lang="zh-TW" altLang="en-US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66000"/>
                </a:srgbClr>
              </a:gs>
              <a:gs pos="50000">
                <a:schemeClr val="bg1"/>
              </a:gs>
              <a:gs pos="100000">
                <a:srgbClr val="FF9900">
                  <a:alpha val="66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5. Formulate and Verify Corrective Actions</a:t>
            </a:r>
            <a:b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         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矯正措施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把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D4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的真因給清除</a:t>
            </a:r>
          </a:p>
        </p:txBody>
      </p:sp>
      <p:sp>
        <p:nvSpPr>
          <p:cNvPr id="5" name="流程圖: 人工作業 4"/>
          <p:cNvSpPr/>
          <p:nvPr/>
        </p:nvSpPr>
        <p:spPr>
          <a:xfrm rot="5400000">
            <a:off x="8539957" y="3080543"/>
            <a:ext cx="863600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流程圖: 人工作業 5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30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人工作業 20"/>
          <p:cNvSpPr/>
          <p:nvPr/>
        </p:nvSpPr>
        <p:spPr>
          <a:xfrm rot="5400000">
            <a:off x="8539163" y="4664075"/>
            <a:ext cx="865187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2CC40FC-0842-4009-95B6-BE0B3BEC16F8}" type="slidenum">
              <a:rPr lang="zh-TW" altLang="en-US"/>
              <a:pPr>
                <a:defRPr/>
              </a:pPr>
              <a:t>8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66000"/>
                </a:srgbClr>
              </a:gs>
              <a:gs pos="50000">
                <a:schemeClr val="bg1"/>
              </a:gs>
              <a:gs pos="100000">
                <a:srgbClr val="FF9900">
                  <a:alpha val="66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6. Correct the Problem and Confirm the Effects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 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改善問題並確認效果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後的結果</a:t>
            </a:r>
          </a:p>
        </p:txBody>
      </p:sp>
      <p:sp>
        <p:nvSpPr>
          <p:cNvPr id="5" name="流程圖: 人工作業 4"/>
          <p:cNvSpPr/>
          <p:nvPr/>
        </p:nvSpPr>
        <p:spPr>
          <a:xfrm rot="5400000">
            <a:off x="8543925" y="3871913"/>
            <a:ext cx="865188" cy="334962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流程圖: 人工作業 5"/>
          <p:cNvSpPr/>
          <p:nvPr/>
        </p:nvSpPr>
        <p:spPr>
          <a:xfrm rot="5400000">
            <a:off x="8539957" y="3080543"/>
            <a:ext cx="863600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人工作業 20"/>
          <p:cNvSpPr/>
          <p:nvPr/>
        </p:nvSpPr>
        <p:spPr>
          <a:xfrm rot="5400000">
            <a:off x="8549482" y="5455443"/>
            <a:ext cx="863600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E4EF44-1A7F-422F-97C7-B53112505294}" type="slidenum">
              <a:rPr lang="zh-TW" altLang="en-US"/>
              <a:pPr>
                <a:defRPr/>
              </a:pPr>
              <a:t>9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0"/>
            <a:ext cx="7272808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66000"/>
                </a:srgbClr>
              </a:gs>
              <a:gs pos="50000">
                <a:schemeClr val="bg1"/>
              </a:gs>
              <a:gs pos="100000">
                <a:srgbClr val="FF9900">
                  <a:alpha val="66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7. Prevent the Problem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 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預防行動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問題不會再次發生的行動</a:t>
            </a:r>
          </a:p>
        </p:txBody>
      </p:sp>
      <p:sp>
        <p:nvSpPr>
          <p:cNvPr id="5" name="流程圖: 人工作業 4"/>
          <p:cNvSpPr/>
          <p:nvPr/>
        </p:nvSpPr>
        <p:spPr>
          <a:xfrm rot="5400000">
            <a:off x="8543925" y="3871913"/>
            <a:ext cx="865188" cy="334962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流程圖: 人工作業 5"/>
          <p:cNvSpPr/>
          <p:nvPr/>
        </p:nvSpPr>
        <p:spPr>
          <a:xfrm rot="5400000">
            <a:off x="8539957" y="3080543"/>
            <a:ext cx="863600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17" name="流程圖: 人工作業 16"/>
          <p:cNvSpPr/>
          <p:nvPr/>
        </p:nvSpPr>
        <p:spPr>
          <a:xfrm rot="5400000">
            <a:off x="8554244" y="625395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人工作業 20"/>
          <p:cNvSpPr/>
          <p:nvPr/>
        </p:nvSpPr>
        <p:spPr>
          <a:xfrm rot="5400000">
            <a:off x="8559007" y="6247606"/>
            <a:ext cx="863600" cy="334963"/>
          </a:xfrm>
          <a:prstGeom prst="flowChartManualOperation">
            <a:avLst/>
          </a:prstGeom>
          <a:gradFill flip="none" rotWithShape="1">
            <a:gsLst>
              <a:gs pos="0">
                <a:srgbClr val="FE0600"/>
              </a:gs>
              <a:gs pos="75000">
                <a:schemeClr val="bg1"/>
              </a:gs>
              <a:gs pos="50000">
                <a:srgbClr val="FF0000"/>
              </a:gs>
              <a:gs pos="25000">
                <a:schemeClr val="bg1"/>
              </a:gs>
              <a:gs pos="100000">
                <a:srgbClr val="FE0600"/>
              </a:gs>
            </a:gsLst>
            <a:lin ang="189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F8B14A-D956-4919-93D7-4E3254D40E14}" type="slidenum">
              <a:rPr lang="zh-TW" altLang="en-US"/>
              <a:pPr>
                <a:defRPr/>
              </a:pPr>
              <a:t>10</a:t>
            </a:fld>
            <a:endParaRPr lang="zh-TW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1" y="0"/>
            <a:ext cx="7344816" cy="641350"/>
          </a:xfrm>
          <a:prstGeom prst="rect">
            <a:avLst/>
          </a:prstGeom>
          <a:gradFill rotWithShape="1">
            <a:gsLst>
              <a:gs pos="0">
                <a:srgbClr val="FF9900">
                  <a:alpha val="66000"/>
                </a:srgbClr>
              </a:gs>
              <a:gs pos="50000">
                <a:schemeClr val="bg1"/>
              </a:gs>
              <a:gs pos="100000">
                <a:srgbClr val="FF9900">
                  <a:alpha val="66000"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Discipline 8. Congratulate the Team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       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恭禧小組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若照以上步驟完成後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問題已改善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此時可解散小組</a:t>
            </a:r>
          </a:p>
        </p:txBody>
      </p:sp>
      <p:sp>
        <p:nvSpPr>
          <p:cNvPr id="5" name="流程圖: 人工作業 4"/>
          <p:cNvSpPr/>
          <p:nvPr/>
        </p:nvSpPr>
        <p:spPr>
          <a:xfrm rot="5400000">
            <a:off x="8543925" y="3871913"/>
            <a:ext cx="865188" cy="334962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流程圖: 人工作業 5"/>
          <p:cNvSpPr/>
          <p:nvPr/>
        </p:nvSpPr>
        <p:spPr>
          <a:xfrm rot="5400000">
            <a:off x="8539957" y="3080543"/>
            <a:ext cx="863600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流程圖: 人工作業 6"/>
          <p:cNvSpPr/>
          <p:nvPr/>
        </p:nvSpPr>
        <p:spPr>
          <a:xfrm rot="5400000">
            <a:off x="8539163" y="2287587"/>
            <a:ext cx="865188" cy="334963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流程圖: 人工作業 7"/>
          <p:cNvSpPr/>
          <p:nvPr/>
        </p:nvSpPr>
        <p:spPr>
          <a:xfrm rot="5400000">
            <a:off x="8547100" y="706438"/>
            <a:ext cx="863600" cy="330200"/>
          </a:xfrm>
          <a:prstGeom prst="flowChartManualOperat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813194" y="628622"/>
            <a:ext cx="330805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D1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778261" y="221279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778261" y="3004886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772562" y="3796974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D5</a:t>
            </a:r>
            <a:endParaRPr lang="zh-TW" altLang="en-US" dirty="0"/>
          </a:p>
        </p:txBody>
      </p:sp>
      <p:sp>
        <p:nvSpPr>
          <p:cNvPr id="13" name="流程圖: 人工作業 12"/>
          <p:cNvSpPr/>
          <p:nvPr/>
        </p:nvSpPr>
        <p:spPr>
          <a:xfrm rot="5400000">
            <a:off x="8554244" y="4669631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778261" y="4589062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D6</a:t>
            </a:r>
            <a:endParaRPr lang="zh-TW" altLang="en-US" dirty="0"/>
          </a:p>
        </p:txBody>
      </p:sp>
      <p:sp>
        <p:nvSpPr>
          <p:cNvPr id="15" name="流程圖: 人工作業 14"/>
          <p:cNvSpPr/>
          <p:nvPr/>
        </p:nvSpPr>
        <p:spPr>
          <a:xfrm rot="5400000">
            <a:off x="8554244" y="5460206"/>
            <a:ext cx="863600" cy="325438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778261" y="5380443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D7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8778261" y="6173238"/>
            <a:ext cx="41655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D8</a:t>
            </a:r>
            <a:endParaRPr lang="zh-TW" altLang="en-US" dirty="0"/>
          </a:p>
        </p:txBody>
      </p:sp>
      <p:sp>
        <p:nvSpPr>
          <p:cNvPr id="19" name="流程圖: 人工作業 18"/>
          <p:cNvSpPr/>
          <p:nvPr/>
        </p:nvSpPr>
        <p:spPr>
          <a:xfrm rot="5400000">
            <a:off x="8547894" y="1486694"/>
            <a:ext cx="865187" cy="333375"/>
          </a:xfrm>
          <a:prstGeom prst="flowChartManualOperat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772562" y="1410169"/>
            <a:ext cx="415822" cy="484748"/>
          </a:xfrm>
          <a:prstGeom prst="rect">
            <a:avLst/>
          </a:prstGeom>
          <a:noFill/>
          <a:ln w="3175">
            <a:noFill/>
          </a:ln>
        </p:spPr>
        <p:txBody>
          <a:bodyPr vert="vert270" anchor="ctr" anchorCtr="1">
            <a:spAutoFit/>
          </a:bodyPr>
          <a:lstStyle/>
          <a:p>
            <a:pPr algn="ctr">
              <a:defRPr/>
            </a:pPr>
            <a:r>
              <a:rPr lang="en-US" altLang="zh-TW" dirty="0"/>
              <a:t>D2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B72A579B9B74C8B60CD9DA12CE965" ma:contentTypeVersion="0" ma:contentTypeDescription="Create a new document." ma:contentTypeScope="" ma:versionID="7bfc160474e469b017f2f82ca208a8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C4C4DC-2307-47E5-9FCD-68E7D41EB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312041-9EA2-4A3F-9B89-3D53D0F0CF2F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4149</TotalTime>
  <Words>640</Words>
  <Application>Microsoft Office PowerPoint</Application>
  <PresentationFormat>On-screen Show (4:3)</PresentationFormat>
  <Paragraphs>237</Paragraphs>
  <Slides>11</Slides>
  <Notes>11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20250927 LP-T1 C6 PTC OOS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297</cp:revision>
  <dcterms:created xsi:type="dcterms:W3CDTF">2012-03-21T02:57:47Z</dcterms:created>
  <dcterms:modified xsi:type="dcterms:W3CDTF">2025-09-30T08:07:51Z</dcterms:modified>
</cp:coreProperties>
</file>