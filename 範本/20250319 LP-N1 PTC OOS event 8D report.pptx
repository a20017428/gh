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49"/>
  </p:notesMasterIdLst>
  <p:handoutMasterIdLst>
    <p:handoutMasterId r:id="rId50"/>
  </p:handoutMasterIdLst>
  <p:sldIdLst>
    <p:sldId id="256" r:id="rId5"/>
    <p:sldId id="346" r:id="rId6"/>
    <p:sldId id="411" r:id="rId7"/>
    <p:sldId id="352" r:id="rId8"/>
    <p:sldId id="412" r:id="rId9"/>
    <p:sldId id="413" r:id="rId10"/>
    <p:sldId id="280" r:id="rId11"/>
    <p:sldId id="319" r:id="rId12"/>
    <p:sldId id="320" r:id="rId13"/>
    <p:sldId id="402" r:id="rId14"/>
    <p:sldId id="336" r:id="rId15"/>
    <p:sldId id="285" r:id="rId16"/>
    <p:sldId id="289" r:id="rId17"/>
    <p:sldId id="334" r:id="rId18"/>
    <p:sldId id="315" r:id="rId19"/>
    <p:sldId id="314" r:id="rId20"/>
    <p:sldId id="353" r:id="rId21"/>
    <p:sldId id="355" r:id="rId22"/>
    <p:sldId id="354" r:id="rId23"/>
    <p:sldId id="263" r:id="rId24"/>
    <p:sldId id="339" r:id="rId25"/>
    <p:sldId id="299" r:id="rId26"/>
    <p:sldId id="323" r:id="rId27"/>
    <p:sldId id="324" r:id="rId28"/>
    <p:sldId id="321" r:id="rId29"/>
    <p:sldId id="347" r:id="rId30"/>
    <p:sldId id="373" r:id="rId31"/>
    <p:sldId id="409" r:id="rId32"/>
    <p:sldId id="410" r:id="rId33"/>
    <p:sldId id="398" r:id="rId34"/>
    <p:sldId id="399" r:id="rId35"/>
    <p:sldId id="388" r:id="rId36"/>
    <p:sldId id="406" r:id="rId37"/>
    <p:sldId id="407" r:id="rId38"/>
    <p:sldId id="408" r:id="rId39"/>
    <p:sldId id="267" r:id="rId40"/>
    <p:sldId id="414" r:id="rId41"/>
    <p:sldId id="268" r:id="rId42"/>
    <p:sldId id="313" r:id="rId43"/>
    <p:sldId id="269" r:id="rId44"/>
    <p:sldId id="270" r:id="rId45"/>
    <p:sldId id="271" r:id="rId46"/>
    <p:sldId id="415" r:id="rId47"/>
    <p:sldId id="272" r:id="rId48"/>
  </p:sldIdLst>
  <p:sldSz cx="9144000" cy="6858000" type="screen4x3"/>
  <p:notesSz cx="7010400" cy="92964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0600"/>
    <a:srgbClr val="0000FF"/>
    <a:srgbClr val="E75798"/>
    <a:srgbClr val="D00600"/>
    <a:srgbClr val="E61C0E"/>
    <a:srgbClr val="FC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979" autoAdjust="0"/>
  </p:normalViewPr>
  <p:slideViewPr>
    <p:cSldViewPr>
      <p:cViewPr varScale="1">
        <p:scale>
          <a:sx n="110" d="100"/>
          <a:sy n="110" d="100"/>
        </p:scale>
        <p:origin x="168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71BFA950-4D9B-49C1-88BC-71CD835B4ACB}" type="datetimeFigureOut">
              <a:rPr lang="zh-TW" altLang="en-US"/>
              <a:pPr>
                <a:defRPr/>
              </a:pPr>
              <a:t>2025/4/20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25F7101-7CBB-40B9-BA2A-FB97EE2A556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6DC33ECA-595C-4C90-93AC-B3C8AC50E9E0}" type="datetimeFigureOut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4BCC7E6-2CF8-46C3-9098-1DABD60058C4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306FE17-8C9C-45FE-A0CC-E1BE1F6A9DB4}" type="datetime1">
              <a:rPr lang="zh-TW" altLang="en-US" smtClean="0"/>
              <a:pPr eaLnBrk="1" hangingPunct="1">
                <a:spcBef>
                  <a:spcPct val="0"/>
                </a:spcBef>
              </a:pPr>
              <a:t>2025/4/19</a:t>
            </a:fld>
            <a:endParaRPr lang="zh-TW" altLang="en-US"/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067A20B-1C54-437C-B8C8-900806B3B756}" type="slidenum">
              <a:rPr lang="zh-TW" altLang="en-US"/>
              <a:pPr eaLnBrk="1" hangingPunct="1">
                <a:spcBef>
                  <a:spcPct val="0"/>
                </a:spcBef>
              </a:pPr>
              <a:t>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98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57066" indent="-291179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64717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30604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96491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fld id="{550F2036-0CFA-4F19-9585-F765E4EEDFDB}" type="slidenum">
              <a:rPr kumimoji="0" lang="zh-TW" altLang="en-US" smtClean="0">
                <a:ea typeface="標楷體" pitchFamily="65" charset="-120"/>
              </a:rPr>
              <a:pPr eaLnBrk="1" hangingPunct="1"/>
              <a:t>2</a:t>
            </a:fld>
            <a:endParaRPr kumimoji="0" lang="zh-TW" altLang="en-US"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6808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144016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1008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6356350"/>
            <a:ext cx="1916112" cy="365125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CD423D62-69AB-4776-9D27-A481614011A3}" type="datetime1">
              <a:rPr lang="zh-TW" altLang="en-US"/>
              <a:pPr>
                <a:defRPr/>
              </a:pPr>
              <a:t>2025/4/19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5949950"/>
            <a:ext cx="1887537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fld id="{44A231B3-5E4C-4D1B-95D4-C7E3DBA05F1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367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680D2-7FDF-4135-982B-42BBCB547B39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0B2432-A20E-4E26-94E6-104434F1F06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12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D114F-B2F7-49D6-84C2-BEBF7C5739ED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D8C9091-334D-4D2D-81D2-8FCC512423D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26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12379-5E08-4DCD-8D58-414798F05313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CFAE55-6585-4179-99E2-ACF000E4A32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82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EBB0F-14A2-4190-86A3-9636FD7A888E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A4EB1E-05BF-4B7D-BD16-48CA8D78EE4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94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4DBA1-126E-41A1-A531-A26B3F9257A6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10F7A5-06E4-4075-B789-BD63EF0624B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4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334A2-72CE-4E4F-B739-E3603839837D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A3647F-B5CB-4C0D-A009-B847CBF56DA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09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EEA13-B897-446A-9E05-35D1B64E177F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009B8-C727-446A-BB14-3FF14188E03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4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96E2F-0C21-4EB4-8701-E162043E43C4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18E4B5-6C1A-476F-A70A-20E87078FF2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15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DDC33-D226-41A8-9FBF-FDBA94F444A2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8670BE-EA1A-47B4-A2A3-6C3BD5E6F1C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97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B1025-4FFF-40E2-A260-42D6146E33EA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3ED241-944F-41C1-99C2-C0CEA3245B4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673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1520" y="5733256"/>
            <a:ext cx="8640960" cy="936104"/>
          </a:xfrm>
          <a:prstGeom prst="rect">
            <a:avLst/>
          </a:prstGeom>
        </p:spPr>
        <p:txBody>
          <a:bodyPr/>
          <a:lstStyle>
            <a:lvl1pPr marL="266700" marR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 sz="1400" baseline="0"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  <a:lvl2pPr marL="542925" marR="0" indent="-2762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Tx/>
              <a:buFont typeface="Wingdings" panose="05000000000000000000" pitchFamily="2" charset="2"/>
              <a:buChar char="l"/>
              <a:tabLst/>
              <a:defRPr sz="1200" baseline="0">
                <a:latin typeface="Calibri" panose="020F0502020204030204" pitchFamily="34" charset="0"/>
                <a:ea typeface="微軟正黑體" panose="020B0604030504040204" pitchFamily="34" charset="-120"/>
              </a:defRPr>
            </a:lvl2pPr>
            <a:lvl3pPr marL="809625" marR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v"/>
              <a:tabLst/>
              <a:defRPr sz="1200" b="0" baseline="0">
                <a:latin typeface="Calibri" panose="020F0502020204030204" pitchFamily="34" charset="0"/>
                <a:ea typeface="微軟正黑體" panose="020B0604030504040204" pitchFamily="34" charset="-120"/>
              </a:defRPr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zh-TW" altLang="en-US" noProof="0" dirty="0"/>
              <a:t>第一層 </a:t>
            </a:r>
            <a:r>
              <a:rPr lang="en-US" altLang="zh-TW" noProof="0" dirty="0"/>
              <a:t>Level one </a:t>
            </a:r>
            <a:endParaRPr lang="zh-TW" altLang="en-US" noProof="0" dirty="0"/>
          </a:p>
          <a:p>
            <a:pPr lvl="1"/>
            <a:r>
              <a:rPr lang="zh-TW" altLang="en-US" noProof="0" dirty="0"/>
              <a:t>第二層 </a:t>
            </a:r>
            <a:r>
              <a:rPr lang="en-US" altLang="zh-TW" noProof="0" dirty="0"/>
              <a:t>Level two</a:t>
            </a:r>
            <a:endParaRPr lang="zh-TW" altLang="en-US" noProof="0" dirty="0"/>
          </a:p>
          <a:p>
            <a:pPr lvl="2"/>
            <a:r>
              <a:rPr lang="zh-TW" altLang="en-US" noProof="0" dirty="0"/>
              <a:t>第三層 </a:t>
            </a:r>
            <a:r>
              <a:rPr lang="en-US" altLang="zh-TW" noProof="0" dirty="0"/>
              <a:t>Level three </a:t>
            </a:r>
            <a:endParaRPr lang="zh-TW" altLang="en-US" noProof="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172400" y="6482031"/>
            <a:ext cx="971600" cy="366183"/>
          </a:xfrm>
        </p:spPr>
        <p:txBody>
          <a:bodyPr/>
          <a:lstStyle>
            <a:lvl1pPr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59FC9CB-BEB9-4AC7-AA67-25DD87166686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8" name="圖片版面配置區 7"/>
          <p:cNvSpPr>
            <a:spLocks noGrp="1"/>
          </p:cNvSpPr>
          <p:nvPr>
            <p:ph type="pic" sz="quarter" idx="11"/>
          </p:nvPr>
        </p:nvSpPr>
        <p:spPr>
          <a:xfrm>
            <a:off x="251520" y="299559"/>
            <a:ext cx="5400000" cy="5400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圖片版面配置區 12"/>
          <p:cNvSpPr>
            <a:spLocks noGrp="1"/>
          </p:cNvSpPr>
          <p:nvPr>
            <p:ph type="pic" sz="quarter" idx="12"/>
          </p:nvPr>
        </p:nvSpPr>
        <p:spPr>
          <a:xfrm>
            <a:off x="6012480" y="299559"/>
            <a:ext cx="2880000" cy="540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48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68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A5CD9D-9D6D-4889-90A9-F8A0134ABA04}" type="datetime1">
              <a:rPr lang="zh-TW" altLang="en-US"/>
              <a:pPr>
                <a:defRPr/>
              </a:pPr>
              <a:t>2025/4/19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537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7F7F7F"/>
                </a:solidFill>
              </a:defRPr>
            </a:lvl1pPr>
          </a:lstStyle>
          <a:p>
            <a:fld id="{D419ED81-ED36-436D-8B37-3EE69C921561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6" r:id="rId12"/>
    <p:sldLayoutId id="2147483767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microsoft.com/office/2007/relationships/hdphoto" Target="../media/hdphoto4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70204" y="1080269"/>
            <a:ext cx="879433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1" lang="en-US" altLang="zh-TW" sz="2800" dirty="0">
                <a:solidFill>
                  <a:srgbClr val="000000"/>
                </a:solidFill>
                <a:latin typeface="+mj-lt"/>
              </a:rPr>
              <a:t>20250319 LP-N1 PTC OOS event 8D report</a:t>
            </a:r>
            <a:endParaRPr kumimoji="1" lang="zh-TW" altLang="zh-TW" sz="2800" dirty="0">
              <a:solidFill>
                <a:srgbClr val="0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11163" y="188913"/>
            <a:ext cx="6969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1. 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選定團隊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Form the Team</a:t>
            </a:r>
            <a:endParaRPr lang="zh-TW" altLang="en-US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411163" y="908720"/>
            <a:ext cx="314874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+mn-lt"/>
              </a:rPr>
              <a:t>團隊負責人</a:t>
            </a:r>
            <a:r>
              <a:rPr lang="en-US" altLang="zh-TW" sz="1600" dirty="0">
                <a:latin typeface="+mn-lt"/>
              </a:rPr>
              <a:t>Team Leader/Dept.:</a:t>
            </a:r>
            <a:endParaRPr lang="en-US" altLang="zh-TW" b="1" dirty="0">
              <a:latin typeface="+mn-lt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510162"/>
              </p:ext>
            </p:extLst>
          </p:nvPr>
        </p:nvGraphicFramePr>
        <p:xfrm>
          <a:off x="847725" y="1775965"/>
          <a:ext cx="7684715" cy="103403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87971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413517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256157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16471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Name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Department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Position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S210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S220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11163" y="1290208"/>
            <a:ext cx="26870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+mn-lt"/>
              </a:rPr>
              <a:t>成員</a:t>
            </a:r>
            <a:r>
              <a:rPr lang="en-US" altLang="zh-TW" sz="1600" dirty="0">
                <a:latin typeface="+mn-lt"/>
              </a:rPr>
              <a:t>Team Member/Dept.:</a:t>
            </a:r>
            <a:endParaRPr lang="en-US" altLang="zh-TW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977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138"/>
          <p:cNvGraphicFramePr>
            <a:graphicFrameLocks noGrp="1"/>
          </p:cNvGraphicFramePr>
          <p:nvPr>
            <p:ph/>
          </p:nvPr>
        </p:nvGraphicFramePr>
        <p:xfrm>
          <a:off x="341313" y="1358769"/>
          <a:ext cx="8685212" cy="5195394"/>
        </p:xfrm>
        <a:graphic>
          <a:graphicData uri="http://schemas.openxmlformats.org/drawingml/2006/table">
            <a:tbl>
              <a:tblPr/>
              <a:tblGrid>
                <a:gridCol w="104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0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6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What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S730</a:t>
                      </a: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highlighted LP-N1 defect maps on 3/15.2025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Route: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M030TIK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Product: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BA5D26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Lot number: 25092960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Oper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: 4217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Qty: 25pcs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Where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4217 station (</a:t>
                      </a:r>
                      <a:r>
                        <a:rPr kumimoji="0" lang="en-US" altLang="zh-TW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SiN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 depo.)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When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3/12~3/15</a:t>
                      </a: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94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Extent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LP-N1 3/11~3/12 BPM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3/12~3/15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13 batches (78 lots; 1912 pcs of wafers) 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Scanned AOI defect impact lot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Impact 7 lots (scanned 9 lots)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AOI def. rate 0.03%~4.58%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(1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pcs 4.58%/178ea., 1 pcs 3.8%/145ea., other &lt;3%)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No specific zones: C1, C2, C3, C4, C5 impacted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Will re-work </a:t>
                      </a: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M030TI-BA5D26-25092960 and trace CP maps of whole impact lots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LP-N1 was stopped on 3/15 and EQ was checking.</a:t>
                      </a:r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pic>
        <p:nvPicPr>
          <p:cNvPr id="2" name="圖片 13">
            <a:extLst>
              <a:ext uri="{FF2B5EF4-FFF2-40B4-BE49-F238E27FC236}">
                <a16:creationId xmlns:a16="http://schemas.microsoft.com/office/drawing/2014/main" id="{FC528549-FDE3-49F9-0FEE-593A9731D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1374761"/>
            <a:ext cx="1152128" cy="112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56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C9B58-5651-863C-2417-0BF0C2029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12776"/>
            <a:ext cx="8229600" cy="346050"/>
          </a:xfrm>
        </p:spPr>
        <p:txBody>
          <a:bodyPr/>
          <a:lstStyle/>
          <a:p>
            <a:r>
              <a:rPr lang="en-US" sz="3200" dirty="0"/>
              <a:t>E-</a:t>
            </a:r>
            <a:r>
              <a:rPr lang="en-US" sz="3200" dirty="0" err="1"/>
              <a:t>runcards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D16D5-6C12-6B17-C7E2-7976F2765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B1D83-A6E3-37E4-667A-33703EDE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864657"/>
            <a:ext cx="8748464" cy="382954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6031F3E-E16D-63B1-CF55-AEF5A1469708}"/>
              </a:ext>
            </a:extLst>
          </p:cNvPr>
          <p:cNvSpPr/>
          <p:nvPr/>
        </p:nvSpPr>
        <p:spPr>
          <a:xfrm>
            <a:off x="107504" y="4139788"/>
            <a:ext cx="288032" cy="21602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ECA75-DB41-2DD7-6B7F-02B722A98A73}"/>
              </a:ext>
            </a:extLst>
          </p:cNvPr>
          <p:cNvSpPr txBox="1"/>
          <p:nvPr/>
        </p:nvSpPr>
        <p:spPr>
          <a:xfrm>
            <a:off x="1259632" y="5949280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&lt;4217&gt; </a:t>
            </a:r>
            <a:r>
              <a:rPr lang="en-US" dirty="0" err="1"/>
              <a:t>SiN</a:t>
            </a:r>
            <a:r>
              <a:rPr lang="en-US" dirty="0"/>
              <a:t> depo.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311C20-5C47-5592-580B-137795242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405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53EFAE-232A-50AD-458A-0B18B6412C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6DC651-A16B-A26B-03DC-29AA7F963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9" name="標題 6">
            <a:extLst>
              <a:ext uri="{FF2B5EF4-FFF2-40B4-BE49-F238E27FC236}">
                <a16:creationId xmlns:a16="http://schemas.microsoft.com/office/drawing/2014/main" id="{F5D2B673-A471-AFEF-0B91-9D36672B20C1}"/>
              </a:ext>
            </a:extLst>
          </p:cNvPr>
          <p:cNvSpPr txBox="1">
            <a:spLocks/>
          </p:cNvSpPr>
          <p:nvPr/>
        </p:nvSpPr>
        <p:spPr bwMode="auto">
          <a:xfrm>
            <a:off x="317463" y="1628800"/>
            <a:ext cx="8388424" cy="527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60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D006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9pPr>
          </a:lstStyle>
          <a:p>
            <a:r>
              <a:rPr kumimoji="0" lang="en-US" altLang="zh-TW" dirty="0"/>
              <a:t>S200 MS - 3/15 LP-N1 PTC up def:0.62~8.91%, FH 5143 AOI re-check</a:t>
            </a:r>
            <a:endParaRPr kumimoji="0" 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2C88B96-3B3C-D691-E39F-DA6486BD2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944" y="2204864"/>
            <a:ext cx="4020111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00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53EFAE-232A-50AD-458A-0B18B6412C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6DC651-A16B-A26B-03DC-29AA7F963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D5FEA747-FDC1-3049-7F02-7D1B40ECA6A7}"/>
              </a:ext>
            </a:extLst>
          </p:cNvPr>
          <p:cNvSpPr txBox="1">
            <a:spLocks/>
          </p:cNvSpPr>
          <p:nvPr/>
        </p:nvSpPr>
        <p:spPr>
          <a:xfrm>
            <a:off x="1115616" y="5517232"/>
            <a:ext cx="6660542" cy="1080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zh-TW" sz="1400" b="0" dirty="0"/>
              <a:t>S200 MS - 3/15 LP-N1 PTC up def:0.62~8.91%, FH 5143 AOI re-check</a:t>
            </a:r>
          </a:p>
          <a:p>
            <a:r>
              <a:rPr kumimoji="0" lang="en-US" altLang="zh-TW" sz="1400" b="0" dirty="0"/>
              <a:t>M034DIK-BA5C89-25091780-5025_op-5X Def% : 0.46~7.61%</a:t>
            </a:r>
          </a:p>
          <a:p>
            <a:r>
              <a:rPr kumimoji="0" lang="en-US" altLang="zh-TW" sz="1400" b="0" dirty="0"/>
              <a:t>Leica OM check #11</a:t>
            </a:r>
            <a:r>
              <a:rPr kumimoji="0" lang="zh-TW" altLang="en-US" sz="1400" b="0" dirty="0"/>
              <a:t> </a:t>
            </a:r>
            <a:r>
              <a:rPr kumimoji="0" lang="en-US" altLang="zh-TW" sz="1400" b="0" dirty="0"/>
              <a:t>Local by LP-N1 PTC issue</a:t>
            </a:r>
          </a:p>
          <a:p>
            <a:r>
              <a:rPr kumimoji="0" lang="en-US" altLang="zh-TW" sz="1400" b="0" dirty="0"/>
              <a:t>Product to S210 confirm</a:t>
            </a:r>
            <a:endParaRPr kumimoji="0" lang="zh-TW" altLang="zh-TW" sz="1400" b="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79FBFF5-AD42-734F-4480-E6034A86A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947" y="1304962"/>
            <a:ext cx="4212270" cy="421227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B9B7F5A-3660-B6E1-C25C-D702BCF66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304962"/>
            <a:ext cx="2448272" cy="421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83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>
            <a:extLst>
              <a:ext uri="{FF2B5EF4-FFF2-40B4-BE49-F238E27FC236}">
                <a16:creationId xmlns:a16="http://schemas.microsoft.com/office/drawing/2014/main" id="{B7796AD4-AB9E-7825-0C58-06CC949323E9}"/>
              </a:ext>
            </a:extLst>
          </p:cNvPr>
          <p:cNvGrpSpPr/>
          <p:nvPr/>
        </p:nvGrpSpPr>
        <p:grpSpPr>
          <a:xfrm>
            <a:off x="179512" y="1922018"/>
            <a:ext cx="4104456" cy="3096344"/>
            <a:chOff x="-13430000" y="-5369298"/>
            <a:chExt cx="16256000" cy="12194610"/>
          </a:xfrm>
        </p:grpSpPr>
        <p:pic>
          <p:nvPicPr>
            <p:cNvPr id="13" name="圖片 12" descr="一張含有 螢幕擷取畫面, Rectangle, 正方形, 藝術 的圖片&#10;&#10;自動產生的描述">
              <a:extLst>
                <a:ext uri="{FF2B5EF4-FFF2-40B4-BE49-F238E27FC236}">
                  <a16:creationId xmlns:a16="http://schemas.microsoft.com/office/drawing/2014/main" id="{E9E66123-E703-7286-4396-816EA8D0B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302000" y="701988"/>
              <a:ext cx="8128000" cy="6096000"/>
            </a:xfrm>
            <a:prstGeom prst="rect">
              <a:avLst/>
            </a:prstGeom>
          </p:spPr>
        </p:pic>
        <p:pic>
          <p:nvPicPr>
            <p:cNvPr id="15" name="圖片 14" descr="一張含有 文字, 螢幕擷取畫面, 樣式, 布 的圖片&#10;&#10;自動產生的描述">
              <a:extLst>
                <a:ext uri="{FF2B5EF4-FFF2-40B4-BE49-F238E27FC236}">
                  <a16:creationId xmlns:a16="http://schemas.microsoft.com/office/drawing/2014/main" id="{81A954C0-D30A-9AF3-74C7-FF97BF33D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3430000" y="729312"/>
              <a:ext cx="8128000" cy="6096000"/>
            </a:xfrm>
            <a:prstGeom prst="rect">
              <a:avLst/>
            </a:prstGeom>
          </p:spPr>
        </p:pic>
        <p:pic>
          <p:nvPicPr>
            <p:cNvPr id="17" name="圖片 16" descr="一張含有 布, 服裝, 樣式 的圖片&#10;&#10;自動產生的描述">
              <a:extLst>
                <a:ext uri="{FF2B5EF4-FFF2-40B4-BE49-F238E27FC236}">
                  <a16:creationId xmlns:a16="http://schemas.microsoft.com/office/drawing/2014/main" id="{162FD057-B2FF-7F38-DBA5-A3F94411D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302000" y="-5369298"/>
              <a:ext cx="8128000" cy="6096000"/>
            </a:xfrm>
            <a:prstGeom prst="rect">
              <a:avLst/>
            </a:prstGeom>
          </p:spPr>
        </p:pic>
        <p:pic>
          <p:nvPicPr>
            <p:cNvPr id="19" name="圖片 18" descr="一張含有 戶外, 天空, 飛行, 鳥類 的圖片&#10;&#10;自動產生的描述">
              <a:extLst>
                <a:ext uri="{FF2B5EF4-FFF2-40B4-BE49-F238E27FC236}">
                  <a16:creationId xmlns:a16="http://schemas.microsoft.com/office/drawing/2014/main" id="{377B9AD6-53BE-9C2D-320E-D75647A32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3430000" y="-5369298"/>
              <a:ext cx="8128000" cy="6096000"/>
            </a:xfrm>
            <a:prstGeom prst="rect">
              <a:avLst/>
            </a:prstGeom>
          </p:spPr>
        </p:pic>
      </p:grp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1520" y="5301208"/>
            <a:ext cx="8640960" cy="396044"/>
          </a:xfrm>
        </p:spPr>
        <p:txBody>
          <a:bodyPr/>
          <a:lstStyle/>
          <a:p>
            <a:r>
              <a:rPr lang="en-US" altLang="zh-TW" dirty="0">
                <a:latin typeface="Arial Black" panose="020B0A04020102020204" pitchFamily="34" charset="0"/>
              </a:rPr>
              <a:t>Leica OM check :  #11 Local by LP-N1 PTC issue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875618A-8781-1CD3-B7D9-3A24AD60C827}"/>
              </a:ext>
            </a:extLst>
          </p:cNvPr>
          <p:cNvSpPr txBox="1"/>
          <p:nvPr/>
        </p:nvSpPr>
        <p:spPr>
          <a:xfrm>
            <a:off x="179512" y="1922018"/>
            <a:ext cx="648072" cy="369332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Arial Black" panose="020B0A04020102020204" pitchFamily="34" charset="0"/>
              </a:rPr>
              <a:t>#11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E968F57F-84F1-668F-D840-CD916A8A9AA7}"/>
              </a:ext>
            </a:extLst>
          </p:cNvPr>
          <p:cNvGrpSpPr/>
          <p:nvPr/>
        </p:nvGrpSpPr>
        <p:grpSpPr>
          <a:xfrm>
            <a:off x="4817084" y="1921481"/>
            <a:ext cx="4075396" cy="3089944"/>
            <a:chOff x="6890000" y="-5355452"/>
            <a:chExt cx="16256000" cy="12187217"/>
          </a:xfrm>
        </p:grpSpPr>
        <p:pic>
          <p:nvPicPr>
            <p:cNvPr id="4" name="圖片 3" descr="一張含有 螢幕擷取畫面, Rectangle, 藝術 的圖片&#10;&#10;自動產生的描述">
              <a:extLst>
                <a:ext uri="{FF2B5EF4-FFF2-40B4-BE49-F238E27FC236}">
                  <a16:creationId xmlns:a16="http://schemas.microsoft.com/office/drawing/2014/main" id="{C539EB86-9380-52A3-4A51-D94117A27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0000" y="735765"/>
              <a:ext cx="8128000" cy="6096000"/>
            </a:xfrm>
            <a:prstGeom prst="rect">
              <a:avLst/>
            </a:prstGeom>
          </p:spPr>
        </p:pic>
        <p:pic>
          <p:nvPicPr>
            <p:cNvPr id="7" name="圖片 6" descr="一張含有 螢幕擷取畫面, 布 的圖片&#10;&#10;自動產生的描述">
              <a:extLst>
                <a:ext uri="{FF2B5EF4-FFF2-40B4-BE49-F238E27FC236}">
                  <a16:creationId xmlns:a16="http://schemas.microsoft.com/office/drawing/2014/main" id="{DBCF766F-0F82-56A6-2757-63E051223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18000" y="735765"/>
              <a:ext cx="8128000" cy="6096000"/>
            </a:xfrm>
            <a:prstGeom prst="rect">
              <a:avLst/>
            </a:prstGeom>
          </p:spPr>
        </p:pic>
        <p:pic>
          <p:nvPicPr>
            <p:cNvPr id="9" name="圖片 8" descr="一張含有 螢幕擷取畫面, 方案, 圖表, Rectangle 的圖片&#10;&#10;自動產生的描述">
              <a:extLst>
                <a:ext uri="{FF2B5EF4-FFF2-40B4-BE49-F238E27FC236}">
                  <a16:creationId xmlns:a16="http://schemas.microsoft.com/office/drawing/2014/main" id="{3347DBCE-20FB-01DE-85CF-C5B43E498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18000" y="-5355452"/>
              <a:ext cx="8128000" cy="6096000"/>
            </a:xfrm>
            <a:prstGeom prst="rect">
              <a:avLst/>
            </a:prstGeom>
          </p:spPr>
        </p:pic>
        <p:pic>
          <p:nvPicPr>
            <p:cNvPr id="11" name="圖片 10" descr="一張含有 Rectangle, 螢幕擷取畫面, 藝術, 藍色 的圖片&#10;&#10;自動產生的描述">
              <a:extLst>
                <a:ext uri="{FF2B5EF4-FFF2-40B4-BE49-F238E27FC236}">
                  <a16:creationId xmlns:a16="http://schemas.microsoft.com/office/drawing/2014/main" id="{7CFD79BB-A898-5C22-883A-24783AEC6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0000" y="-5355452"/>
              <a:ext cx="8128000" cy="6096000"/>
            </a:xfrm>
            <a:prstGeom prst="rect">
              <a:avLst/>
            </a:prstGeom>
          </p:spPr>
        </p:pic>
      </p:grpSp>
      <p:sp>
        <p:nvSpPr>
          <p:cNvPr id="3" name="Rectangle 4">
            <a:extLst>
              <a:ext uri="{FF2B5EF4-FFF2-40B4-BE49-F238E27FC236}">
                <a16:creationId xmlns:a16="http://schemas.microsoft.com/office/drawing/2014/main" id="{EF257FEF-EA52-1330-289B-C7DA225FD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338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1DD42-B0BD-7E31-FF29-FB7F8EC4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3675"/>
            <a:ext cx="8229600" cy="365125"/>
          </a:xfrm>
        </p:spPr>
        <p:txBody>
          <a:bodyPr/>
          <a:lstStyle/>
          <a:p>
            <a:r>
              <a:rPr lang="en-US" sz="3200" dirty="0"/>
              <a:t>AOI - </a:t>
            </a:r>
            <a:r>
              <a:rPr lang="en-US" altLang="zh-TW" sz="3200" dirty="0"/>
              <a:t>M030TI-BA5D26-25092960-4518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53EFAE-232A-50AD-458A-0B18B6412C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4" name="圖片 2">
            <a:extLst>
              <a:ext uri="{FF2B5EF4-FFF2-40B4-BE49-F238E27FC236}">
                <a16:creationId xmlns:a16="http://schemas.microsoft.com/office/drawing/2014/main" id="{2B9AC764-66F6-25A7-0BA9-C1FCEA798AE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4272" y="1721052"/>
            <a:ext cx="4553422" cy="4227708"/>
          </a:xfrm>
          <a:prstGeom prst="rect">
            <a:avLst/>
          </a:prstGeom>
        </p:spPr>
      </p:pic>
      <p:pic>
        <p:nvPicPr>
          <p:cNvPr id="5" name="圖片 3">
            <a:extLst>
              <a:ext uri="{FF2B5EF4-FFF2-40B4-BE49-F238E27FC236}">
                <a16:creationId xmlns:a16="http://schemas.microsoft.com/office/drawing/2014/main" id="{C9AAE6C8-43B7-4002-761B-380B271089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0444" y="1721572"/>
            <a:ext cx="2601956" cy="4227708"/>
          </a:xfrm>
          <a:prstGeom prst="rect">
            <a:avLst/>
          </a:prstGeom>
        </p:spPr>
      </p:pic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4B495AFE-0499-F4D4-1DEF-FEEF68AB7529}"/>
              </a:ext>
            </a:extLst>
          </p:cNvPr>
          <p:cNvSpPr txBox="1">
            <a:spLocks/>
          </p:cNvSpPr>
          <p:nvPr/>
        </p:nvSpPr>
        <p:spPr>
          <a:xfrm>
            <a:off x="899592" y="5949280"/>
            <a:ext cx="7344816" cy="7920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zh-TW" sz="1400" dirty="0"/>
              <a:t>M030TI-BA5D26-25092960-4518-op (No spec) – issue lot</a:t>
            </a:r>
          </a:p>
          <a:p>
            <a:r>
              <a:rPr kumimoji="0" lang="en-US" altLang="zh-TW" sz="1400" dirty="0"/>
              <a:t>Def 0.1~4.58%</a:t>
            </a:r>
          </a:p>
          <a:p>
            <a:r>
              <a:rPr kumimoji="0" lang="en-US" altLang="zh-TW" sz="1400" dirty="0"/>
              <a:t>21 pcs local map at 11 o’clock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6DC651-A16B-A26B-03DC-29AA7F963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5113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E0D15B23-EC07-DB46-DB86-6CDFAB8C3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C8A6E-D65D-6C11-3BAE-7E61EBC5C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3" name="圖片 3">
            <a:extLst>
              <a:ext uri="{FF2B5EF4-FFF2-40B4-BE49-F238E27FC236}">
                <a16:creationId xmlns:a16="http://schemas.microsoft.com/office/drawing/2014/main" id="{4AA45F40-DD19-6DD9-5013-0CF5BC478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48" y="1616510"/>
            <a:ext cx="4297968" cy="4188753"/>
          </a:xfrm>
          <a:prstGeom prst="rect">
            <a:avLst/>
          </a:prstGeom>
        </p:spPr>
      </p:pic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4911DA29-7818-6EB6-8F70-5E05F9A827ED}"/>
              </a:ext>
            </a:extLst>
          </p:cNvPr>
          <p:cNvSpPr txBox="1">
            <a:spLocks/>
          </p:cNvSpPr>
          <p:nvPr/>
        </p:nvSpPr>
        <p:spPr>
          <a:xfrm>
            <a:off x="324016" y="5796024"/>
            <a:ext cx="4247984" cy="6573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zh-TW" sz="1800" dirty="0"/>
              <a:t>AOI map #6 by 11 o’clock</a:t>
            </a:r>
          </a:p>
          <a:p>
            <a:r>
              <a:rPr kumimoji="0" lang="en-US" altLang="zh-TW" sz="1800" dirty="0"/>
              <a:t>Defect size major: 1~2 um</a:t>
            </a:r>
            <a:endParaRPr kumimoji="0" lang="en-US" altLang="zh-TW" sz="18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kumimoji="0" lang="en-US" altLang="zh-TW" sz="1800" dirty="0"/>
              <a:t> </a:t>
            </a:r>
          </a:p>
        </p:txBody>
      </p:sp>
      <p:sp>
        <p:nvSpPr>
          <p:cNvPr id="5" name="文字方塊 7">
            <a:extLst>
              <a:ext uri="{FF2B5EF4-FFF2-40B4-BE49-F238E27FC236}">
                <a16:creationId xmlns:a16="http://schemas.microsoft.com/office/drawing/2014/main" id="{6D994F35-B6B4-4E61-A86C-776F5A6C996E}"/>
              </a:ext>
            </a:extLst>
          </p:cNvPr>
          <p:cNvSpPr txBox="1"/>
          <p:nvPr/>
        </p:nvSpPr>
        <p:spPr>
          <a:xfrm>
            <a:off x="642536" y="1753071"/>
            <a:ext cx="40107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Cambria" panose="02040503050406030204" pitchFamily="18" charset="0"/>
              </a:rPr>
              <a:t>#6</a:t>
            </a:r>
            <a:endParaRPr lang="zh-TW" altLang="en-US" sz="1400" b="1" dirty="0">
              <a:latin typeface="Cambria" panose="020405030504060302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F5B076-BC56-F5C7-90E2-C4D6FF0B2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611165"/>
            <a:ext cx="3136356" cy="2255483"/>
          </a:xfrm>
          <a:prstGeom prst="rect">
            <a:avLst/>
          </a:prstGeom>
        </p:spPr>
      </p:pic>
      <p:pic>
        <p:nvPicPr>
          <p:cNvPr id="7" name="圖片 8">
            <a:extLst>
              <a:ext uri="{FF2B5EF4-FFF2-40B4-BE49-F238E27FC236}">
                <a16:creationId xmlns:a16="http://schemas.microsoft.com/office/drawing/2014/main" id="{DDCC68D3-9241-081E-71C8-D74C204B2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4047522"/>
            <a:ext cx="2779783" cy="267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88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35D511-919C-49CF-4142-EDECE92F5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3" name="圖片 18" descr="一張含有 螢幕擷取畫面, 鮮豔, 黃色, Rectangle 的圖片&#10;&#10;AI 產生的內容可能不正確。">
            <a:extLst>
              <a:ext uri="{FF2B5EF4-FFF2-40B4-BE49-F238E27FC236}">
                <a16:creationId xmlns:a16="http://schemas.microsoft.com/office/drawing/2014/main" id="{76DE1ACC-E4DC-2598-319E-A52CA16D5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520" y="1520825"/>
            <a:ext cx="4320000" cy="3240000"/>
          </a:xfrm>
          <a:prstGeom prst="rect">
            <a:avLst/>
          </a:prstGeom>
        </p:spPr>
      </p:pic>
      <p:pic>
        <p:nvPicPr>
          <p:cNvPr id="4" name="圖片 20" descr="一張含有 螢幕擷取畫面, Rectangle, 鮮豔, 正方形 的圖片&#10;&#10;AI 產生的內容可能不正確。">
            <a:extLst>
              <a:ext uri="{FF2B5EF4-FFF2-40B4-BE49-F238E27FC236}">
                <a16:creationId xmlns:a16="http://schemas.microsoft.com/office/drawing/2014/main" id="{97F55866-EF55-53F9-46EA-59CBB5C4B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1520825"/>
            <a:ext cx="4320000" cy="3240000"/>
          </a:xfrm>
          <a:prstGeom prst="rect">
            <a:avLst/>
          </a:prstGeom>
        </p:spPr>
      </p:pic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0399C538-AA82-E755-6817-1758E6AAE71C}"/>
              </a:ext>
            </a:extLst>
          </p:cNvPr>
          <p:cNvSpPr txBox="1">
            <a:spLocks/>
          </p:cNvSpPr>
          <p:nvPr/>
        </p:nvSpPr>
        <p:spPr>
          <a:xfrm>
            <a:off x="251040" y="5063292"/>
            <a:ext cx="8640960" cy="74197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2000" dirty="0"/>
              <a:t>OM check</a:t>
            </a:r>
            <a:r>
              <a:rPr kumimoji="0" lang="zh-TW" altLang="en-US" sz="2000" dirty="0"/>
              <a:t> </a:t>
            </a:r>
            <a:r>
              <a:rPr kumimoji="0" lang="en-US" altLang="zh-TW" sz="2000" dirty="0"/>
              <a:t>by </a:t>
            </a:r>
            <a:r>
              <a:rPr kumimoji="0" lang="zh-TW" altLang="en-US" sz="2000" dirty="0"/>
              <a:t>偏表層 </a:t>
            </a:r>
            <a:r>
              <a:rPr kumimoji="0" lang="en-US" altLang="zh-TW" sz="2000" dirty="0"/>
              <a:t>defect</a:t>
            </a:r>
            <a:r>
              <a:rPr kumimoji="0" lang="zh-TW" altLang="en-US" sz="2000" dirty="0"/>
              <a:t> </a:t>
            </a:r>
            <a:r>
              <a:rPr kumimoji="0" lang="en-US" altLang="zh-TW" sz="2000" dirty="0"/>
              <a:t>(</a:t>
            </a:r>
            <a:r>
              <a:rPr kumimoji="0" lang="en-US" altLang="zh-TW" sz="2000" dirty="0" err="1"/>
              <a:t>SiN</a:t>
            </a:r>
            <a:r>
              <a:rPr kumimoji="0" lang="en-US" altLang="zh-TW" sz="2000" dirty="0"/>
              <a:t> dep. defect)</a:t>
            </a:r>
          </a:p>
          <a:p>
            <a:pPr lvl="1"/>
            <a:r>
              <a:rPr kumimoji="0" lang="zh-TW" altLang="en-US" sz="1800" dirty="0"/>
              <a:t>蓋光阻區域 </a:t>
            </a:r>
            <a:r>
              <a:rPr kumimoji="0" lang="en-US" altLang="zh-TW" sz="1800" dirty="0"/>
              <a:t>defect</a:t>
            </a:r>
            <a:r>
              <a:rPr kumimoji="0" lang="zh-TW" altLang="en-US" sz="1800" dirty="0"/>
              <a:t> 有暈 </a:t>
            </a:r>
            <a:r>
              <a:rPr kumimoji="0" lang="en-US" altLang="zh-TW" sz="1800" dirty="0"/>
              <a:t>(defect under PR)</a:t>
            </a:r>
          </a:p>
          <a:p>
            <a:endParaRPr kumimoji="0" lang="en-US" altLang="zh-TW" sz="2000" dirty="0">
              <a:solidFill>
                <a:srgbClr val="C00000"/>
              </a:solidFill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177C7AF-4389-8A9C-E6EC-07A01D2748D9}"/>
              </a:ext>
            </a:extLst>
          </p:cNvPr>
          <p:cNvSpPr txBox="1">
            <a:spLocks/>
          </p:cNvSpPr>
          <p:nvPr/>
        </p:nvSpPr>
        <p:spPr>
          <a:xfrm>
            <a:off x="899592" y="1534834"/>
            <a:ext cx="1042205" cy="288069"/>
          </a:xfrm>
          <a:prstGeom prst="rect">
            <a:avLst/>
          </a:prstGeom>
          <a:noFill/>
        </p:spPr>
        <p:txBody>
          <a:bodyPr/>
          <a:lstStyle>
            <a:defPPr>
              <a:defRPr lang="zh-TW"/>
            </a:defPPr>
            <a:lvl1pPr marL="0" marR="0" indent="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C00000"/>
              </a:buClr>
              <a:buSzTx/>
              <a:buFont typeface="Wingdings" pitchFamily="2" charset="2"/>
              <a:buNone/>
              <a:tabLst/>
              <a:defRPr kumimoji="0" sz="1600" b="1" baseline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微軟正黑體" panose="020B0604030504040204" pitchFamily="34" charset="-120"/>
                <a:cs typeface="Arial" pitchFamily="34" charset="0"/>
              </a:defRPr>
            </a:lvl1pPr>
            <a:lvl2pPr marL="628650" marR="0" indent="-2286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3333FF"/>
              </a:buClr>
              <a:buSzTx/>
              <a:buFont typeface="Wingdings" pitchFamily="2" charset="2"/>
              <a:buChar char="l"/>
              <a:tabLst/>
              <a:defRPr sz="1600" b="1" baseline="0">
                <a:ea typeface="微軟正黑體" panose="020B0604030504040204" pitchFamily="34" charset="-120"/>
                <a:cs typeface="Arial" pitchFamily="34" charset="0"/>
              </a:defRPr>
            </a:lvl2pPr>
            <a:lvl3pPr marL="895350" marR="0" indent="-2667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00B050"/>
              </a:buClr>
              <a:buSzTx/>
              <a:buFont typeface="Wingdings" panose="05000000000000000000" pitchFamily="2" charset="2"/>
              <a:buChar char="v"/>
              <a:tabLst/>
              <a:defRPr sz="1600" b="0" baseline="0">
                <a:ea typeface="微軟正黑體" panose="020B0604030504040204" pitchFamily="34" charset="-12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PR area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7" name="橢圓 21">
            <a:extLst>
              <a:ext uri="{FF2B5EF4-FFF2-40B4-BE49-F238E27FC236}">
                <a16:creationId xmlns:a16="http://schemas.microsoft.com/office/drawing/2014/main" id="{13E7AA60-4CB6-4969-17DD-86A9DBB30742}"/>
              </a:ext>
            </a:extLst>
          </p:cNvPr>
          <p:cNvSpPr/>
          <p:nvPr/>
        </p:nvSpPr>
        <p:spPr>
          <a:xfrm>
            <a:off x="7740352" y="2024881"/>
            <a:ext cx="648072" cy="64807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內容版面配置區 5">
            <a:extLst>
              <a:ext uri="{FF2B5EF4-FFF2-40B4-BE49-F238E27FC236}">
                <a16:creationId xmlns:a16="http://schemas.microsoft.com/office/drawing/2014/main" id="{69C663D9-73BE-548C-261B-0F2037E639BB}"/>
              </a:ext>
            </a:extLst>
          </p:cNvPr>
          <p:cNvSpPr txBox="1">
            <a:spLocks/>
          </p:cNvSpPr>
          <p:nvPr/>
        </p:nvSpPr>
        <p:spPr>
          <a:xfrm>
            <a:off x="3067902" y="1519293"/>
            <a:ext cx="1042205" cy="288069"/>
          </a:xfrm>
          <a:prstGeom prst="rect">
            <a:avLst/>
          </a:prstGeom>
          <a:noFill/>
        </p:spPr>
        <p:txBody>
          <a:bodyPr/>
          <a:lstStyle>
            <a:defPPr>
              <a:defRPr lang="zh-TW"/>
            </a:defPPr>
            <a:lvl1pPr marL="0" marR="0" indent="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C00000"/>
              </a:buClr>
              <a:buSzTx/>
              <a:buFont typeface="Wingdings" pitchFamily="2" charset="2"/>
              <a:buNone/>
              <a:tabLst/>
              <a:defRPr kumimoji="0" sz="1600" b="1" baseline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微軟正黑體" panose="020B0604030504040204" pitchFamily="34" charset="-120"/>
                <a:cs typeface="Arial" pitchFamily="34" charset="0"/>
              </a:defRPr>
            </a:lvl1pPr>
            <a:lvl2pPr marL="628650" marR="0" indent="-2286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3333FF"/>
              </a:buClr>
              <a:buSzTx/>
              <a:buFont typeface="Wingdings" pitchFamily="2" charset="2"/>
              <a:buChar char="l"/>
              <a:tabLst/>
              <a:defRPr sz="1600" b="1" baseline="0">
                <a:ea typeface="微軟正黑體" panose="020B0604030504040204" pitchFamily="34" charset="-120"/>
                <a:cs typeface="Arial" pitchFamily="34" charset="0"/>
              </a:defRPr>
            </a:lvl2pPr>
            <a:lvl3pPr marL="895350" marR="0" indent="-2667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00B050"/>
              </a:buClr>
              <a:buSzTx/>
              <a:buFont typeface="Wingdings" panose="05000000000000000000" pitchFamily="2" charset="2"/>
              <a:buChar char="v"/>
              <a:tabLst/>
              <a:defRPr sz="1600" b="0" baseline="0">
                <a:ea typeface="微軟正黑體" panose="020B0604030504040204" pitchFamily="34" charset="-12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PR area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9" name="內容版面配置區 5">
            <a:extLst>
              <a:ext uri="{FF2B5EF4-FFF2-40B4-BE49-F238E27FC236}">
                <a16:creationId xmlns:a16="http://schemas.microsoft.com/office/drawing/2014/main" id="{B181724F-FD26-6D91-4AF1-4DDDB60692F6}"/>
              </a:ext>
            </a:extLst>
          </p:cNvPr>
          <p:cNvSpPr txBox="1">
            <a:spLocks/>
          </p:cNvSpPr>
          <p:nvPr/>
        </p:nvSpPr>
        <p:spPr>
          <a:xfrm>
            <a:off x="7543285" y="1484784"/>
            <a:ext cx="1042205" cy="288069"/>
          </a:xfrm>
          <a:prstGeom prst="rect">
            <a:avLst/>
          </a:prstGeom>
          <a:noFill/>
        </p:spPr>
        <p:txBody>
          <a:bodyPr/>
          <a:lstStyle>
            <a:defPPr>
              <a:defRPr lang="zh-TW"/>
            </a:defPPr>
            <a:lvl1pPr marL="0" marR="0" indent="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C00000"/>
              </a:buClr>
              <a:buSzTx/>
              <a:buFont typeface="Wingdings" pitchFamily="2" charset="2"/>
              <a:buNone/>
              <a:tabLst/>
              <a:defRPr kumimoji="0" sz="1600" b="1" baseline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微軟正黑體" panose="020B0604030504040204" pitchFamily="34" charset="-120"/>
                <a:cs typeface="Arial" pitchFamily="34" charset="0"/>
              </a:defRPr>
            </a:lvl1pPr>
            <a:lvl2pPr marL="628650" marR="0" indent="-2286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3333FF"/>
              </a:buClr>
              <a:buSzTx/>
              <a:buFont typeface="Wingdings" pitchFamily="2" charset="2"/>
              <a:buChar char="l"/>
              <a:tabLst/>
              <a:defRPr sz="1600" b="1" baseline="0">
                <a:ea typeface="微軟正黑體" panose="020B0604030504040204" pitchFamily="34" charset="-120"/>
                <a:cs typeface="Arial" pitchFamily="34" charset="0"/>
              </a:defRPr>
            </a:lvl2pPr>
            <a:lvl3pPr marL="895350" marR="0" indent="-2667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00B050"/>
              </a:buClr>
              <a:buSzTx/>
              <a:buFont typeface="Wingdings" panose="05000000000000000000" pitchFamily="2" charset="2"/>
              <a:buChar char="v"/>
              <a:tabLst/>
              <a:defRPr sz="1600" b="0" baseline="0">
                <a:ea typeface="微軟正黑體" panose="020B0604030504040204" pitchFamily="34" charset="-12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PR area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10" name="內容版面配置區 5">
            <a:extLst>
              <a:ext uri="{FF2B5EF4-FFF2-40B4-BE49-F238E27FC236}">
                <a16:creationId xmlns:a16="http://schemas.microsoft.com/office/drawing/2014/main" id="{8CC69EC5-F39B-A2FB-1802-275442FABEC2}"/>
              </a:ext>
            </a:extLst>
          </p:cNvPr>
          <p:cNvSpPr txBox="1">
            <a:spLocks/>
          </p:cNvSpPr>
          <p:nvPr/>
        </p:nvSpPr>
        <p:spPr>
          <a:xfrm>
            <a:off x="7615995" y="3227485"/>
            <a:ext cx="1042205" cy="288069"/>
          </a:xfrm>
          <a:prstGeom prst="rect">
            <a:avLst/>
          </a:prstGeom>
          <a:noFill/>
        </p:spPr>
        <p:txBody>
          <a:bodyPr/>
          <a:lstStyle>
            <a:defPPr>
              <a:defRPr lang="zh-TW"/>
            </a:defPPr>
            <a:lvl1pPr marL="0" marR="0" indent="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C00000"/>
              </a:buClr>
              <a:buSzTx/>
              <a:buFont typeface="Wingdings" pitchFamily="2" charset="2"/>
              <a:buNone/>
              <a:tabLst/>
              <a:defRPr kumimoji="0" sz="1600" b="1" baseline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微軟正黑體" panose="020B0604030504040204" pitchFamily="34" charset="-120"/>
                <a:cs typeface="Arial" pitchFamily="34" charset="0"/>
              </a:defRPr>
            </a:lvl1pPr>
            <a:lvl2pPr marL="628650" marR="0" indent="-2286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3333FF"/>
              </a:buClr>
              <a:buSzTx/>
              <a:buFont typeface="Wingdings" pitchFamily="2" charset="2"/>
              <a:buChar char="l"/>
              <a:tabLst/>
              <a:defRPr sz="1600" b="1" baseline="0">
                <a:ea typeface="微軟正黑體" panose="020B0604030504040204" pitchFamily="34" charset="-120"/>
                <a:cs typeface="Arial" pitchFamily="34" charset="0"/>
              </a:defRPr>
            </a:lvl2pPr>
            <a:lvl3pPr marL="895350" marR="0" indent="-2667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00B050"/>
              </a:buClr>
              <a:buSzTx/>
              <a:buFont typeface="Wingdings" panose="05000000000000000000" pitchFamily="2" charset="2"/>
              <a:buChar char="v"/>
              <a:tabLst/>
              <a:defRPr sz="1600" b="0" baseline="0">
                <a:ea typeface="微軟正黑體" panose="020B0604030504040204" pitchFamily="34" charset="-12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PR area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104C7C2D-2E7B-E3D5-876B-AAFF6CFB1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323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C8A6E-D65D-6C11-3BAE-7E61EBC5C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5" name="文字方塊 7">
            <a:extLst>
              <a:ext uri="{FF2B5EF4-FFF2-40B4-BE49-F238E27FC236}">
                <a16:creationId xmlns:a16="http://schemas.microsoft.com/office/drawing/2014/main" id="{6D994F35-B6B4-4E61-A86C-776F5A6C996E}"/>
              </a:ext>
            </a:extLst>
          </p:cNvPr>
          <p:cNvSpPr txBox="1"/>
          <p:nvPr/>
        </p:nvSpPr>
        <p:spPr>
          <a:xfrm>
            <a:off x="323528" y="1362254"/>
            <a:ext cx="648072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+mn-lt"/>
              </a:rPr>
              <a:t>25093170/25092960 Do SINRWK </a:t>
            </a:r>
            <a:r>
              <a:rPr lang="zh-TW" altLang="en-US" sz="1600" dirty="0">
                <a:latin typeface="+mn-lt"/>
              </a:rPr>
              <a:t> </a:t>
            </a:r>
            <a:r>
              <a:rPr lang="en-US" altLang="zh-TW" sz="1600" dirty="0">
                <a:latin typeface="+mn-lt"/>
              </a:rPr>
              <a:t>PAD</a:t>
            </a:r>
            <a:r>
              <a:rPr lang="zh-TW" altLang="en-US" sz="1600" dirty="0">
                <a:latin typeface="+mn-lt"/>
              </a:rPr>
              <a:t>前 </a:t>
            </a:r>
            <a:r>
              <a:rPr lang="en-US" altLang="zh-TW" sz="1600" dirty="0">
                <a:latin typeface="+mn-lt"/>
              </a:rPr>
              <a:t>After B-clean check PTC</a:t>
            </a:r>
          </a:p>
        </p:txBody>
      </p:sp>
      <p:pic>
        <p:nvPicPr>
          <p:cNvPr id="9" name="圖片 8" descr="一張含有 文字, 螢幕擷取畫面, 多媒體軟體, 繪圖軟體 的圖片&#10;&#10;自動產生的描述">
            <a:extLst>
              <a:ext uri="{FF2B5EF4-FFF2-40B4-BE49-F238E27FC236}">
                <a16:creationId xmlns:a16="http://schemas.microsoft.com/office/drawing/2014/main" id="{EFC715E4-60C2-5B5F-2C73-AA97D163C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019958"/>
            <a:ext cx="4860540" cy="3240360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B4784C6-D506-4C05-DF24-2E7C6AD06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486801"/>
              </p:ext>
            </p:extLst>
          </p:nvPr>
        </p:nvGraphicFramePr>
        <p:xfrm>
          <a:off x="5436096" y="1700808"/>
          <a:ext cx="3312369" cy="4525956"/>
        </p:xfrm>
        <a:graphic>
          <a:graphicData uri="http://schemas.openxmlformats.org/drawingml/2006/table">
            <a:tbl>
              <a:tblPr/>
              <a:tblGrid>
                <a:gridCol w="775698">
                  <a:extLst>
                    <a:ext uri="{9D8B030D-6E8A-4147-A177-3AD203B41FA5}">
                      <a16:colId xmlns:a16="http://schemas.microsoft.com/office/drawing/2014/main" val="2747166813"/>
                    </a:ext>
                  </a:extLst>
                </a:gridCol>
                <a:gridCol w="892734">
                  <a:extLst>
                    <a:ext uri="{9D8B030D-6E8A-4147-A177-3AD203B41FA5}">
                      <a16:colId xmlns:a16="http://schemas.microsoft.com/office/drawing/2014/main" val="3479463301"/>
                    </a:ext>
                  </a:extLst>
                </a:gridCol>
                <a:gridCol w="751203">
                  <a:extLst>
                    <a:ext uri="{9D8B030D-6E8A-4147-A177-3AD203B41FA5}">
                      <a16:colId xmlns:a16="http://schemas.microsoft.com/office/drawing/2014/main" val="1735060930"/>
                    </a:ext>
                  </a:extLst>
                </a:gridCol>
                <a:gridCol w="892734">
                  <a:extLst>
                    <a:ext uri="{9D8B030D-6E8A-4147-A177-3AD203B41FA5}">
                      <a16:colId xmlns:a16="http://schemas.microsoft.com/office/drawing/2014/main" val="649896167"/>
                    </a:ext>
                  </a:extLst>
                </a:gridCol>
              </a:tblGrid>
              <a:tr h="1676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25093170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After B-CLEAN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25092960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After B-CLEAN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573580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Wafer ID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PTC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Wafer ID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PTC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974236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259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90286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062172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629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908720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361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47560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287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530608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43614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144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87197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467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182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959299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01908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930816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264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154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992362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813062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406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118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106312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614742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135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485560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354304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317523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903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754956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713724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532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190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15572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868341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087886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565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65985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376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070557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19" marR="7619" marT="76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7619" marR="7619" marT="761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54142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DAE1592C-4C49-8BA5-AF44-F62944EE74DC}"/>
              </a:ext>
            </a:extLst>
          </p:cNvPr>
          <p:cNvSpPr txBox="1"/>
          <p:nvPr/>
        </p:nvSpPr>
        <p:spPr>
          <a:xfrm>
            <a:off x="323528" y="543644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latin typeface="+mn-lt"/>
              </a:rPr>
              <a:t>#8 11 o’clock mapping PTC:903</a:t>
            </a:r>
          </a:p>
          <a:p>
            <a:r>
              <a:rPr lang="en-US" altLang="zh-TW" dirty="0">
                <a:latin typeface="+mn-lt"/>
              </a:rPr>
              <a:t>ALL FH 5002 FOX</a:t>
            </a:r>
            <a:r>
              <a:rPr lang="zh-TW" altLang="en-US" dirty="0">
                <a:latin typeface="+mn-lt"/>
              </a:rPr>
              <a:t>前 </a:t>
            </a:r>
            <a:r>
              <a:rPr lang="en-US" altLang="zh-TW" dirty="0">
                <a:latin typeface="+mn-lt"/>
              </a:rPr>
              <a:t>AOI check</a:t>
            </a:r>
            <a:endParaRPr lang="en-US" altLang="zh-TW" sz="1800" dirty="0">
              <a:latin typeface="+mn-lt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78EE0B-6876-989D-97C3-FAE597EAA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122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1259632" y="5589240"/>
            <a:ext cx="6624736" cy="1224136"/>
          </a:xfrm>
        </p:spPr>
        <p:txBody>
          <a:bodyPr/>
          <a:lstStyle/>
          <a:p>
            <a:pPr marL="0" indent="0">
              <a:buNone/>
            </a:pPr>
            <a:r>
              <a:rPr lang="en-US" altLang="zh-TW" u="sng" dirty="0">
                <a:latin typeface="Cambria" panose="02040503050406030204" pitchFamily="18" charset="0"/>
                <a:ea typeface="Cambria" panose="02040503050406030204" pitchFamily="18" charset="0"/>
              </a:rPr>
              <a:t>25091780-M034DI-BA5C89-4612-op</a:t>
            </a:r>
          </a:p>
          <a:p>
            <a:pPr marL="285750" lvl="1" indent="-285750"/>
            <a:r>
              <a:rPr lang="en-US" altLang="zh-TW" sz="1400" dirty="0">
                <a:latin typeface="Cambria" panose="02040503050406030204" pitchFamily="18" charset="0"/>
                <a:ea typeface="Cambria" panose="02040503050406030204" pitchFamily="18" charset="0"/>
              </a:rPr>
              <a:t>AOI scan defect rate: 0.62~8.91%</a:t>
            </a:r>
          </a:p>
          <a:p>
            <a:pPr marL="285750" lvl="1" indent="-285750"/>
            <a:r>
              <a:rPr lang="en-US" altLang="zh-TW" sz="1400" dirty="0">
                <a:latin typeface="Cambria" panose="02040503050406030204" pitchFamily="18" charset="0"/>
                <a:ea typeface="Cambria" panose="02040503050406030204" pitchFamily="18" charset="0"/>
              </a:rPr>
              <a:t>OM check #11 local by </a:t>
            </a:r>
            <a:r>
              <a:rPr lang="en-US" altLang="zh-TW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SiN</a:t>
            </a:r>
            <a:r>
              <a:rPr lang="en-US" altLang="zh-TW" sz="1400" dirty="0">
                <a:latin typeface="Cambria" panose="02040503050406030204" pitchFamily="18" charset="0"/>
                <a:ea typeface="Cambria" panose="02040503050406030204" pitchFamily="18" charset="0"/>
              </a:rPr>
              <a:t> dep. defect issue</a:t>
            </a:r>
          </a:p>
          <a:p>
            <a:pPr marL="285750" lvl="1" indent="-285750"/>
            <a:r>
              <a:rPr lang="en-US" altLang="zh-TW" sz="1400" dirty="0">
                <a:latin typeface="Cambria" panose="02040503050406030204" pitchFamily="18" charset="0"/>
                <a:ea typeface="Cambria" panose="02040503050406030204" pitchFamily="18" charset="0"/>
              </a:rPr>
              <a:t>Product for S200 check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7D3CFB7-82A0-B15E-BDAB-E82B4E11F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599241"/>
            <a:ext cx="5904656" cy="39179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68DED16-BA2B-F0F1-625A-92BE6B4102F1}"/>
              </a:ext>
            </a:extLst>
          </p:cNvPr>
          <p:cNvSpPr txBox="1">
            <a:spLocks/>
          </p:cNvSpPr>
          <p:nvPr/>
        </p:nvSpPr>
        <p:spPr>
          <a:xfrm>
            <a:off x="457200" y="1077212"/>
            <a:ext cx="8229600" cy="55158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D006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9pPr>
          </a:lstStyle>
          <a:p>
            <a:r>
              <a:rPr kumimoji="0" lang="en-US" sz="3200" dirty="0"/>
              <a:t>AOI -</a:t>
            </a:r>
            <a:r>
              <a:rPr kumimoji="0" lang="zh-TW" altLang="en-US" sz="3200" dirty="0"/>
              <a:t> </a:t>
            </a:r>
            <a:r>
              <a:rPr kumimoji="0" lang="en-US" sz="3200" dirty="0"/>
              <a:t>M034DI-BA5C89-25091780</a:t>
            </a:r>
            <a:r>
              <a:rPr kumimoji="0" lang="en-US" altLang="zh-TW" sz="3200" dirty="0"/>
              <a:t>-</a:t>
            </a:r>
            <a:r>
              <a:rPr kumimoji="0" lang="en-US" sz="3200" dirty="0"/>
              <a:t>4612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B291C1-A194-AD80-ABC8-4935BDC61EFF}"/>
              </a:ext>
            </a:extLst>
          </p:cNvPr>
          <p:cNvSpPr/>
          <p:nvPr/>
        </p:nvSpPr>
        <p:spPr>
          <a:xfrm>
            <a:off x="5775117" y="4005064"/>
            <a:ext cx="1749211" cy="1250515"/>
          </a:xfrm>
          <a:prstGeom prst="rect">
            <a:avLst/>
          </a:prstGeom>
          <a:noFill/>
          <a:ln>
            <a:solidFill>
              <a:srgbClr val="FE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9FA27C5-8B38-C4B5-6085-140D03D6348A}"/>
              </a:ext>
            </a:extLst>
          </p:cNvPr>
          <p:cNvSpPr txBox="1"/>
          <p:nvPr/>
        </p:nvSpPr>
        <p:spPr>
          <a:xfrm>
            <a:off x="7524328" y="4286056"/>
            <a:ext cx="15121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共</a:t>
            </a:r>
            <a:r>
              <a:rPr lang="en-US" altLang="zh-TW" sz="1400" dirty="0"/>
              <a:t>12</a:t>
            </a:r>
            <a:r>
              <a:rPr lang="zh-TW" altLang="en-US" sz="1400" dirty="0"/>
              <a:t>片</a:t>
            </a:r>
            <a:r>
              <a:rPr lang="en-US" altLang="zh-TW" sz="1400" dirty="0"/>
              <a:t>def&gt;5%</a:t>
            </a:r>
          </a:p>
          <a:p>
            <a:r>
              <a:rPr lang="en-US" sz="1400" dirty="0"/>
              <a:t>5.05~8.91%</a:t>
            </a:r>
          </a:p>
          <a:p>
            <a:endParaRPr lang="en-US" sz="14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F87051-A994-B1D7-805A-E4C55EAA4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5832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4150445-D0A5-0B01-EDA9-81B4A51CB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06" y="2204864"/>
            <a:ext cx="3318546" cy="3240000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749398" y="2298358"/>
            <a:ext cx="648072" cy="338554"/>
          </a:xfrm>
          <a:prstGeom prst="rect">
            <a:avLst/>
          </a:prstGeom>
          <a:noFill/>
        </p:spPr>
        <p:txBody>
          <a:bodyPr/>
          <a:lstStyle>
            <a:defPPr>
              <a:defRPr lang="zh-TW"/>
            </a:defPPr>
            <a:lvl1pPr marL="0" marR="0" indent="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C00000"/>
              </a:buClr>
              <a:buSzTx/>
              <a:buFont typeface="Wingdings" pitchFamily="2" charset="2"/>
              <a:buNone/>
              <a:tabLst/>
              <a:defRPr kumimoji="0" sz="1600" b="1" baseline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微軟正黑體" panose="020B0604030504040204" pitchFamily="34" charset="-120"/>
                <a:cs typeface="Arial" pitchFamily="34" charset="0"/>
              </a:defRPr>
            </a:lvl1pPr>
            <a:lvl2pPr marL="628650" marR="0" indent="-2286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3333FF"/>
              </a:buClr>
              <a:buSzTx/>
              <a:buFont typeface="Wingdings" pitchFamily="2" charset="2"/>
              <a:buChar char="l"/>
              <a:tabLst/>
              <a:defRPr sz="1600" b="1" baseline="0">
                <a:ea typeface="微軟正黑體" panose="020B0604030504040204" pitchFamily="34" charset="-120"/>
                <a:cs typeface="Arial" pitchFamily="34" charset="0"/>
              </a:defRPr>
            </a:lvl2pPr>
            <a:lvl3pPr marL="895350" marR="0" indent="-266700" defTabSz="914400" eaLnBrk="0" latinLnBrk="0" hangingPunct="0">
              <a:lnSpc>
                <a:spcPct val="100000"/>
              </a:lnSpc>
              <a:spcBef>
                <a:spcPct val="20000"/>
              </a:spcBef>
              <a:buClr>
                <a:srgbClr val="00B050"/>
              </a:buClr>
              <a:buSzTx/>
              <a:buFont typeface="Wingdings" panose="05000000000000000000" pitchFamily="2" charset="2"/>
              <a:buChar char="v"/>
              <a:tabLst/>
              <a:defRPr sz="1600" b="0" baseline="0">
                <a:ea typeface="微軟正黑體" panose="020B0604030504040204" pitchFamily="34" charset="-12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altLang="zh-TW" dirty="0">
                <a:solidFill>
                  <a:schemeClr val="tx1"/>
                </a:solidFill>
              </a:rPr>
              <a:t>#11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3" name="圖片 2" descr="一張含有 螢幕擷取畫面, 黃色, 鮮豔, Rectangle 的圖片&#10;&#10;AI 產生的內容可能不正確。">
            <a:extLst>
              <a:ext uri="{FF2B5EF4-FFF2-40B4-BE49-F238E27FC236}">
                <a16:creationId xmlns:a16="http://schemas.microsoft.com/office/drawing/2014/main" id="{F5B2C57C-DB92-8CE9-303A-28F0C5FB0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480" y="1485144"/>
            <a:ext cx="3167872" cy="2375904"/>
          </a:xfrm>
          <a:prstGeom prst="rect">
            <a:avLst/>
          </a:prstGeom>
        </p:spPr>
      </p:pic>
      <p:pic>
        <p:nvPicPr>
          <p:cNvPr id="6" name="圖片 5" descr="一張含有 螢幕擷取畫面, Rectangle, 平行, 鮮豔 的圖片&#10;&#10;AI 產生的內容可能不正確。">
            <a:extLst>
              <a:ext uri="{FF2B5EF4-FFF2-40B4-BE49-F238E27FC236}">
                <a16:creationId xmlns:a16="http://schemas.microsoft.com/office/drawing/2014/main" id="{C9E20686-C952-6F5E-F54C-80864B4AA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480" y="3861048"/>
            <a:ext cx="3167872" cy="2375904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C085732B-47EB-4D34-7996-C15363F9F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4215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356668A-32FE-0582-885D-963B2E775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7586"/>
            <a:ext cx="9144000" cy="4271327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EF8E77F-92C0-7719-C5C1-06FFCF06BB5D}"/>
              </a:ext>
            </a:extLst>
          </p:cNvPr>
          <p:cNvCxnSpPr/>
          <p:nvPr/>
        </p:nvCxnSpPr>
        <p:spPr>
          <a:xfrm>
            <a:off x="0" y="4805378"/>
            <a:ext cx="6912768" cy="0"/>
          </a:xfrm>
          <a:prstGeom prst="line">
            <a:avLst/>
          </a:prstGeom>
          <a:ln w="28575">
            <a:solidFill>
              <a:srgbClr val="FE0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257503F1-1583-1C3A-DA8E-CB0CE54DC3EC}"/>
              </a:ext>
            </a:extLst>
          </p:cNvPr>
          <p:cNvSpPr txBox="1"/>
          <p:nvPr/>
        </p:nvSpPr>
        <p:spPr>
          <a:xfrm>
            <a:off x="6084168" y="4373330"/>
            <a:ext cx="1224136" cy="369332"/>
          </a:xfrm>
          <a:prstGeom prst="rect">
            <a:avLst/>
          </a:prstGeom>
          <a:solidFill>
            <a:schemeClr val="bg1"/>
          </a:solidFill>
          <a:ln>
            <a:solidFill>
              <a:srgbClr val="FE06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目前位置</a:t>
            </a:r>
            <a:endParaRPr lang="en-US" dirty="0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5779237A-BB8C-F38B-96DC-3F642BA26046}"/>
              </a:ext>
            </a:extLst>
          </p:cNvPr>
          <p:cNvCxnSpPr/>
          <p:nvPr/>
        </p:nvCxnSpPr>
        <p:spPr>
          <a:xfrm>
            <a:off x="-27072" y="5525458"/>
            <a:ext cx="6912768" cy="0"/>
          </a:xfrm>
          <a:prstGeom prst="line">
            <a:avLst/>
          </a:prstGeom>
          <a:ln w="28575">
            <a:solidFill>
              <a:srgbClr val="FE0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AE9063-D714-DF0B-DBAF-F841E8B35EA3}"/>
              </a:ext>
            </a:extLst>
          </p:cNvPr>
          <p:cNvSpPr txBox="1"/>
          <p:nvPr/>
        </p:nvSpPr>
        <p:spPr>
          <a:xfrm>
            <a:off x="6110024" y="5590981"/>
            <a:ext cx="2915816" cy="646331"/>
          </a:xfrm>
          <a:prstGeom prst="rect">
            <a:avLst/>
          </a:prstGeom>
          <a:solidFill>
            <a:schemeClr val="bg1"/>
          </a:solidFill>
          <a:ln>
            <a:solidFill>
              <a:srgbClr val="FE0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FH</a:t>
            </a:r>
            <a:r>
              <a:rPr lang="zh-TW" altLang="en-US" dirty="0"/>
              <a:t> </a:t>
            </a:r>
            <a:r>
              <a:rPr lang="en-US" altLang="zh-TW" dirty="0"/>
              <a:t>5143</a:t>
            </a:r>
            <a:r>
              <a:rPr lang="zh-TW" altLang="en-US" dirty="0"/>
              <a:t>，在</a:t>
            </a:r>
            <a:r>
              <a:rPr lang="en-US" altLang="zh-TW" dirty="0"/>
              <a:t>5025 SIN</a:t>
            </a:r>
            <a:r>
              <a:rPr lang="zh-TW" altLang="en-US" dirty="0"/>
              <a:t>去除後</a:t>
            </a:r>
            <a:r>
              <a:rPr lang="en-US" altLang="zh-TW" dirty="0"/>
              <a:t>AOI</a:t>
            </a:r>
            <a:r>
              <a:rPr lang="zh-TW" altLang="en-US" dirty="0"/>
              <a:t> </a:t>
            </a:r>
            <a:r>
              <a:rPr lang="en-US" altLang="zh-TW" dirty="0"/>
              <a:t>re-check</a:t>
            </a:r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4CC42DD-245E-E1BF-D873-22D243E28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9550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B9FCE-9ABB-2B58-7A89-715D429B1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13516"/>
            <a:ext cx="8229600" cy="418058"/>
          </a:xfrm>
        </p:spPr>
        <p:txBody>
          <a:bodyPr/>
          <a:lstStyle/>
          <a:p>
            <a:r>
              <a:rPr lang="en-US" sz="3200" dirty="0"/>
              <a:t>LP-N1 entity records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BF5FAB-26A2-06BC-8246-77F98E003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CFF49-13AB-298D-4E8B-6888A26C34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120" y="1909382"/>
            <a:ext cx="8245680" cy="432793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357E1E-43E9-28CC-DE59-F0B0C2C13435}"/>
              </a:ext>
            </a:extLst>
          </p:cNvPr>
          <p:cNvCxnSpPr>
            <a:cxnSpLocks/>
          </p:cNvCxnSpPr>
          <p:nvPr/>
        </p:nvCxnSpPr>
        <p:spPr>
          <a:xfrm>
            <a:off x="323528" y="2191614"/>
            <a:ext cx="582460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3F9160D-6EB6-F4E2-AF67-02FD1468DCC5}"/>
              </a:ext>
            </a:extLst>
          </p:cNvPr>
          <p:cNvSpPr txBox="1"/>
          <p:nvPr/>
        </p:nvSpPr>
        <p:spPr>
          <a:xfrm>
            <a:off x="6148136" y="1905323"/>
            <a:ext cx="201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3/11~3/12 BPM</a:t>
            </a:r>
          </a:p>
          <a:p>
            <a:r>
              <a:rPr lang="en-US" dirty="0">
                <a:solidFill>
                  <a:srgbClr val="0000FF"/>
                </a:solidFill>
              </a:rPr>
              <a:t>3/12 release LP-N1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994FDE-98CD-A234-336D-685AD9525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6618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E6E1C-EDF9-C27C-8BC0-A42B82527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35683"/>
            <a:ext cx="8229600" cy="365125"/>
          </a:xfrm>
        </p:spPr>
        <p:txBody>
          <a:bodyPr/>
          <a:lstStyle/>
          <a:p>
            <a:r>
              <a:rPr lang="en-US" sz="3200" dirty="0"/>
              <a:t>Particle trends of LP-N1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E940A3-2B93-A64E-52F0-39C873959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259BD3-6155-3675-F45D-81BC5D5D8F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79360"/>
            <a:ext cx="9144000" cy="44394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0E15D9-AFC0-75A1-0A70-360798227A66}"/>
              </a:ext>
            </a:extLst>
          </p:cNvPr>
          <p:cNvSpPr txBox="1"/>
          <p:nvPr/>
        </p:nvSpPr>
        <p:spPr>
          <a:xfrm>
            <a:off x="323528" y="6372036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2024/2/1~2025/3/16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9BEC4-B599-5D47-2B48-47E7EBB7EF63}"/>
              </a:ext>
            </a:extLst>
          </p:cNvPr>
          <p:cNvSpPr txBox="1"/>
          <p:nvPr/>
        </p:nvSpPr>
        <p:spPr>
          <a:xfrm>
            <a:off x="467544" y="1772816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F371E9-65D0-9728-5217-F471F1D58AB0}"/>
              </a:ext>
            </a:extLst>
          </p:cNvPr>
          <p:cNvCxnSpPr>
            <a:cxnSpLocks/>
          </p:cNvCxnSpPr>
          <p:nvPr/>
        </p:nvCxnSpPr>
        <p:spPr>
          <a:xfrm>
            <a:off x="8244408" y="2636912"/>
            <a:ext cx="69598" cy="356694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D29473E-BB27-AC26-FAEA-42E2F19B0E86}"/>
              </a:ext>
            </a:extLst>
          </p:cNvPr>
          <p:cNvSpPr txBox="1"/>
          <p:nvPr/>
        </p:nvSpPr>
        <p:spPr>
          <a:xfrm>
            <a:off x="7164288" y="2138322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3/11~3/12 BPM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317A3F-C726-8CFD-81F7-47047D7D31A8}"/>
              </a:ext>
            </a:extLst>
          </p:cNvPr>
          <p:cNvSpPr txBox="1"/>
          <p:nvPr/>
        </p:nvSpPr>
        <p:spPr>
          <a:xfrm>
            <a:off x="8316416" y="400506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normal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0D3B9C-1A56-0939-A18E-64A4D817F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7469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2AE253-2537-C3EF-2DF2-17097E59D2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51055-DFDC-A6CB-1402-5F1A56EDAC9E}"/>
              </a:ext>
            </a:extLst>
          </p:cNvPr>
          <p:cNvSpPr txBox="1"/>
          <p:nvPr/>
        </p:nvSpPr>
        <p:spPr>
          <a:xfrm>
            <a:off x="323528" y="6372036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2024/2/1~2025/3/16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9F7660-391D-0BDC-7EBC-664A1D413A8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87865"/>
            <a:ext cx="9144000" cy="43494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F7FBAD-D44D-1240-8394-A133D4CF64BD}"/>
              </a:ext>
            </a:extLst>
          </p:cNvPr>
          <p:cNvCxnSpPr>
            <a:cxnSpLocks/>
          </p:cNvCxnSpPr>
          <p:nvPr/>
        </p:nvCxnSpPr>
        <p:spPr>
          <a:xfrm>
            <a:off x="8244408" y="2780928"/>
            <a:ext cx="41463" cy="343699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7B991E-2E95-F667-369D-3B9B6229F01B}"/>
              </a:ext>
            </a:extLst>
          </p:cNvPr>
          <p:cNvSpPr txBox="1"/>
          <p:nvPr/>
        </p:nvSpPr>
        <p:spPr>
          <a:xfrm>
            <a:off x="7164288" y="2282338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3/11~3/12 BPM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7B49CB3-C9AA-8FCF-49B7-16F402029F39}"/>
              </a:ext>
            </a:extLst>
          </p:cNvPr>
          <p:cNvGraphicFramePr>
            <a:graphicFrameLocks noGrp="1"/>
          </p:cNvGraphicFramePr>
          <p:nvPr/>
        </p:nvGraphicFramePr>
        <p:xfrm>
          <a:off x="2793351" y="2708920"/>
          <a:ext cx="2755900" cy="838200"/>
        </p:xfrm>
        <a:graphic>
          <a:graphicData uri="http://schemas.openxmlformats.org/drawingml/2006/table">
            <a:tbl>
              <a:tblPr/>
              <a:tblGrid>
                <a:gridCol w="1817181">
                  <a:extLst>
                    <a:ext uri="{9D8B030D-6E8A-4147-A177-3AD203B41FA5}">
                      <a16:colId xmlns:a16="http://schemas.microsoft.com/office/drawing/2014/main" val="1361769382"/>
                    </a:ext>
                  </a:extLst>
                </a:gridCol>
                <a:gridCol w="938719">
                  <a:extLst>
                    <a:ext uri="{9D8B030D-6E8A-4147-A177-3AD203B41FA5}">
                      <a16:colId xmlns:a16="http://schemas.microsoft.com/office/drawing/2014/main" val="123360915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Date &amp;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Particle 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05038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Long-term avg.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1059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LP-N1_2025/03/12 05:54:38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7385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LP-N1_2025/03/16 00:35:54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1011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896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3158308-E35A-CA82-5A57-02B49459FD48}"/>
              </a:ext>
            </a:extLst>
          </p:cNvPr>
          <p:cNvSpPr txBox="1"/>
          <p:nvPr/>
        </p:nvSpPr>
        <p:spPr>
          <a:xfrm>
            <a:off x="467544" y="1897668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C38ADF-EC3B-2226-78AF-F03FD4D48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4902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86E7C1-9B67-A081-316B-75724F49E5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39360-8218-AC78-E129-53ACA4DB1A32}"/>
              </a:ext>
            </a:extLst>
          </p:cNvPr>
          <p:cNvSpPr txBox="1"/>
          <p:nvPr/>
        </p:nvSpPr>
        <p:spPr>
          <a:xfrm>
            <a:off x="323528" y="6372036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2024/2/1~2025/3/16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5ABCA-E08D-0924-D425-A74077FF1C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72816"/>
            <a:ext cx="9144000" cy="443944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89114F-EDBD-BD0C-4AE2-1278438BD78A}"/>
              </a:ext>
            </a:extLst>
          </p:cNvPr>
          <p:cNvCxnSpPr>
            <a:cxnSpLocks/>
          </p:cNvCxnSpPr>
          <p:nvPr/>
        </p:nvCxnSpPr>
        <p:spPr>
          <a:xfrm>
            <a:off x="8244408" y="2636035"/>
            <a:ext cx="55530" cy="355375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3140E3-5DB1-A4B1-A664-F045D809F273}"/>
              </a:ext>
            </a:extLst>
          </p:cNvPr>
          <p:cNvSpPr txBox="1"/>
          <p:nvPr/>
        </p:nvSpPr>
        <p:spPr>
          <a:xfrm>
            <a:off x="7164288" y="2138322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3/11~3/12 BPM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B7FE6-4D86-8B53-85DB-CDE187231EBF}"/>
              </a:ext>
            </a:extLst>
          </p:cNvPr>
          <p:cNvSpPr txBox="1"/>
          <p:nvPr/>
        </p:nvSpPr>
        <p:spPr>
          <a:xfrm>
            <a:off x="467544" y="1772816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06ADB-9177-1745-19BA-9DEB4C1634DB}"/>
              </a:ext>
            </a:extLst>
          </p:cNvPr>
          <p:cNvSpPr txBox="1"/>
          <p:nvPr/>
        </p:nvSpPr>
        <p:spPr>
          <a:xfrm>
            <a:off x="8316416" y="400506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normal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54552C6-3C96-027F-7B4B-CBDC10CB2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2681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B7FC-0532-8F30-CAB4-F0E84950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40768"/>
            <a:ext cx="8229600" cy="365125"/>
          </a:xfrm>
        </p:spPr>
        <p:txBody>
          <a:bodyPr/>
          <a:lstStyle/>
          <a:p>
            <a:r>
              <a:rPr lang="en-US" sz="3200" dirty="0"/>
              <a:t>S.S. 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20079D-C7C5-6121-C904-AF8E2F4290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62685-E5EA-B0D8-F88A-05061C06696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2067510"/>
            <a:ext cx="7920880" cy="41605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C858F4-AA3D-CF75-38AB-CD9E4A2F5B95}"/>
              </a:ext>
            </a:extLst>
          </p:cNvPr>
          <p:cNvSpPr txBox="1"/>
          <p:nvPr/>
        </p:nvSpPr>
        <p:spPr>
          <a:xfrm>
            <a:off x="568703" y="1691516"/>
            <a:ext cx="26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LP-N1 C4 at 3/16 00:35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353BD-22E7-1B88-D066-F54794C9F62D}"/>
              </a:ext>
            </a:extLst>
          </p:cNvPr>
          <p:cNvSpPr txBox="1"/>
          <p:nvPr/>
        </p:nvSpPr>
        <p:spPr>
          <a:xfrm>
            <a:off x="827584" y="6237312"/>
            <a:ext cx="3812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It’s same defect map with the product.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5A7CC8-1CAE-4150-BB61-B42137C97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0365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1012666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Is/Is Not Analysis table 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釐清問題</a:t>
            </a:r>
            <a:r>
              <a:rPr lang="en-US" altLang="zh-TW" sz="2000" dirty="0"/>
              <a:t>):</a:t>
            </a:r>
            <a:endParaRPr lang="zh-TW" altLang="en-US" sz="20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86838C9-599C-4541-07D5-A44566FFF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174072"/>
              </p:ext>
            </p:extLst>
          </p:nvPr>
        </p:nvGraphicFramePr>
        <p:xfrm>
          <a:off x="395536" y="1989424"/>
          <a:ext cx="8229600" cy="2879736"/>
        </p:xfrm>
        <a:graphic>
          <a:graphicData uri="http://schemas.openxmlformats.org/drawingml/2006/table">
            <a:tbl>
              <a:tblPr/>
              <a:tblGrid>
                <a:gridCol w="1071716">
                  <a:extLst>
                    <a:ext uri="{9D8B030D-6E8A-4147-A177-3AD203B41FA5}">
                      <a16:colId xmlns:a16="http://schemas.microsoft.com/office/drawing/2014/main" val="956814940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2507271339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2773316266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420031959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820988365"/>
                    </a:ext>
                  </a:extLst>
                </a:gridCol>
              </a:tblGrid>
              <a:tr h="4783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Not 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Difference/Conclusion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669038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bject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Particle OOS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Normal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Particle OO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557674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o’clock defect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Normal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o’clock defect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714792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Where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Location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FAB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D-Tunnel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Other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place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FAB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D-Tunnel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881455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Other machine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38079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time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Not before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First time, Not Before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156506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Reoccurred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-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746478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How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Many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lots / 1912 pcs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Other lot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 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lots / 1912 pcs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824573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Trend</a:t>
                      </a:r>
                    </a:p>
                  </a:txBody>
                  <a:tcPr marL="7504" marR="7504" marT="7504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-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73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185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96525" y="548680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j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44041"/>
              </p:ext>
            </p:extLst>
          </p:nvPr>
        </p:nvGraphicFramePr>
        <p:xfrm>
          <a:off x="640306" y="1875740"/>
          <a:ext cx="8075238" cy="444026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8222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40460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075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820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25091780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TW" sz="1200" baseline="0" dirty="0">
                          <a:solidFill>
                            <a:schemeClr val="tx1"/>
                          </a:solidFill>
                        </a:rPr>
                        <a:t>AOI</a:t>
                      </a:r>
                      <a:r>
                        <a:rPr lang="zh-TW" altLang="en-US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200" baseline="0" dirty="0">
                          <a:solidFill>
                            <a:schemeClr val="tx1"/>
                          </a:solidFill>
                        </a:rPr>
                        <a:t>scan</a:t>
                      </a:r>
                    </a:p>
                  </a:txBody>
                  <a:tcPr marL="36000" marR="36000" anchor="ctr"/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</a:rPr>
                        <a:t>S210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/>
                </a:tc>
                <a:tc rowSpan="7">
                  <a:txBody>
                    <a:bodyPr/>
                    <a:lstStyle/>
                    <a:p>
                      <a:r>
                        <a:rPr lang="en-US" altLang="zh-TW" sz="1200" dirty="0"/>
                        <a:t>2025/03/28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2025/03/28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Scrap 4 pcs, def. &gt;5%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58207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25091270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Scrap 10 pcs, def. &gt;5%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148066844"/>
                  </a:ext>
                </a:extLst>
              </a:tr>
              <a:tr h="58207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25093140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Scrap 1 pcs, def. &gt;5%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245921191"/>
                  </a:ext>
                </a:extLst>
              </a:tr>
              <a:tr h="58207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25091890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Scrap 18 pcs, def. &gt;5%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115514708"/>
                  </a:ext>
                </a:extLst>
              </a:tr>
              <a:tr h="58207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25091580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Scrap 7 pcs, def. &gt;5%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725108512"/>
                  </a:ext>
                </a:extLst>
              </a:tr>
              <a:tr h="5820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25093170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Scrap 1 pcs, def. &gt;5%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814122139"/>
                  </a:ext>
                </a:extLst>
              </a:tr>
              <a:tr h="5820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25101360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TW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36000" marR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Scrap 1 pcs, def. &gt;5%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06193342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7210" y="1509818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3.1 </a:t>
            </a:r>
            <a:r>
              <a:rPr lang="zh-TW" altLang="en-US" sz="1600" b="1" dirty="0">
                <a:solidFill>
                  <a:srgbClr val="0000FF"/>
                </a:solidFill>
              </a:rPr>
              <a:t>異常產品 </a:t>
            </a:r>
            <a:r>
              <a:rPr lang="en-US" altLang="zh-TW" sz="1600" b="1" dirty="0">
                <a:solidFill>
                  <a:srgbClr val="0000FF"/>
                </a:solidFill>
              </a:rPr>
              <a:t>(Defect Lots)</a:t>
            </a:r>
          </a:p>
        </p:txBody>
      </p:sp>
    </p:spTree>
    <p:extLst>
      <p:ext uri="{BB962C8B-B14F-4D97-AF65-F5344CB8AC3E}">
        <p14:creationId xmlns:p14="http://schemas.microsoft.com/office/powerpoint/2010/main" val="515968055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F26ACFAB-7F6A-96A6-F3DD-2191802B3DD9}"/>
              </a:ext>
            </a:extLst>
          </p:cNvPr>
          <p:cNvSpPr/>
          <p:nvPr/>
        </p:nvSpPr>
        <p:spPr>
          <a:xfrm>
            <a:off x="467544" y="476672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3.2 </a:t>
            </a:r>
            <a:r>
              <a:rPr lang="zh-TW" altLang="en-US" sz="1600" b="1" dirty="0">
                <a:solidFill>
                  <a:srgbClr val="0000FF"/>
                </a:solidFill>
              </a:rPr>
              <a:t>波及產品 </a:t>
            </a:r>
            <a:r>
              <a:rPr lang="en-US" altLang="zh-TW" sz="1600" b="1" dirty="0">
                <a:solidFill>
                  <a:srgbClr val="0000FF"/>
                </a:solidFill>
              </a:rPr>
              <a:t>(Impact Lots)</a:t>
            </a: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8026B24F-4DA4-E446-D23E-C6F27E250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432633"/>
              </p:ext>
            </p:extLst>
          </p:nvPr>
        </p:nvGraphicFramePr>
        <p:xfrm>
          <a:off x="827582" y="851911"/>
          <a:ext cx="7560842" cy="5457409"/>
        </p:xfrm>
        <a:graphic>
          <a:graphicData uri="http://schemas.openxmlformats.org/drawingml/2006/table">
            <a:tbl>
              <a:tblPr/>
              <a:tblGrid>
                <a:gridCol w="813633">
                  <a:extLst>
                    <a:ext uri="{9D8B030D-6E8A-4147-A177-3AD203B41FA5}">
                      <a16:colId xmlns:a16="http://schemas.microsoft.com/office/drawing/2014/main" val="2223158959"/>
                    </a:ext>
                  </a:extLst>
                </a:gridCol>
                <a:gridCol w="1002158">
                  <a:extLst>
                    <a:ext uri="{9D8B030D-6E8A-4147-A177-3AD203B41FA5}">
                      <a16:colId xmlns:a16="http://schemas.microsoft.com/office/drawing/2014/main" val="2546695843"/>
                    </a:ext>
                  </a:extLst>
                </a:gridCol>
                <a:gridCol w="654876">
                  <a:extLst>
                    <a:ext uri="{9D8B030D-6E8A-4147-A177-3AD203B41FA5}">
                      <a16:colId xmlns:a16="http://schemas.microsoft.com/office/drawing/2014/main" val="463899401"/>
                    </a:ext>
                  </a:extLst>
                </a:gridCol>
                <a:gridCol w="595342">
                  <a:extLst>
                    <a:ext uri="{9D8B030D-6E8A-4147-A177-3AD203B41FA5}">
                      <a16:colId xmlns:a16="http://schemas.microsoft.com/office/drawing/2014/main" val="2204986989"/>
                    </a:ext>
                  </a:extLst>
                </a:gridCol>
                <a:gridCol w="416738">
                  <a:extLst>
                    <a:ext uri="{9D8B030D-6E8A-4147-A177-3AD203B41FA5}">
                      <a16:colId xmlns:a16="http://schemas.microsoft.com/office/drawing/2014/main" val="3963179013"/>
                    </a:ext>
                  </a:extLst>
                </a:gridCol>
                <a:gridCol w="793790">
                  <a:extLst>
                    <a:ext uri="{9D8B030D-6E8A-4147-A177-3AD203B41FA5}">
                      <a16:colId xmlns:a16="http://schemas.microsoft.com/office/drawing/2014/main" val="3192867654"/>
                    </a:ext>
                  </a:extLst>
                </a:gridCol>
                <a:gridCol w="664799">
                  <a:extLst>
                    <a:ext uri="{9D8B030D-6E8A-4147-A177-3AD203B41FA5}">
                      <a16:colId xmlns:a16="http://schemas.microsoft.com/office/drawing/2014/main" val="3941585227"/>
                    </a:ext>
                  </a:extLst>
                </a:gridCol>
                <a:gridCol w="267904">
                  <a:extLst>
                    <a:ext uri="{9D8B030D-6E8A-4147-A177-3AD203B41FA5}">
                      <a16:colId xmlns:a16="http://schemas.microsoft.com/office/drawing/2014/main" val="3873470262"/>
                    </a:ext>
                  </a:extLst>
                </a:gridCol>
                <a:gridCol w="595342">
                  <a:extLst>
                    <a:ext uri="{9D8B030D-6E8A-4147-A177-3AD203B41FA5}">
                      <a16:colId xmlns:a16="http://schemas.microsoft.com/office/drawing/2014/main" val="275892273"/>
                    </a:ext>
                  </a:extLst>
                </a:gridCol>
                <a:gridCol w="1141073">
                  <a:extLst>
                    <a:ext uri="{9D8B030D-6E8A-4147-A177-3AD203B41FA5}">
                      <a16:colId xmlns:a16="http://schemas.microsoft.com/office/drawing/2014/main" val="2162695572"/>
                    </a:ext>
                  </a:extLst>
                </a:gridCol>
                <a:gridCol w="615187">
                  <a:extLst>
                    <a:ext uri="{9D8B030D-6E8A-4147-A177-3AD203B41FA5}">
                      <a16:colId xmlns:a16="http://schemas.microsoft.com/office/drawing/2014/main" val="1492447684"/>
                    </a:ext>
                  </a:extLst>
                </a:gridCol>
              </a:tblGrid>
              <a:tr h="162758"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 ENTITY INFORMATION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AOI INFORMATION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54560681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Move-in time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Recipe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Zone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ROUTE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QTY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PROGRAM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AOI SCAN OPER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941847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25096810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3/10/2025 19:42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YBF01V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T054DI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218434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25097390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3/10/2025 19:42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YBF01V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T054DI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4533 (0% ~ 0.24%)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727831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25096850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3/10/2025 19:42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YBF01V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T054DI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641374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25097410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3/10/2025 19:42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YBD24V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T050QI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4533 (0.01% ~ 0.04%)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904555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25097650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3/10/2025 19:42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YBD04V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T054NI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4533 (0.03% ~ 0.92%)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172962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25092230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3/10/2025 19:42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BA5D25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4533 (0% ~ 0.16%)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771323"/>
                  </a:ext>
                </a:extLst>
              </a:tr>
              <a:tr h="192351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BPM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1910751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25092830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6:35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BA5D26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4533 (0.03% ~ 0.57%)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502406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25092780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6:35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BA5D26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4518 (0.07% ~ 1.51%)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Impact lot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684757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25092980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6:35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BA5D26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4533 (0.03% ~ 0.91%)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Impact lot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818520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25091920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6:35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BA5B78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M034GIK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490821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25092520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6:35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BA5C46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M034KIK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661213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25110180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6:35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Y0S013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C035DI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4533 (0% ~ 0.01%)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695841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25092580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13:00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BA5C46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M034KIK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068407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25109130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13:00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YHAK1S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O0315I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788733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25093010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3/12/2025 13:00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BA5D26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5502(0.07~0.57%)</a:t>
                      </a:r>
                    </a:p>
                    <a:p>
                      <a:pPr algn="l" rtl="0" fontAlgn="ctr"/>
                      <a:endParaRPr lang="en-US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143672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25092960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13:00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BA5D26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4518 (0.1% ~ 4.58%)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Issue lot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665167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25092940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13:00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BA5D26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778663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25091770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13:00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BA5C89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M034DIK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377220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25092970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18:38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BA5D26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4518 (0% ~ 1.38%)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Impact lot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36636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25092170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18:38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BA5B91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M034GIK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386868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25092640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3/12/2025 18:38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BA5C09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5747</a:t>
                      </a:r>
                      <a:r>
                        <a:rPr lang="zh-TW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altLang="zh-TW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0.26~1.64%</a:t>
                      </a:r>
                      <a:r>
                        <a:rPr lang="en-US" altLang="zh-TW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877716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25091780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3/12/2025 18:38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BA5C89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M034DIK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7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en-US" altLang="zh-TW" sz="7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143</a:t>
                      </a:r>
                      <a:r>
                        <a:rPr lang="en-US" sz="7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 (0.46~7.61%)</a:t>
                      </a:r>
                      <a:endParaRPr 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91256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25091760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18:38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BA5C89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M034DIK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4533 (0.12% ~ 2.13%)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Impact lot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30542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25095120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3/12/2025 18:38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RC5C86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A061TI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206233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25091910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0:49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BA5B78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M034GIK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199670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25091790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0:49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BA5C89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M034DIK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273945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25091870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0:49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BA5B78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M034GIK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29325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25091270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0:49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BA5C99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M034AIK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406473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25093230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0:49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BA5D26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8952"/>
                  </a:ext>
                </a:extLst>
              </a:tr>
              <a:tr h="162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25093120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0:49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BA5D26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645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362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DF8F16-BEDC-B2B6-0A74-AEC7BBFA3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22</a:t>
            </a:fld>
            <a:endParaRPr lang="zh-TW" altLang="en-US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09D511C-4336-A915-EAD5-DE86F8C5A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962164"/>
              </p:ext>
            </p:extLst>
          </p:nvPr>
        </p:nvGraphicFramePr>
        <p:xfrm>
          <a:off x="836100" y="476672"/>
          <a:ext cx="7560841" cy="5832648"/>
        </p:xfrm>
        <a:graphic>
          <a:graphicData uri="http://schemas.openxmlformats.org/drawingml/2006/table">
            <a:tbl>
              <a:tblPr/>
              <a:tblGrid>
                <a:gridCol w="817033">
                  <a:extLst>
                    <a:ext uri="{9D8B030D-6E8A-4147-A177-3AD203B41FA5}">
                      <a16:colId xmlns:a16="http://schemas.microsoft.com/office/drawing/2014/main" val="1725624704"/>
                    </a:ext>
                  </a:extLst>
                </a:gridCol>
                <a:gridCol w="1001522">
                  <a:extLst>
                    <a:ext uri="{9D8B030D-6E8A-4147-A177-3AD203B41FA5}">
                      <a16:colId xmlns:a16="http://schemas.microsoft.com/office/drawing/2014/main" val="4265307584"/>
                    </a:ext>
                  </a:extLst>
                </a:gridCol>
                <a:gridCol w="658896">
                  <a:extLst>
                    <a:ext uri="{9D8B030D-6E8A-4147-A177-3AD203B41FA5}">
                      <a16:colId xmlns:a16="http://schemas.microsoft.com/office/drawing/2014/main" val="2517911291"/>
                    </a:ext>
                  </a:extLst>
                </a:gridCol>
                <a:gridCol w="593007">
                  <a:extLst>
                    <a:ext uri="{9D8B030D-6E8A-4147-A177-3AD203B41FA5}">
                      <a16:colId xmlns:a16="http://schemas.microsoft.com/office/drawing/2014/main" val="4134319037"/>
                    </a:ext>
                  </a:extLst>
                </a:gridCol>
                <a:gridCol w="421694">
                  <a:extLst>
                    <a:ext uri="{9D8B030D-6E8A-4147-A177-3AD203B41FA5}">
                      <a16:colId xmlns:a16="http://schemas.microsoft.com/office/drawing/2014/main" val="297296137"/>
                    </a:ext>
                  </a:extLst>
                </a:gridCol>
                <a:gridCol w="790676">
                  <a:extLst>
                    <a:ext uri="{9D8B030D-6E8A-4147-A177-3AD203B41FA5}">
                      <a16:colId xmlns:a16="http://schemas.microsoft.com/office/drawing/2014/main" val="2722705994"/>
                    </a:ext>
                  </a:extLst>
                </a:gridCol>
                <a:gridCol w="662192">
                  <a:extLst>
                    <a:ext uri="{9D8B030D-6E8A-4147-A177-3AD203B41FA5}">
                      <a16:colId xmlns:a16="http://schemas.microsoft.com/office/drawing/2014/main" val="2013923980"/>
                    </a:ext>
                  </a:extLst>
                </a:gridCol>
                <a:gridCol w="266853">
                  <a:extLst>
                    <a:ext uri="{9D8B030D-6E8A-4147-A177-3AD203B41FA5}">
                      <a16:colId xmlns:a16="http://schemas.microsoft.com/office/drawing/2014/main" val="4031081958"/>
                    </a:ext>
                  </a:extLst>
                </a:gridCol>
                <a:gridCol w="593007">
                  <a:extLst>
                    <a:ext uri="{9D8B030D-6E8A-4147-A177-3AD203B41FA5}">
                      <a16:colId xmlns:a16="http://schemas.microsoft.com/office/drawing/2014/main" val="1747090362"/>
                    </a:ext>
                  </a:extLst>
                </a:gridCol>
                <a:gridCol w="1136597">
                  <a:extLst>
                    <a:ext uri="{9D8B030D-6E8A-4147-A177-3AD203B41FA5}">
                      <a16:colId xmlns:a16="http://schemas.microsoft.com/office/drawing/2014/main" val="90063302"/>
                    </a:ext>
                  </a:extLst>
                </a:gridCol>
                <a:gridCol w="619364">
                  <a:extLst>
                    <a:ext uri="{9D8B030D-6E8A-4147-A177-3AD203B41FA5}">
                      <a16:colId xmlns:a16="http://schemas.microsoft.com/office/drawing/2014/main" val="3810080527"/>
                    </a:ext>
                  </a:extLst>
                </a:gridCol>
              </a:tblGrid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25091400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5:56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BA5C99     B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M034AIK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667023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25101280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5:56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Y1F058001 AA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C061YI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567906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25101360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3/13/2025 5:56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Y1F058001 AA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C061YI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FU 6183</a:t>
                      </a:r>
                      <a:r>
                        <a:rPr lang="en-US" altLang="zh-TW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 AOI</a:t>
                      </a:r>
                      <a:r>
                        <a:rPr lang="zh-TW" alt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確認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81300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25101270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3/13/2025 5:56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Y1F058001 AA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C061YI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5x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 </a:t>
                      </a:r>
                      <a:r>
                        <a:rPr lang="en-US" altLang="zh-TW" sz="8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5001</a:t>
                      </a:r>
                      <a:r>
                        <a:rPr lang="zh-TW" altLang="en-US" sz="8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8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(1~12.75%)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34355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25101370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5:56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Y1F058001 AA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C061YI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350552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25101250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5:56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Y1F058001 AA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C061YI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518412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25093030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12:36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BA5D26     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960192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25091850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12:36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BA5B78     D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M034GIK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145012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25093140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3/13/2025 12:36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BA5D26     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4612</a:t>
                      </a:r>
                      <a:r>
                        <a:rPr lang="zh-TW" altLang="en-US" sz="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0.41~4.15%</a:t>
                      </a:r>
                      <a:r>
                        <a:rPr lang="en-US" altLang="zh-TW" sz="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396262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25091890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3/13/2025 12:36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BA5B78     D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M034GIK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800" b="0" i="0" u="none" strike="noStrike" baseline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735976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25091650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12:36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BA5C98     D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M034KIK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638799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25091620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12:36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BA5C98     D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M034KIK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608532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25091900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18:07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BA5B78     D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M034GIK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802176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25091370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18:07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BA5C99     B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M034AIK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822644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25092090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3/13/2025 18:07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BA5B71     F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M034GIK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5201 (0.34~4.86%)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279720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25091580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3/13/2025 18:07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BA5C98     D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M034KIK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5x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altLang="zh-TW" sz="8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5001</a:t>
                      </a:r>
                      <a:r>
                        <a:rPr lang="zh-TW" altLang="en-US" sz="8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8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(0.15~8.35%)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060043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25092790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18:07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BA5D26     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875453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25093100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18:07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BA5D26     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88963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25102560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23:33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Y5Y08Y     W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G0414I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007979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25102010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23:33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Y4Y028     L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D0665I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35956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25102740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23:33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Y5Y10Y     G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L041SI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377765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25102310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23:33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Y5Y038     F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G061AI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713182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25102500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3/13/2025 23:33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Y5Y08Y     W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G0414I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4533 (0.01% ~ 0.52%)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Impact lot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517683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25102240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3/13/2025 23:33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Y5Y038     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G061AI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121843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25102580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4:51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Y5Y10Y     L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L041SI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183194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25110170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4:51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Y5V023     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L031VI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317717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25102220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4:51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Y5Y038     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G061AI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291280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25102430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3/14/2025 4:51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Y5Y08Y     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A0412I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4533 (0.01% ~ 0.91%)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Impact lot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599040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25102540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4:51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Y5Y08Y     W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G0414I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618698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25119020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4:51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YA7K43     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A031WI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698614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25091360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10:07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BA5C99     B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M034AIK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345646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25092120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10:07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BA5B71     F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M034GIK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332611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25095150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3/14/2025 10:07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RC5C86     B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A061TI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altLang="zh-TW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10x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6182 (0.94~4.60%)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264740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25093170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3/14/2025 10:07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BA5D26     A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5x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8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 4534(0.1~7.44%)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620148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25091450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10:07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BA5C99     B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M034AIK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971755"/>
                  </a:ext>
                </a:extLst>
              </a:tr>
              <a:tr h="162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25091730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10:07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BA5C89     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M034DIK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229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273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5E577D-8668-E79F-2848-0FB9C3BBC3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DD08F-5BD3-1A91-5DFF-5D7E0522658F}"/>
              </a:ext>
            </a:extLst>
          </p:cNvPr>
          <p:cNvSpPr txBox="1"/>
          <p:nvPr/>
        </p:nvSpPr>
        <p:spPr>
          <a:xfrm>
            <a:off x="3506644" y="4509120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On 3/15, LP-N1 </a:t>
            </a:r>
            <a:r>
              <a:rPr lang="zh-TW" altLang="en-US" dirty="0">
                <a:solidFill>
                  <a:srgbClr val="0000FF"/>
                </a:solidFill>
              </a:rPr>
              <a:t>停機</a:t>
            </a:r>
            <a:endParaRPr lang="en-US" dirty="0">
              <a:solidFill>
                <a:srgbClr val="0000FF"/>
              </a:solidFill>
            </a:endParaRP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46459FCC-A98C-B0BB-B9FC-7F1E1E151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986375"/>
              </p:ext>
            </p:extLst>
          </p:nvPr>
        </p:nvGraphicFramePr>
        <p:xfrm>
          <a:off x="836100" y="476672"/>
          <a:ext cx="7560840" cy="3795479"/>
        </p:xfrm>
        <a:graphic>
          <a:graphicData uri="http://schemas.openxmlformats.org/drawingml/2006/table">
            <a:tbl>
              <a:tblPr/>
              <a:tblGrid>
                <a:gridCol w="817032">
                  <a:extLst>
                    <a:ext uri="{9D8B030D-6E8A-4147-A177-3AD203B41FA5}">
                      <a16:colId xmlns:a16="http://schemas.microsoft.com/office/drawing/2014/main" val="3393844773"/>
                    </a:ext>
                  </a:extLst>
                </a:gridCol>
                <a:gridCol w="1001523">
                  <a:extLst>
                    <a:ext uri="{9D8B030D-6E8A-4147-A177-3AD203B41FA5}">
                      <a16:colId xmlns:a16="http://schemas.microsoft.com/office/drawing/2014/main" val="1130948268"/>
                    </a:ext>
                  </a:extLst>
                </a:gridCol>
                <a:gridCol w="658897">
                  <a:extLst>
                    <a:ext uri="{9D8B030D-6E8A-4147-A177-3AD203B41FA5}">
                      <a16:colId xmlns:a16="http://schemas.microsoft.com/office/drawing/2014/main" val="4234063122"/>
                    </a:ext>
                  </a:extLst>
                </a:gridCol>
                <a:gridCol w="593007">
                  <a:extLst>
                    <a:ext uri="{9D8B030D-6E8A-4147-A177-3AD203B41FA5}">
                      <a16:colId xmlns:a16="http://schemas.microsoft.com/office/drawing/2014/main" val="75242963"/>
                    </a:ext>
                  </a:extLst>
                </a:gridCol>
                <a:gridCol w="421694">
                  <a:extLst>
                    <a:ext uri="{9D8B030D-6E8A-4147-A177-3AD203B41FA5}">
                      <a16:colId xmlns:a16="http://schemas.microsoft.com/office/drawing/2014/main" val="2424247111"/>
                    </a:ext>
                  </a:extLst>
                </a:gridCol>
                <a:gridCol w="790676">
                  <a:extLst>
                    <a:ext uri="{9D8B030D-6E8A-4147-A177-3AD203B41FA5}">
                      <a16:colId xmlns:a16="http://schemas.microsoft.com/office/drawing/2014/main" val="4233762947"/>
                    </a:ext>
                  </a:extLst>
                </a:gridCol>
                <a:gridCol w="662192">
                  <a:extLst>
                    <a:ext uri="{9D8B030D-6E8A-4147-A177-3AD203B41FA5}">
                      <a16:colId xmlns:a16="http://schemas.microsoft.com/office/drawing/2014/main" val="2181268766"/>
                    </a:ext>
                  </a:extLst>
                </a:gridCol>
                <a:gridCol w="266853">
                  <a:extLst>
                    <a:ext uri="{9D8B030D-6E8A-4147-A177-3AD203B41FA5}">
                      <a16:colId xmlns:a16="http://schemas.microsoft.com/office/drawing/2014/main" val="3682103396"/>
                    </a:ext>
                  </a:extLst>
                </a:gridCol>
                <a:gridCol w="593007">
                  <a:extLst>
                    <a:ext uri="{9D8B030D-6E8A-4147-A177-3AD203B41FA5}">
                      <a16:colId xmlns:a16="http://schemas.microsoft.com/office/drawing/2014/main" val="274091255"/>
                    </a:ext>
                  </a:extLst>
                </a:gridCol>
                <a:gridCol w="1136596">
                  <a:extLst>
                    <a:ext uri="{9D8B030D-6E8A-4147-A177-3AD203B41FA5}">
                      <a16:colId xmlns:a16="http://schemas.microsoft.com/office/drawing/2014/main" val="4227229792"/>
                    </a:ext>
                  </a:extLst>
                </a:gridCol>
                <a:gridCol w="619363">
                  <a:extLst>
                    <a:ext uri="{9D8B030D-6E8A-4147-A177-3AD203B41FA5}">
                      <a16:colId xmlns:a16="http://schemas.microsoft.com/office/drawing/2014/main" val="86356474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25094990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15:31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RC5C86    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A061TI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41632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25094950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15:31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RC5C86    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A061TI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369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25094940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15:31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RC5C86    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A061TI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39896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25093320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15:31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BA5C05     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M030TIK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21802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25095130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15:31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RC5C86    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A061TI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0820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25095170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15:31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RC5C86    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A061TI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87736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25093980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21:01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Y2V01W    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T041SI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4561(0~0.23%)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7854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21:01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Y5Y02X    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D041KI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47226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25102270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21:01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Y5Y028     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G061AI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83946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25094030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21:01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Y2V01W    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T041SI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4561(0.02~0.5%)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50451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25094020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21:01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Y2V01W    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T041SI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0669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25102780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3/14/2025 21:01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Y5Y10Y     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L041SI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4538(0.01~0.03%)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300581"/>
                  </a:ext>
                </a:extLst>
              </a:tr>
              <a:tr h="233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25111470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3/15/2025 8:09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Y1P492    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C030CIK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4533(0.01~0.03%)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03584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25111230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3/15/2025 8:09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YCP06X    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P046PI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42412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25111310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3/15/2025 8:09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Y1P483    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M030GIK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30748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25111450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3/15/2025 8:09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Y1P482    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C030CIK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5X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4521(0~0.15%)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5362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25111120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3/15/2025 8:09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YCP06X    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P046PI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1508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25111400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3/15/2025 8:09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LN1N01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Y1P482    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C030CIK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5X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4521(0.01~0.05%)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433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744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60521" y="558382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210" y="2996952"/>
            <a:ext cx="83452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3.4</a:t>
            </a:r>
            <a:r>
              <a:rPr lang="zh-TW" altLang="en-US" sz="1600" b="1" dirty="0">
                <a:solidFill>
                  <a:srgbClr val="0000FF"/>
                </a:solidFill>
              </a:rPr>
              <a:t> 波及製程 </a:t>
            </a:r>
            <a:r>
              <a:rPr lang="en-US" altLang="zh-TW" sz="1600" b="1" dirty="0">
                <a:solidFill>
                  <a:srgbClr val="0000FF"/>
                </a:solidFill>
              </a:rPr>
              <a:t>(Impact Route) : 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是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(YES)/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否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(No)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5556" y="4556506"/>
            <a:ext cx="81009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3.5 </a:t>
            </a:r>
            <a:r>
              <a:rPr lang="zh-TW" altLang="en-US" sz="1600" b="1" dirty="0">
                <a:solidFill>
                  <a:srgbClr val="0000FF"/>
                </a:solidFill>
              </a:rPr>
              <a:t>產品召回選項，是否需進行客戶端波及產品的召回</a:t>
            </a:r>
            <a:r>
              <a:rPr lang="en-US" altLang="zh-TW" sz="1600" b="1" dirty="0">
                <a:solidFill>
                  <a:srgbClr val="0000FF"/>
                </a:solidFill>
              </a:rPr>
              <a:t>?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是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(YES)/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否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(No)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TW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77740"/>
              </p:ext>
            </p:extLst>
          </p:nvPr>
        </p:nvGraphicFramePr>
        <p:xfrm>
          <a:off x="708076" y="4925838"/>
          <a:ext cx="8068733" cy="7046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12965">
                  <a:extLst>
                    <a:ext uri="{9D8B030D-6E8A-4147-A177-3AD203B41FA5}">
                      <a16:colId xmlns:a16="http://schemas.microsoft.com/office/drawing/2014/main" val="86909870"/>
                    </a:ext>
                  </a:extLst>
                </a:gridCol>
                <a:gridCol w="1812965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998365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444438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3338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Customer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Product No.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Lot</a:t>
                      </a:r>
                      <a:r>
                        <a:rPr lang="en-US" altLang="zh-TW" sz="1200" b="0" kern="100" baseline="0" dirty="0">
                          <a:effectLst/>
                        </a:rPr>
                        <a:t> number / Wafer number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Approx.</a:t>
                      </a:r>
                      <a:r>
                        <a:rPr lang="en-US" altLang="zh-TW" sz="1200" b="0" kern="100" baseline="0" dirty="0">
                          <a:effectLst/>
                        </a:rPr>
                        <a:t> Quantity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7210" y="1460111"/>
            <a:ext cx="67610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3.3</a:t>
            </a:r>
            <a:r>
              <a:rPr lang="zh-TW" altLang="en-US" sz="1600" b="1" dirty="0">
                <a:solidFill>
                  <a:srgbClr val="0000FF"/>
                </a:solidFill>
              </a:rPr>
              <a:t> 波及設備 </a:t>
            </a:r>
            <a:r>
              <a:rPr lang="en-US" altLang="zh-TW" sz="1600" b="1" dirty="0">
                <a:solidFill>
                  <a:srgbClr val="0000FF"/>
                </a:solidFill>
              </a:rPr>
              <a:t>(Impact Machine)</a:t>
            </a:r>
            <a:r>
              <a:rPr lang="zh-TW" altLang="en-US" sz="1600" b="1" dirty="0">
                <a:solidFill>
                  <a:srgbClr val="0000FF"/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237051"/>
              </p:ext>
            </p:extLst>
          </p:nvPr>
        </p:nvGraphicFramePr>
        <p:xfrm>
          <a:off x="701570" y="1919104"/>
          <a:ext cx="8075238" cy="7238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609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04456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20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200" dirty="0"/>
                        <a:t>LP-N1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停機檢查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S220 </a:t>
                      </a:r>
                      <a:r>
                        <a:rPr lang="zh-TW" altLang="en-US" sz="1200" dirty="0"/>
                        <a:t>林韋志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2025/03/16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2025/03/16</a:t>
                      </a:r>
                      <a:endParaRPr lang="zh-TW" altLang="en-US" sz="1200" dirty="0"/>
                    </a:p>
                  </a:txBody>
                  <a:tcPr marL="36000" marR="36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Check </a:t>
                      </a:r>
                      <a:r>
                        <a:rPr lang="zh-TW" altLang="en-US" sz="1200" dirty="0"/>
                        <a:t>轉子異常抖動，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更換轉子</a:t>
                      </a:r>
                      <a:endParaRPr lang="en-US" altLang="zh-TW" sz="12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684692"/>
              </p:ext>
            </p:extLst>
          </p:nvPr>
        </p:nvGraphicFramePr>
        <p:xfrm>
          <a:off x="694719" y="3497284"/>
          <a:ext cx="8075238" cy="7238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609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04456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20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453361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685" y="1052736"/>
            <a:ext cx="8714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a) </a:t>
            </a:r>
            <a:r>
              <a:rPr lang="en-US" altLang="zh-TW" sz="1600" b="1" dirty="0">
                <a:solidFill>
                  <a:srgbClr val="C00000"/>
                </a:solidFill>
              </a:rPr>
              <a:t>Failure mechanism</a:t>
            </a:r>
            <a:r>
              <a:rPr lang="en-US" altLang="zh-TW" sz="1600" b="1" dirty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25DD560-FF79-14D4-04AD-52C51C3D1A6D}"/>
              </a:ext>
            </a:extLst>
          </p:cNvPr>
          <p:cNvSpPr txBox="1"/>
          <p:nvPr/>
        </p:nvSpPr>
        <p:spPr>
          <a:xfrm>
            <a:off x="412868" y="1772816"/>
            <a:ext cx="8604448" cy="78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S730 Highlight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產品有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點鐘方向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defect</a:t>
            </a:r>
            <a:b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 run</a:t>
            </a:r>
            <a:r>
              <a:rPr lang="en-US" sz="1600" b="0" i="0" dirty="0">
                <a:solidFill>
                  <a:srgbClr val="32313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N01 PTC = 4/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1011</a:t>
            </a:r>
            <a:r>
              <a:rPr lang="en-US" sz="1600" b="0" i="0" dirty="0">
                <a:solidFill>
                  <a:srgbClr val="32313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/16</a:t>
            </a:r>
            <a:r>
              <a:rPr lang="zh-TW" altLang="en-US" sz="1600" b="0" i="0" dirty="0">
                <a:solidFill>
                  <a:srgbClr val="32313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0" i="0" dirty="0">
                <a:solidFill>
                  <a:srgbClr val="32313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C4</a:t>
            </a:r>
            <a:r>
              <a:rPr lang="zh-TW" altLang="en-US" sz="1600" b="0" i="0" dirty="0">
                <a:solidFill>
                  <a:srgbClr val="32313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0" i="0" dirty="0">
                <a:solidFill>
                  <a:srgbClr val="32313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OOS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，機台停機進行檢查。</a:t>
            </a:r>
            <a:endParaRPr lang="en-US" sz="1600" b="0" i="0" dirty="0">
              <a:solidFill>
                <a:srgbClr val="32313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4025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685" y="1052736"/>
            <a:ext cx="82417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dirty="0"/>
              <a:t>         </a:t>
            </a:r>
            <a:r>
              <a:rPr lang="en-US" altLang="zh-TW" sz="1600" b="1" dirty="0">
                <a:solidFill>
                  <a:srgbClr val="0000FF"/>
                </a:solidFill>
              </a:rPr>
              <a:t>b) </a:t>
            </a:r>
            <a:r>
              <a:rPr lang="zh-TW" altLang="en-US" sz="1600" b="1" dirty="0">
                <a:solidFill>
                  <a:srgbClr val="0000FF"/>
                </a:solidFill>
              </a:rPr>
              <a:t>列出所有可能的原因 </a:t>
            </a:r>
            <a:r>
              <a:rPr lang="en-US" altLang="zh-TW" sz="1600" b="1" dirty="0">
                <a:solidFill>
                  <a:srgbClr val="0000FF"/>
                </a:solidFill>
              </a:rPr>
              <a:t>(Probable Causes/Factors): </a:t>
            </a:r>
            <a:r>
              <a:rPr lang="en-US" altLang="zh-TW" sz="1600" b="1" dirty="0">
                <a:solidFill>
                  <a:srgbClr val="FF0000"/>
                </a:solidFill>
              </a:rPr>
              <a:t>Non-conformance</a:t>
            </a:r>
          </a:p>
          <a:p>
            <a:pPr lvl="1"/>
            <a:r>
              <a:rPr lang="zh-TW" altLang="en-US" sz="1200" b="1" dirty="0">
                <a:solidFill>
                  <a:srgbClr val="0000FF"/>
                </a:solidFill>
              </a:rPr>
              <a:t>工具 </a:t>
            </a:r>
            <a:r>
              <a:rPr lang="en-US" altLang="zh-TW" sz="1200" b="1" dirty="0">
                <a:solidFill>
                  <a:srgbClr val="0000FF"/>
                </a:solidFill>
              </a:rPr>
              <a:t>(Tools): </a:t>
            </a:r>
            <a:r>
              <a:rPr lang="zh-TW" altLang="en-US" sz="1200" b="1" dirty="0">
                <a:solidFill>
                  <a:srgbClr val="0000FF"/>
                </a:solidFill>
              </a:rPr>
              <a:t>故障樹分析 </a:t>
            </a:r>
            <a:r>
              <a:rPr lang="en-US" altLang="zh-TW" sz="1200" b="1" dirty="0">
                <a:solidFill>
                  <a:srgbClr val="0000FF"/>
                </a:solidFill>
              </a:rPr>
              <a:t>(Fault Tree Analysis)</a:t>
            </a:r>
            <a:r>
              <a:rPr lang="zh-TW" altLang="en-US" sz="1200" b="1" dirty="0">
                <a:solidFill>
                  <a:srgbClr val="0000FF"/>
                </a:solidFill>
              </a:rPr>
              <a:t>、魚骨圖 </a:t>
            </a:r>
            <a:r>
              <a:rPr lang="en-US" altLang="zh-TW" sz="1200" b="1" dirty="0">
                <a:solidFill>
                  <a:srgbClr val="0000FF"/>
                </a:solidFill>
              </a:rPr>
              <a:t>(Fishbone)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1ADEA799-5519-932B-CF2D-42856D4CEA23}"/>
              </a:ext>
            </a:extLst>
          </p:cNvPr>
          <p:cNvCxnSpPr/>
          <p:nvPr/>
        </p:nvCxnSpPr>
        <p:spPr>
          <a:xfrm>
            <a:off x="2051720" y="3892632"/>
            <a:ext cx="5004000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3564B113-6235-51FF-980F-5490AFE485A7}"/>
              </a:ext>
            </a:extLst>
          </p:cNvPr>
          <p:cNvCxnSpPr/>
          <p:nvPr/>
        </p:nvCxnSpPr>
        <p:spPr>
          <a:xfrm>
            <a:off x="2843808" y="2819724"/>
            <a:ext cx="1123053" cy="105884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圓形圖 16">
            <a:extLst>
              <a:ext uri="{FF2B5EF4-FFF2-40B4-BE49-F238E27FC236}">
                <a16:creationId xmlns:a16="http://schemas.microsoft.com/office/drawing/2014/main" id="{D4F53180-31D7-473B-AF25-2FDEE4670AA6}"/>
              </a:ext>
            </a:extLst>
          </p:cNvPr>
          <p:cNvSpPr/>
          <p:nvPr/>
        </p:nvSpPr>
        <p:spPr>
          <a:xfrm rot="13060660">
            <a:off x="482866" y="3199189"/>
            <a:ext cx="1697547" cy="1336177"/>
          </a:xfrm>
          <a:prstGeom prst="pie">
            <a:avLst>
              <a:gd name="adj1" fmla="val 21229346"/>
              <a:gd name="adj2" fmla="val 15440866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" name="套索 17">
            <a:extLst>
              <a:ext uri="{FF2B5EF4-FFF2-40B4-BE49-F238E27FC236}">
                <a16:creationId xmlns:a16="http://schemas.microsoft.com/office/drawing/2014/main" id="{679BAEE3-4CCE-3026-6A57-3720A81BBF2B}"/>
              </a:ext>
            </a:extLst>
          </p:cNvPr>
          <p:cNvSpPr/>
          <p:nvPr/>
        </p:nvSpPr>
        <p:spPr>
          <a:xfrm rot="10987361">
            <a:off x="5771876" y="3142936"/>
            <a:ext cx="2963069" cy="1392323"/>
          </a:xfrm>
          <a:prstGeom prst="chord">
            <a:avLst>
              <a:gd name="adj1" fmla="val 2483706"/>
              <a:gd name="adj2" fmla="val 18531525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B69A347-377A-DE0C-5E32-AAF44B01B367}"/>
              </a:ext>
            </a:extLst>
          </p:cNvPr>
          <p:cNvCxnSpPr/>
          <p:nvPr/>
        </p:nvCxnSpPr>
        <p:spPr>
          <a:xfrm flipV="1">
            <a:off x="4948649" y="3912932"/>
            <a:ext cx="891461" cy="12862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561B9BB-0076-46BB-15EE-2F548E53EC41}"/>
              </a:ext>
            </a:extLst>
          </p:cNvPr>
          <p:cNvSpPr txBox="1"/>
          <p:nvPr/>
        </p:nvSpPr>
        <p:spPr>
          <a:xfrm>
            <a:off x="4067944" y="5199198"/>
            <a:ext cx="1584176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壓力異常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3F89B7D-F36B-A741-C27C-5FDAA73B52F2}"/>
              </a:ext>
            </a:extLst>
          </p:cNvPr>
          <p:cNvSpPr txBox="1"/>
          <p:nvPr/>
        </p:nvSpPr>
        <p:spPr>
          <a:xfrm>
            <a:off x="6655283" y="3669820"/>
            <a:ext cx="215278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OOS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可能原因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40BD0D1-B100-D2F0-BF27-DFF1E3C35AAE}"/>
              </a:ext>
            </a:extLst>
          </p:cNvPr>
          <p:cNvSpPr txBox="1"/>
          <p:nvPr/>
        </p:nvSpPr>
        <p:spPr>
          <a:xfrm>
            <a:off x="2411760" y="2436839"/>
            <a:ext cx="1123053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傳送相關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1FA9F2E-A6D9-A25F-3319-16FD817454B6}"/>
              </a:ext>
            </a:extLst>
          </p:cNvPr>
          <p:cNvSpPr txBox="1"/>
          <p:nvPr/>
        </p:nvSpPr>
        <p:spPr>
          <a:xfrm>
            <a:off x="5508056" y="4767271"/>
            <a:ext cx="69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APC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B0F454-2125-743D-8E1C-71B0F01CC8D6}"/>
              </a:ext>
            </a:extLst>
          </p:cNvPr>
          <p:cNvSpPr txBox="1"/>
          <p:nvPr/>
        </p:nvSpPr>
        <p:spPr>
          <a:xfrm>
            <a:off x="4011961" y="4641439"/>
            <a:ext cx="87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pump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1F4A125-C06C-EE4A-C205-4C839A9B6693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5470435" y="4533489"/>
            <a:ext cx="382637" cy="2337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0BF3DB9F-1A8B-2D85-0D8A-633231EA3D52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4890227" y="4665901"/>
            <a:ext cx="427154" cy="1602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290DC75B-D8C4-7F1D-5FA6-49E5AFDD14F8}"/>
              </a:ext>
            </a:extLst>
          </p:cNvPr>
          <p:cNvCxnSpPr/>
          <p:nvPr/>
        </p:nvCxnSpPr>
        <p:spPr>
          <a:xfrm flipV="1">
            <a:off x="3457693" y="3093412"/>
            <a:ext cx="123610" cy="2603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8B46C94-0E15-B909-A723-6C575AD20077}"/>
              </a:ext>
            </a:extLst>
          </p:cNvPr>
          <p:cNvSpPr txBox="1"/>
          <p:nvPr/>
        </p:nvSpPr>
        <p:spPr>
          <a:xfrm>
            <a:off x="3319830" y="2775564"/>
            <a:ext cx="64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轉子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85B71F93-12BE-DB52-0DAA-091B0C2B7FBA}"/>
              </a:ext>
            </a:extLst>
          </p:cNvPr>
          <p:cNvCxnSpPr/>
          <p:nvPr/>
        </p:nvCxnSpPr>
        <p:spPr>
          <a:xfrm flipH="1" flipV="1">
            <a:off x="3231883" y="3617694"/>
            <a:ext cx="519342" cy="10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D57E86FA-ED83-F43D-7F51-2EAEEA1912A3}"/>
              </a:ext>
            </a:extLst>
          </p:cNvPr>
          <p:cNvSpPr/>
          <p:nvPr/>
        </p:nvSpPr>
        <p:spPr>
          <a:xfrm>
            <a:off x="2684559" y="342900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刮管</a:t>
            </a: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BA9D946-B6F9-5DB8-0944-9BD9D7DC97AE}"/>
              </a:ext>
            </a:extLst>
          </p:cNvPr>
          <p:cNvCxnSpPr/>
          <p:nvPr/>
        </p:nvCxnSpPr>
        <p:spPr>
          <a:xfrm flipV="1">
            <a:off x="2428369" y="3933056"/>
            <a:ext cx="891461" cy="12862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BA1B03E-62C2-F686-E67B-C6591AE87075}"/>
              </a:ext>
            </a:extLst>
          </p:cNvPr>
          <p:cNvSpPr txBox="1"/>
          <p:nvPr/>
        </p:nvSpPr>
        <p:spPr>
          <a:xfrm>
            <a:off x="1547664" y="5219322"/>
            <a:ext cx="1584176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石英相關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DE9545C-9505-6742-1BB5-6E113B3C29F1}"/>
              </a:ext>
            </a:extLst>
          </p:cNvPr>
          <p:cNvSpPr txBox="1"/>
          <p:nvPr/>
        </p:nvSpPr>
        <p:spPr>
          <a:xfrm>
            <a:off x="2855524" y="4787395"/>
            <a:ext cx="111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Injector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0008AB8-DCB1-8900-9D7C-1A5541C56853}"/>
              </a:ext>
            </a:extLst>
          </p:cNvPr>
          <p:cNvSpPr txBox="1"/>
          <p:nvPr/>
        </p:nvSpPr>
        <p:spPr>
          <a:xfrm>
            <a:off x="1642767" y="4661563"/>
            <a:ext cx="727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</a:t>
            </a: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20C2E124-A03A-9282-F1C8-464AE499A654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2950155" y="4553613"/>
            <a:ext cx="464777" cy="2337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DE49329B-3DF8-7CC3-06B5-4106F4DAC000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2369947" y="4686025"/>
            <a:ext cx="427154" cy="1602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2579CE37-95AA-F081-A9FA-99AF8936F417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3248796" y="4028498"/>
            <a:ext cx="452114" cy="2150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AE964A1-2D74-CF21-6786-76341EF58638}"/>
              </a:ext>
            </a:extLst>
          </p:cNvPr>
          <p:cNvSpPr txBox="1"/>
          <p:nvPr/>
        </p:nvSpPr>
        <p:spPr>
          <a:xfrm>
            <a:off x="3201284" y="4243587"/>
            <a:ext cx="9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Pedestal</a:t>
            </a:r>
            <a:endParaRPr lang="zh-TW" altLang="en-US" dirty="0"/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1468799A-2881-8060-77A0-6620D592B284}"/>
              </a:ext>
            </a:extLst>
          </p:cNvPr>
          <p:cNvCxnSpPr>
            <a:cxnSpLocks/>
            <a:stCxn id="62" idx="2"/>
          </p:cNvCxnSpPr>
          <p:nvPr/>
        </p:nvCxnSpPr>
        <p:spPr>
          <a:xfrm flipV="1">
            <a:off x="2485437" y="4288064"/>
            <a:ext cx="594059" cy="13944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80389098-3A88-936B-1273-4558DB82E653}"/>
              </a:ext>
            </a:extLst>
          </p:cNvPr>
          <p:cNvSpPr txBox="1"/>
          <p:nvPr/>
        </p:nvSpPr>
        <p:spPr>
          <a:xfrm>
            <a:off x="2113636" y="4058174"/>
            <a:ext cx="743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Tube</a:t>
            </a:r>
            <a:endParaRPr lang="zh-TW" altLang="en-US" dirty="0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DF3F9201-A620-08A9-4780-C41050F78EBA}"/>
              </a:ext>
            </a:extLst>
          </p:cNvPr>
          <p:cNvCxnSpPr>
            <a:cxnSpLocks/>
            <a:endCxn id="68" idx="3"/>
          </p:cNvCxnSpPr>
          <p:nvPr/>
        </p:nvCxnSpPr>
        <p:spPr>
          <a:xfrm flipH="1" flipV="1">
            <a:off x="2815725" y="3181618"/>
            <a:ext cx="518685" cy="1108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C81A8147-A119-DCAD-4A49-CEE41B6D8D31}"/>
              </a:ext>
            </a:extLst>
          </p:cNvPr>
          <p:cNvSpPr/>
          <p:nvPr/>
        </p:nvSpPr>
        <p:spPr>
          <a:xfrm>
            <a:off x="2113636" y="2996952"/>
            <a:ext cx="70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刮傷</a:t>
            </a: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085A1095-0D23-E80A-5B2E-281DDB4734E2}"/>
              </a:ext>
            </a:extLst>
          </p:cNvPr>
          <p:cNvCxnSpPr/>
          <p:nvPr/>
        </p:nvCxnSpPr>
        <p:spPr>
          <a:xfrm>
            <a:off x="5177141" y="2819724"/>
            <a:ext cx="1123053" cy="105884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018660D-5EBB-D43D-F13C-14C3A9DE6247}"/>
              </a:ext>
            </a:extLst>
          </p:cNvPr>
          <p:cNvSpPr txBox="1"/>
          <p:nvPr/>
        </p:nvSpPr>
        <p:spPr>
          <a:xfrm>
            <a:off x="4521337" y="2436839"/>
            <a:ext cx="1177416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環境因素</a:t>
            </a:r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F4C0A349-4166-6EBD-570D-40D161645546}"/>
              </a:ext>
            </a:extLst>
          </p:cNvPr>
          <p:cNvCxnSpPr/>
          <p:nvPr/>
        </p:nvCxnSpPr>
        <p:spPr>
          <a:xfrm flipV="1">
            <a:off x="5791026" y="3093412"/>
            <a:ext cx="123610" cy="2603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7638E85-71BE-44E3-B04F-956E20E2EF69}"/>
              </a:ext>
            </a:extLst>
          </p:cNvPr>
          <p:cNvSpPr txBox="1"/>
          <p:nvPr/>
        </p:nvSpPr>
        <p:spPr>
          <a:xfrm>
            <a:off x="5534616" y="2775564"/>
            <a:ext cx="91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爐管外</a:t>
            </a: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A5A45323-58BA-C95B-C628-12E0B405A850}"/>
              </a:ext>
            </a:extLst>
          </p:cNvPr>
          <p:cNvCxnSpPr>
            <a:cxnSpLocks/>
            <a:endCxn id="52" idx="3"/>
          </p:cNvCxnSpPr>
          <p:nvPr/>
        </p:nvCxnSpPr>
        <p:spPr>
          <a:xfrm flipH="1" flipV="1">
            <a:off x="5103702" y="3181618"/>
            <a:ext cx="564041" cy="1108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11281A5E-EB1F-801F-9432-F62AF8894233}"/>
              </a:ext>
            </a:extLst>
          </p:cNvPr>
          <p:cNvSpPr/>
          <p:nvPr/>
        </p:nvSpPr>
        <p:spPr>
          <a:xfrm>
            <a:off x="4227247" y="2996952"/>
            <a:ext cx="8764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爐管內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44412D1-E351-10C3-9ADA-037FB5228801}"/>
              </a:ext>
            </a:extLst>
          </p:cNvPr>
          <p:cNvSpPr txBox="1"/>
          <p:nvPr/>
        </p:nvSpPr>
        <p:spPr>
          <a:xfrm>
            <a:off x="4521336" y="4110023"/>
            <a:ext cx="71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vent</a:t>
            </a: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9311F154-4804-B120-B2D7-B0182E640B27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5234627" y="4245885"/>
            <a:ext cx="353919" cy="488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284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圖片 53">
            <a:extLst>
              <a:ext uri="{FF2B5EF4-FFF2-40B4-BE49-F238E27FC236}">
                <a16:creationId xmlns:a16="http://schemas.microsoft.com/office/drawing/2014/main" id="{6D0568EE-AE94-2B5E-5B37-B68A3C3DE6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06"/>
          <a:stretch/>
        </p:blipFill>
        <p:spPr>
          <a:xfrm>
            <a:off x="1907704" y="3645024"/>
            <a:ext cx="5023390" cy="2217418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3437EDA-735A-22C6-F8C2-D571133D1B66}"/>
              </a:ext>
            </a:extLst>
          </p:cNvPr>
          <p:cNvSpPr txBox="1"/>
          <p:nvPr/>
        </p:nvSpPr>
        <p:spPr>
          <a:xfrm>
            <a:off x="683568" y="5868561"/>
            <a:ext cx="5429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APC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角度，相較於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前無明顯異常</a:t>
            </a:r>
            <a:b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因為進行過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角度變化反而更加穩定，非真因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08C5D4B-F04D-DA29-68CD-79823D5395D4}"/>
              </a:ext>
            </a:extLst>
          </p:cNvPr>
          <p:cNvCxnSpPr/>
          <p:nvPr/>
        </p:nvCxnSpPr>
        <p:spPr>
          <a:xfrm flipV="1">
            <a:off x="7571034" y="332656"/>
            <a:ext cx="891461" cy="12862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634B6A6-FCE2-A601-88C2-6A9A24A05A8C}"/>
              </a:ext>
            </a:extLst>
          </p:cNvPr>
          <p:cNvSpPr txBox="1"/>
          <p:nvPr/>
        </p:nvSpPr>
        <p:spPr>
          <a:xfrm>
            <a:off x="6690329" y="1618922"/>
            <a:ext cx="1584176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壓力異常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811F2A2-F025-69AE-F096-3737DB388741}"/>
              </a:ext>
            </a:extLst>
          </p:cNvPr>
          <p:cNvSpPr txBox="1"/>
          <p:nvPr/>
        </p:nvSpPr>
        <p:spPr>
          <a:xfrm>
            <a:off x="8130441" y="1186995"/>
            <a:ext cx="69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APC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0351CA0-4AB8-320F-6A4B-C7FD0958E587}"/>
              </a:ext>
            </a:extLst>
          </p:cNvPr>
          <p:cNvSpPr txBox="1"/>
          <p:nvPr/>
        </p:nvSpPr>
        <p:spPr>
          <a:xfrm>
            <a:off x="6634346" y="1061163"/>
            <a:ext cx="87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pump</a:t>
            </a: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9D4EA619-94E2-A36A-46AC-59704347038F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8092820" y="953213"/>
            <a:ext cx="382637" cy="2337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09ADEDCE-9073-68D9-18A0-6205165B6EB1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7512612" y="1085625"/>
            <a:ext cx="427154" cy="1602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58F47D6-86A3-F2E2-70A5-1A43DA0DA130}"/>
              </a:ext>
            </a:extLst>
          </p:cNvPr>
          <p:cNvSpPr txBox="1"/>
          <p:nvPr/>
        </p:nvSpPr>
        <p:spPr>
          <a:xfrm>
            <a:off x="7143721" y="529747"/>
            <a:ext cx="71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vent</a:t>
            </a: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4769AF0D-3469-F622-47FA-C4D6B52A8EAF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7857012" y="665609"/>
            <a:ext cx="353919" cy="488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乘號 37">
            <a:extLst>
              <a:ext uri="{FF2B5EF4-FFF2-40B4-BE49-F238E27FC236}">
                <a16:creationId xmlns:a16="http://schemas.microsoft.com/office/drawing/2014/main" id="{B3D4C2A9-03FA-EA2B-D0DE-6E92A7C58671}"/>
              </a:ext>
            </a:extLst>
          </p:cNvPr>
          <p:cNvSpPr/>
          <p:nvPr/>
        </p:nvSpPr>
        <p:spPr>
          <a:xfrm>
            <a:off x="8088410" y="895629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722AB64-35B6-71B8-830B-FE368546B4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95"/>
          <a:stretch/>
        </p:blipFill>
        <p:spPr>
          <a:xfrm>
            <a:off x="1979712" y="1628800"/>
            <a:ext cx="5000984" cy="2018297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D15F44BD-603F-C0FC-E764-C93E0A660C5D}"/>
              </a:ext>
            </a:extLst>
          </p:cNvPr>
          <p:cNvSpPr txBox="1"/>
          <p:nvPr/>
        </p:nvSpPr>
        <p:spPr>
          <a:xfrm>
            <a:off x="6977919" y="449982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2025/03/12</a:t>
            </a:r>
            <a:r>
              <a:rPr lang="zh-TW" altLang="en-US" dirty="0"/>
              <a:t> </a:t>
            </a:r>
            <a:r>
              <a:rPr lang="en-US" altLang="zh-TW" dirty="0"/>
              <a:t>BPM</a:t>
            </a:r>
            <a:r>
              <a:rPr lang="zh-TW" altLang="en-US" dirty="0"/>
              <a:t>後</a:t>
            </a:r>
            <a:endParaRPr 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D34715E-15F0-3EE3-6A2C-005D75028202}"/>
              </a:ext>
            </a:extLst>
          </p:cNvPr>
          <p:cNvSpPr txBox="1"/>
          <p:nvPr/>
        </p:nvSpPr>
        <p:spPr>
          <a:xfrm>
            <a:off x="7020272" y="2420888"/>
            <a:ext cx="2024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2025/03/12</a:t>
            </a:r>
            <a:r>
              <a:rPr lang="zh-TW" altLang="en-US" dirty="0"/>
              <a:t> </a:t>
            </a:r>
            <a:r>
              <a:rPr lang="en-US" altLang="zh-TW" dirty="0"/>
              <a:t>BPM</a:t>
            </a:r>
            <a:r>
              <a:rPr lang="zh-TW" altLang="en-US" dirty="0"/>
              <a:t>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37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7EA3E8B4-206E-F6CF-E585-5DB243C89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3910142"/>
            <a:ext cx="3328954" cy="198053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2FF70DB-5A3F-66A1-C3C2-CF1C1D1A0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502" y="1628800"/>
            <a:ext cx="4819770" cy="2067340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3437EDA-735A-22C6-F8C2-D571133D1B66}"/>
              </a:ext>
            </a:extLst>
          </p:cNvPr>
          <p:cNvSpPr txBox="1"/>
          <p:nvPr/>
        </p:nvSpPr>
        <p:spPr>
          <a:xfrm>
            <a:off x="611560" y="6021288"/>
            <a:ext cx="6537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pump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電流穩定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10A~11A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，相較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前無明顯異狀，非真因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vent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破真空氣聲正常，非真因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08C5D4B-F04D-DA29-68CD-79823D5395D4}"/>
              </a:ext>
            </a:extLst>
          </p:cNvPr>
          <p:cNvCxnSpPr/>
          <p:nvPr/>
        </p:nvCxnSpPr>
        <p:spPr>
          <a:xfrm flipV="1">
            <a:off x="7571034" y="332656"/>
            <a:ext cx="891461" cy="12862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634B6A6-FCE2-A601-88C2-6A9A24A05A8C}"/>
              </a:ext>
            </a:extLst>
          </p:cNvPr>
          <p:cNvSpPr txBox="1"/>
          <p:nvPr/>
        </p:nvSpPr>
        <p:spPr>
          <a:xfrm>
            <a:off x="6690329" y="1618922"/>
            <a:ext cx="1584176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壓力異常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811F2A2-F025-69AE-F096-3737DB388741}"/>
              </a:ext>
            </a:extLst>
          </p:cNvPr>
          <p:cNvSpPr txBox="1"/>
          <p:nvPr/>
        </p:nvSpPr>
        <p:spPr>
          <a:xfrm>
            <a:off x="8130441" y="1186995"/>
            <a:ext cx="69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APC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0351CA0-4AB8-320F-6A4B-C7FD0958E587}"/>
              </a:ext>
            </a:extLst>
          </p:cNvPr>
          <p:cNvSpPr txBox="1"/>
          <p:nvPr/>
        </p:nvSpPr>
        <p:spPr>
          <a:xfrm>
            <a:off x="6634346" y="1061163"/>
            <a:ext cx="87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pump</a:t>
            </a: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9D4EA619-94E2-A36A-46AC-59704347038F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8092820" y="953213"/>
            <a:ext cx="382637" cy="2337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09ADEDCE-9073-68D9-18A0-6205165B6EB1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7512612" y="1085625"/>
            <a:ext cx="427154" cy="1602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58F47D6-86A3-F2E2-70A5-1A43DA0DA130}"/>
              </a:ext>
            </a:extLst>
          </p:cNvPr>
          <p:cNvSpPr txBox="1"/>
          <p:nvPr/>
        </p:nvSpPr>
        <p:spPr>
          <a:xfrm>
            <a:off x="7143721" y="529747"/>
            <a:ext cx="71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vent</a:t>
            </a: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4769AF0D-3469-F622-47FA-C4D6B52A8EAF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7857012" y="665609"/>
            <a:ext cx="353919" cy="488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乘號 37">
            <a:extLst>
              <a:ext uri="{FF2B5EF4-FFF2-40B4-BE49-F238E27FC236}">
                <a16:creationId xmlns:a16="http://schemas.microsoft.com/office/drawing/2014/main" id="{B3D4C2A9-03FA-EA2B-D0DE-6E92A7C58671}"/>
              </a:ext>
            </a:extLst>
          </p:cNvPr>
          <p:cNvSpPr/>
          <p:nvPr/>
        </p:nvSpPr>
        <p:spPr>
          <a:xfrm>
            <a:off x="7854080" y="496804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乘號 4">
            <a:extLst>
              <a:ext uri="{FF2B5EF4-FFF2-40B4-BE49-F238E27FC236}">
                <a16:creationId xmlns:a16="http://schemas.microsoft.com/office/drawing/2014/main" id="{5E7EB9F0-A522-F6A9-607D-7C7077353376}"/>
              </a:ext>
            </a:extLst>
          </p:cNvPr>
          <p:cNvSpPr/>
          <p:nvPr/>
        </p:nvSpPr>
        <p:spPr>
          <a:xfrm>
            <a:off x="8115673" y="900959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乘號 7">
            <a:extLst>
              <a:ext uri="{FF2B5EF4-FFF2-40B4-BE49-F238E27FC236}">
                <a16:creationId xmlns:a16="http://schemas.microsoft.com/office/drawing/2014/main" id="{888530C6-91CD-C0B3-9B35-EB25EAAC025F}"/>
              </a:ext>
            </a:extLst>
          </p:cNvPr>
          <p:cNvSpPr/>
          <p:nvPr/>
        </p:nvSpPr>
        <p:spPr>
          <a:xfrm>
            <a:off x="7490954" y="1019934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56ECF36D-FBB3-2A08-10CC-47C3FA9B24BA}"/>
              </a:ext>
            </a:extLst>
          </p:cNvPr>
          <p:cNvSpPr/>
          <p:nvPr/>
        </p:nvSpPr>
        <p:spPr>
          <a:xfrm>
            <a:off x="3707904" y="4007061"/>
            <a:ext cx="288032" cy="286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70928FD-AAE3-BBC9-6DFE-404697CD1CAF}"/>
              </a:ext>
            </a:extLst>
          </p:cNvPr>
          <p:cNvSpPr txBox="1"/>
          <p:nvPr/>
        </p:nvSpPr>
        <p:spPr>
          <a:xfrm>
            <a:off x="4139952" y="3957557"/>
            <a:ext cx="142699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Pump down 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瞬間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E4240F5-59F7-15C6-F05E-5D028208B104}"/>
              </a:ext>
            </a:extLst>
          </p:cNvPr>
          <p:cNvSpPr txBox="1"/>
          <p:nvPr/>
        </p:nvSpPr>
        <p:spPr>
          <a:xfrm>
            <a:off x="7020272" y="4447687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2025/03/12</a:t>
            </a:r>
            <a:r>
              <a:rPr lang="zh-TW" altLang="en-US" dirty="0"/>
              <a:t> </a:t>
            </a:r>
            <a:r>
              <a:rPr lang="en-US" altLang="zh-TW" dirty="0"/>
              <a:t>BPM</a:t>
            </a:r>
            <a:r>
              <a:rPr lang="zh-TW" altLang="en-US" dirty="0"/>
              <a:t>後</a:t>
            </a:r>
            <a:endParaRPr 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0323E97-E2F5-2DF1-E44B-7EA43D744FCA}"/>
              </a:ext>
            </a:extLst>
          </p:cNvPr>
          <p:cNvSpPr txBox="1"/>
          <p:nvPr/>
        </p:nvSpPr>
        <p:spPr>
          <a:xfrm>
            <a:off x="7020272" y="2492896"/>
            <a:ext cx="2024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2025/03/12</a:t>
            </a:r>
            <a:r>
              <a:rPr lang="zh-TW" altLang="en-US" dirty="0"/>
              <a:t> </a:t>
            </a:r>
            <a:r>
              <a:rPr lang="en-US" altLang="zh-TW" dirty="0"/>
              <a:t>BPM</a:t>
            </a:r>
            <a:r>
              <a:rPr lang="zh-TW" altLang="en-US" dirty="0"/>
              <a:t>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376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2990C110-D27E-1869-6EF1-4A40B653DE3B}"/>
              </a:ext>
            </a:extLst>
          </p:cNvPr>
          <p:cNvCxnSpPr/>
          <p:nvPr/>
        </p:nvCxnSpPr>
        <p:spPr>
          <a:xfrm flipV="1">
            <a:off x="7418518" y="404664"/>
            <a:ext cx="891461" cy="12862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D3A8D9-4171-8E8B-F092-6E54C77FA189}"/>
              </a:ext>
            </a:extLst>
          </p:cNvPr>
          <p:cNvSpPr txBox="1"/>
          <p:nvPr/>
        </p:nvSpPr>
        <p:spPr>
          <a:xfrm>
            <a:off x="6526887" y="1690930"/>
            <a:ext cx="1584176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石英相關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04B212F-3FBC-E290-F8CF-4B4A608C6535}"/>
              </a:ext>
            </a:extLst>
          </p:cNvPr>
          <p:cNvSpPr txBox="1"/>
          <p:nvPr/>
        </p:nvSpPr>
        <p:spPr>
          <a:xfrm>
            <a:off x="7845673" y="1259003"/>
            <a:ext cx="111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Injector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450858-410E-C030-F82F-D1C8C9C87246}"/>
              </a:ext>
            </a:extLst>
          </p:cNvPr>
          <p:cNvSpPr txBox="1"/>
          <p:nvPr/>
        </p:nvSpPr>
        <p:spPr>
          <a:xfrm>
            <a:off x="6616494" y="1133171"/>
            <a:ext cx="743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</a:t>
            </a:r>
            <a:endParaRPr lang="en-US" altLang="zh-TW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F58036F-E6FF-54A5-2268-3F5DA23AF092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7940304" y="1025221"/>
            <a:ext cx="464777" cy="2337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278FBCA6-1CD6-39DF-280D-254DF998F8A4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360095" y="1157633"/>
            <a:ext cx="427155" cy="1602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C4DD0B93-3369-2CDD-AEFC-6E4B21FB9B06}"/>
              </a:ext>
            </a:extLst>
          </p:cNvPr>
          <p:cNvCxnSpPr>
            <a:cxnSpLocks/>
          </p:cNvCxnSpPr>
          <p:nvPr/>
        </p:nvCxnSpPr>
        <p:spPr>
          <a:xfrm>
            <a:off x="8238945" y="500106"/>
            <a:ext cx="452114" cy="2150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2356736-AE17-2182-CDF0-187E6316FDC0}"/>
              </a:ext>
            </a:extLst>
          </p:cNvPr>
          <p:cNvSpPr txBox="1"/>
          <p:nvPr/>
        </p:nvSpPr>
        <p:spPr>
          <a:xfrm>
            <a:off x="8181261" y="764704"/>
            <a:ext cx="999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Pedestal</a:t>
            </a:r>
            <a:endParaRPr lang="zh-TW" altLang="en-US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51FEB40-3696-BA7C-CD22-49522ABD7E14}"/>
              </a:ext>
            </a:extLst>
          </p:cNvPr>
          <p:cNvCxnSpPr>
            <a:cxnSpLocks/>
            <a:stCxn id="16" idx="2"/>
          </p:cNvCxnSpPr>
          <p:nvPr/>
        </p:nvCxnSpPr>
        <p:spPr>
          <a:xfrm flipV="1">
            <a:off x="7475586" y="759672"/>
            <a:ext cx="594059" cy="13944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96E3FD6-4896-1583-08DC-065B41E1C55A}"/>
              </a:ext>
            </a:extLst>
          </p:cNvPr>
          <p:cNvSpPr txBox="1"/>
          <p:nvPr/>
        </p:nvSpPr>
        <p:spPr>
          <a:xfrm>
            <a:off x="7103785" y="529782"/>
            <a:ext cx="743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Tube</a:t>
            </a:r>
            <a:endParaRPr lang="zh-TW" altLang="en-US" dirty="0"/>
          </a:p>
        </p:txBody>
      </p:sp>
      <p:sp>
        <p:nvSpPr>
          <p:cNvPr id="17" name="乘號 16">
            <a:extLst>
              <a:ext uri="{FF2B5EF4-FFF2-40B4-BE49-F238E27FC236}">
                <a16:creationId xmlns:a16="http://schemas.microsoft.com/office/drawing/2014/main" id="{0C263CC5-CC94-D7E1-345D-27AA7034BDAD}"/>
              </a:ext>
            </a:extLst>
          </p:cNvPr>
          <p:cNvSpPr/>
          <p:nvPr/>
        </p:nvSpPr>
        <p:spPr>
          <a:xfrm>
            <a:off x="8329910" y="447919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乘號 17">
            <a:extLst>
              <a:ext uri="{FF2B5EF4-FFF2-40B4-BE49-F238E27FC236}">
                <a16:creationId xmlns:a16="http://schemas.microsoft.com/office/drawing/2014/main" id="{83A4EFD7-C723-BA01-48B3-247FE13D8B0D}"/>
              </a:ext>
            </a:extLst>
          </p:cNvPr>
          <p:cNvSpPr/>
          <p:nvPr/>
        </p:nvSpPr>
        <p:spPr>
          <a:xfrm>
            <a:off x="7668178" y="611949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9" name="乘號 18">
            <a:extLst>
              <a:ext uri="{FF2B5EF4-FFF2-40B4-BE49-F238E27FC236}">
                <a16:creationId xmlns:a16="http://schemas.microsoft.com/office/drawing/2014/main" id="{54EAC35B-494F-0D8F-AF22-B96076852D0D}"/>
              </a:ext>
            </a:extLst>
          </p:cNvPr>
          <p:cNvSpPr/>
          <p:nvPr/>
        </p:nvSpPr>
        <p:spPr>
          <a:xfrm>
            <a:off x="7339736" y="1053468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0" name="乘號 19">
            <a:extLst>
              <a:ext uri="{FF2B5EF4-FFF2-40B4-BE49-F238E27FC236}">
                <a16:creationId xmlns:a16="http://schemas.microsoft.com/office/drawing/2014/main" id="{BE164788-55EA-F19D-D96D-2845886BD3E0}"/>
              </a:ext>
            </a:extLst>
          </p:cNvPr>
          <p:cNvSpPr/>
          <p:nvPr/>
        </p:nvSpPr>
        <p:spPr>
          <a:xfrm>
            <a:off x="8036910" y="957446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54EA490A-930E-197C-9901-864CFD649042}"/>
              </a:ext>
            </a:extLst>
          </p:cNvPr>
          <p:cNvGrpSpPr/>
          <p:nvPr/>
        </p:nvGrpSpPr>
        <p:grpSpPr>
          <a:xfrm>
            <a:off x="872678" y="2132856"/>
            <a:ext cx="5859562" cy="3596219"/>
            <a:chOff x="1389096" y="2331397"/>
            <a:chExt cx="6098088" cy="4129852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1317C6E8-0AD6-936D-3A74-BE35204D07A0}"/>
                </a:ext>
              </a:extLst>
            </p:cNvPr>
            <p:cNvGrpSpPr/>
            <p:nvPr/>
          </p:nvGrpSpPr>
          <p:grpSpPr>
            <a:xfrm>
              <a:off x="1403647" y="2331397"/>
              <a:ext cx="2949381" cy="2054120"/>
              <a:chOff x="1403647" y="2331397"/>
              <a:chExt cx="2949381" cy="2054120"/>
            </a:xfrm>
          </p:grpSpPr>
          <p:pic>
            <p:nvPicPr>
              <p:cNvPr id="21" name="Picture 2">
                <a:extLst>
                  <a:ext uri="{FF2B5EF4-FFF2-40B4-BE49-F238E27FC236}">
                    <a16:creationId xmlns:a16="http://schemas.microsoft.com/office/drawing/2014/main" id="{3315C223-7FD3-55BB-92EE-8F848710E390}"/>
                  </a:ext>
                </a:extLst>
              </p:cNvPr>
              <p:cNvPicPr>
                <a:picLocks noChangeArrowheads="1"/>
              </p:cNvPicPr>
              <p:nvPr/>
            </p:nvPicPr>
            <p:blipFill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403647" y="2331397"/>
                <a:ext cx="2949381" cy="20471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B525362-4798-732F-FCF9-CA571F734B2E}"/>
                  </a:ext>
                </a:extLst>
              </p:cNvPr>
              <p:cNvSpPr txBox="1"/>
              <p:nvPr/>
            </p:nvSpPr>
            <p:spPr>
              <a:xfrm>
                <a:off x="1403647" y="4097242"/>
                <a:ext cx="2109462" cy="288275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Cap &amp; </a:t>
                </a:r>
                <a:r>
                  <a:rPr lang="zh-TW" alt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保溫筒 </a:t>
                </a:r>
                <a:r>
                  <a:rPr lang="en-US" altLang="zh-TW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no powder</a:t>
                </a:r>
                <a:endParaRPr lang="en-US" sz="12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CBE0CA85-7A18-0F15-6F32-9FD9C60D2040}"/>
                </a:ext>
              </a:extLst>
            </p:cNvPr>
            <p:cNvGrpSpPr/>
            <p:nvPr/>
          </p:nvGrpSpPr>
          <p:grpSpPr>
            <a:xfrm>
              <a:off x="4382102" y="2332585"/>
              <a:ext cx="3105082" cy="4128664"/>
              <a:chOff x="4382102" y="2332585"/>
              <a:chExt cx="3105082" cy="4128664"/>
            </a:xfrm>
          </p:grpSpPr>
          <p:pic>
            <p:nvPicPr>
              <p:cNvPr id="22" name="Picture 4">
                <a:extLst>
                  <a:ext uri="{FF2B5EF4-FFF2-40B4-BE49-F238E27FC236}">
                    <a16:creationId xmlns:a16="http://schemas.microsoft.com/office/drawing/2014/main" id="{B4CBC56E-3708-CA43-D981-E3C4FD91E7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2102" y="2332585"/>
                <a:ext cx="3105082" cy="411738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C0359A5-6816-D13E-D357-15AF4B3C9735}"/>
                  </a:ext>
                </a:extLst>
              </p:cNvPr>
              <p:cNvSpPr txBox="1"/>
              <p:nvPr/>
            </p:nvSpPr>
            <p:spPr>
              <a:xfrm>
                <a:off x="4382102" y="6172974"/>
                <a:ext cx="1425856" cy="288275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Boat </a:t>
                </a:r>
                <a:r>
                  <a:rPr lang="en-US" altLang="zh-TW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no powder</a:t>
                </a:r>
                <a:endParaRPr lang="en-US" sz="12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5BFD4740-62C6-6DFC-0815-8FE273E0396F}"/>
                </a:ext>
              </a:extLst>
            </p:cNvPr>
            <p:cNvGrpSpPr/>
            <p:nvPr/>
          </p:nvGrpSpPr>
          <p:grpSpPr>
            <a:xfrm>
              <a:off x="1389096" y="4405922"/>
              <a:ext cx="2963932" cy="2055327"/>
              <a:chOff x="1389096" y="4405922"/>
              <a:chExt cx="2963932" cy="2055327"/>
            </a:xfrm>
          </p:grpSpPr>
          <p:pic>
            <p:nvPicPr>
              <p:cNvPr id="23" name="圖片 22" descr="一張含有 圓形, 紅色 的圖片&#10;&#10;自動產生的描述">
                <a:extLst>
                  <a:ext uri="{FF2B5EF4-FFF2-40B4-BE49-F238E27FC236}">
                    <a16:creationId xmlns:a16="http://schemas.microsoft.com/office/drawing/2014/main" id="{BDAF45A1-EE7F-FCF3-3C8D-B736490D789B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b="4251"/>
              <a:stretch/>
            </p:blipFill>
            <p:spPr>
              <a:xfrm>
                <a:off x="1403647" y="4405922"/>
                <a:ext cx="2949381" cy="204713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DBAA6FA1-6CB2-3DB9-A115-44745D74964C}"/>
                  </a:ext>
                </a:extLst>
              </p:cNvPr>
              <p:cNvSpPr txBox="1"/>
              <p:nvPr/>
            </p:nvSpPr>
            <p:spPr>
              <a:xfrm>
                <a:off x="1389096" y="6172974"/>
                <a:ext cx="1674377" cy="288275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Q</a:t>
                </a:r>
                <a:r>
                  <a:rPr 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uartz Tube </a:t>
                </a:r>
                <a:r>
                  <a:rPr lang="zh-TW" alt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無破損</a:t>
                </a:r>
                <a:endParaRPr lang="en-US" sz="12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3437EDA-735A-22C6-F8C2-D571133D1B66}"/>
              </a:ext>
            </a:extLst>
          </p:cNvPr>
          <p:cNvSpPr txBox="1"/>
          <p:nvPr/>
        </p:nvSpPr>
        <p:spPr>
          <a:xfrm>
            <a:off x="357685" y="5826750"/>
            <a:ext cx="5058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石英、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無破損，機台內無粉末 ，非真因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6558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6042BEB-FD5B-B7D2-8D1E-1151BEEFA1E7}"/>
              </a:ext>
            </a:extLst>
          </p:cNvPr>
          <p:cNvGrpSpPr/>
          <p:nvPr/>
        </p:nvGrpSpPr>
        <p:grpSpPr>
          <a:xfrm>
            <a:off x="780054" y="1916832"/>
            <a:ext cx="6807267" cy="1506306"/>
            <a:chOff x="251522" y="1834553"/>
            <a:chExt cx="6807267" cy="1506306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B49B5F96-5DE6-C180-A9AB-729CBF355721}"/>
                </a:ext>
              </a:extLst>
            </p:cNvPr>
            <p:cNvGrpSpPr/>
            <p:nvPr/>
          </p:nvGrpSpPr>
          <p:grpSpPr>
            <a:xfrm>
              <a:off x="251522" y="1844945"/>
              <a:ext cx="2243872" cy="1495914"/>
              <a:chOff x="4266536" y="1493843"/>
              <a:chExt cx="2243872" cy="1495914"/>
            </a:xfrm>
          </p:grpSpPr>
          <p:pic>
            <p:nvPicPr>
              <p:cNvPr id="21" name="圖片 20" descr="一張含有 螢幕擷取畫面, 多媒體軟體, 文字, 軟體 的圖片&#10;&#10;自動產生的描述">
                <a:extLst>
                  <a:ext uri="{FF2B5EF4-FFF2-40B4-BE49-F238E27FC236}">
                    <a16:creationId xmlns:a16="http://schemas.microsoft.com/office/drawing/2014/main" id="{490578D8-685D-CD45-CC26-7F45DA865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  <a14:imgEffect>
                          <a14:brightnessContrast brigh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266536" y="1493843"/>
                <a:ext cx="2243872" cy="1495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373B7A0-A14C-6EDF-0954-5CAD9342D887}"/>
                  </a:ext>
                </a:extLst>
              </p:cNvPr>
              <p:cNvSpPr txBox="1"/>
              <p:nvPr/>
            </p:nvSpPr>
            <p:spPr>
              <a:xfrm>
                <a:off x="4266536" y="2708461"/>
                <a:ext cx="787395" cy="27699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Slot 005</a:t>
                </a:r>
              </a:p>
            </p:txBody>
          </p:sp>
        </p:grp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6CF9223A-CBAD-1CE6-77C5-EB0EBFE29506}"/>
                </a:ext>
              </a:extLst>
            </p:cNvPr>
            <p:cNvGrpSpPr/>
            <p:nvPr/>
          </p:nvGrpSpPr>
          <p:grpSpPr>
            <a:xfrm>
              <a:off x="2533218" y="1844945"/>
              <a:ext cx="2243873" cy="1495914"/>
              <a:chOff x="4266535" y="2985460"/>
              <a:chExt cx="2243873" cy="1495914"/>
            </a:xfrm>
          </p:grpSpPr>
          <p:pic>
            <p:nvPicPr>
              <p:cNvPr id="22" name="圖片 21" descr="一張含有 螢幕擷取畫面, 文字, 多媒體軟體, 軟體 的圖片&#10;&#10;自動產生的描述">
                <a:extLst>
                  <a:ext uri="{FF2B5EF4-FFF2-40B4-BE49-F238E27FC236}">
                    <a16:creationId xmlns:a16="http://schemas.microsoft.com/office/drawing/2014/main" id="{7F454BD7-9EB2-56C8-667A-053101062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50000"/>
                        </a14:imgEffect>
                        <a14:imgEffect>
                          <a14:brightnessContrast brigh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266536" y="2985460"/>
                <a:ext cx="2243872" cy="1495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61B237C-0C6F-2C83-59FD-78C0404C0F08}"/>
                  </a:ext>
                </a:extLst>
              </p:cNvPr>
              <p:cNvSpPr txBox="1"/>
              <p:nvPr/>
            </p:nvSpPr>
            <p:spPr>
              <a:xfrm>
                <a:off x="4266535" y="4204375"/>
                <a:ext cx="787395" cy="27699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Slot 096</a:t>
                </a:r>
              </a:p>
            </p:txBody>
          </p:sp>
        </p:grp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588B2840-83AC-F414-1F2F-C374DA8634BD}"/>
                </a:ext>
              </a:extLst>
            </p:cNvPr>
            <p:cNvGrpSpPr/>
            <p:nvPr/>
          </p:nvGrpSpPr>
          <p:grpSpPr>
            <a:xfrm>
              <a:off x="4814915" y="1834553"/>
              <a:ext cx="2243874" cy="1495914"/>
              <a:chOff x="4266534" y="4479226"/>
              <a:chExt cx="2243874" cy="1495914"/>
            </a:xfrm>
          </p:grpSpPr>
          <p:pic>
            <p:nvPicPr>
              <p:cNvPr id="23" name="圖片 22" descr="一張含有 螢幕擷取畫面, 多媒體軟體, 文字, 軟體 的圖片&#10;&#10;自動產生的描述">
                <a:extLst>
                  <a:ext uri="{FF2B5EF4-FFF2-40B4-BE49-F238E27FC236}">
                    <a16:creationId xmlns:a16="http://schemas.microsoft.com/office/drawing/2014/main" id="{115B7DB2-186F-B910-C6C5-074706C8CA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harpenSoften amount="50000"/>
                        </a14:imgEffect>
                        <a14:imgEffect>
                          <a14:brightnessContrast brigh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266536" y="4479226"/>
                <a:ext cx="2243872" cy="1495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6419733E-B9FF-073A-F290-4874C54BDE94}"/>
                  </a:ext>
                </a:extLst>
              </p:cNvPr>
              <p:cNvSpPr txBox="1"/>
              <p:nvPr/>
            </p:nvSpPr>
            <p:spPr>
              <a:xfrm>
                <a:off x="4266534" y="5690823"/>
                <a:ext cx="787395" cy="27699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Slot 157</a:t>
                </a:r>
              </a:p>
            </p:txBody>
          </p:sp>
        </p:grpSp>
      </p:grp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196BAAD-D098-9C13-EF97-336A6D058406}"/>
              </a:ext>
            </a:extLst>
          </p:cNvPr>
          <p:cNvSpPr txBox="1"/>
          <p:nvPr/>
        </p:nvSpPr>
        <p:spPr>
          <a:xfrm>
            <a:off x="357685" y="5670332"/>
            <a:ext cx="6458819" cy="416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爐內環境</a:t>
            </a:r>
            <a:r>
              <a:rPr lang="zh-TW" altLang="en-US" sz="16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 M/W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承接後旋轉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分鐘，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PTC=0/2/4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，非真因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41F965BC-1BAD-4473-70B1-E75858E02FD8}"/>
              </a:ext>
            </a:extLst>
          </p:cNvPr>
          <p:cNvGrpSpPr/>
          <p:nvPr/>
        </p:nvGrpSpPr>
        <p:grpSpPr>
          <a:xfrm>
            <a:off x="780054" y="4048756"/>
            <a:ext cx="6816282" cy="1536974"/>
            <a:chOff x="655654" y="4072751"/>
            <a:chExt cx="6816282" cy="1536974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C08F59DF-DA3D-3947-75AF-520B4FDEADC5}"/>
                </a:ext>
              </a:extLst>
            </p:cNvPr>
            <p:cNvGrpSpPr/>
            <p:nvPr/>
          </p:nvGrpSpPr>
          <p:grpSpPr>
            <a:xfrm>
              <a:off x="655654" y="4092594"/>
              <a:ext cx="2254215" cy="1517131"/>
              <a:chOff x="655654" y="4092594"/>
              <a:chExt cx="2254215" cy="1517131"/>
            </a:xfrm>
          </p:grpSpPr>
          <p:pic>
            <p:nvPicPr>
              <p:cNvPr id="33" name="圖片 32" descr="一張含有 螢幕擷取畫面, 多媒體軟體, 文字, 軟體 的圖片&#10;&#10;自動產生的描述">
                <a:extLst>
                  <a:ext uri="{FF2B5EF4-FFF2-40B4-BE49-F238E27FC236}">
                    <a16:creationId xmlns:a16="http://schemas.microsoft.com/office/drawing/2014/main" id="{A74F24DA-CE6B-E7E4-1986-0A75C7DD60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harpenSoften amount="50000"/>
                        </a14:imgEffect>
                        <a14:imgEffect>
                          <a14:brightnessContrast brigh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65998" y="4092594"/>
                <a:ext cx="2243871" cy="1495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2D38E1F8-C860-5747-4EA2-319BEC91ABAE}"/>
                  </a:ext>
                </a:extLst>
              </p:cNvPr>
              <p:cNvSpPr txBox="1"/>
              <p:nvPr/>
            </p:nvSpPr>
            <p:spPr>
              <a:xfrm>
                <a:off x="655654" y="5332726"/>
                <a:ext cx="797739" cy="27699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Slot 005</a:t>
                </a:r>
              </a:p>
            </p:txBody>
          </p:sp>
        </p:grp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4F450940-08C7-7147-B375-A2D4EA09A49D}"/>
                </a:ext>
              </a:extLst>
            </p:cNvPr>
            <p:cNvGrpSpPr/>
            <p:nvPr/>
          </p:nvGrpSpPr>
          <p:grpSpPr>
            <a:xfrm>
              <a:off x="2936331" y="4072751"/>
              <a:ext cx="2255236" cy="1517551"/>
              <a:chOff x="3507725" y="4092594"/>
              <a:chExt cx="2255236" cy="1517131"/>
            </a:xfrm>
          </p:grpSpPr>
          <p:pic>
            <p:nvPicPr>
              <p:cNvPr id="34" name="圖片 33" descr="一張含有 螢幕擷取畫面, 多媒體軟體, 文字, 軟體 的圖片&#10;&#10;自動產生的描述">
                <a:extLst>
                  <a:ext uri="{FF2B5EF4-FFF2-40B4-BE49-F238E27FC236}">
                    <a16:creationId xmlns:a16="http://schemas.microsoft.com/office/drawing/2014/main" id="{7AAF4A77-2326-A7E4-1E18-FE243F6080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screen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sharpenSoften amount="50000"/>
                        </a14:imgEffect>
                        <a14:imgEffect>
                          <a14:brightnessContrast brigh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19090" y="4092594"/>
                <a:ext cx="2243871" cy="1495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77E1EE44-4C8C-1AE2-4134-3923BA413FA5}"/>
                  </a:ext>
                </a:extLst>
              </p:cNvPr>
              <p:cNvSpPr txBox="1"/>
              <p:nvPr/>
            </p:nvSpPr>
            <p:spPr>
              <a:xfrm>
                <a:off x="3507725" y="5332726"/>
                <a:ext cx="797739" cy="27699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Slot 096</a:t>
                </a:r>
              </a:p>
            </p:txBody>
          </p:sp>
        </p:grpSp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9E63FA41-4A99-B74D-64AE-2B0A92897A6A}"/>
                </a:ext>
              </a:extLst>
            </p:cNvPr>
            <p:cNvGrpSpPr/>
            <p:nvPr/>
          </p:nvGrpSpPr>
          <p:grpSpPr>
            <a:xfrm>
              <a:off x="5216719" y="4077135"/>
              <a:ext cx="2255217" cy="1518495"/>
              <a:chOff x="6360836" y="4092594"/>
              <a:chExt cx="2255217" cy="1518495"/>
            </a:xfrm>
          </p:grpSpPr>
          <p:pic>
            <p:nvPicPr>
              <p:cNvPr id="35" name="圖片 34" descr="一張含有 螢幕擷取畫面, 文字, 多媒體軟體, 軟體 的圖片&#10;&#10;自動產生的描述">
                <a:extLst>
                  <a:ext uri="{FF2B5EF4-FFF2-40B4-BE49-F238E27FC236}">
                    <a16:creationId xmlns:a16="http://schemas.microsoft.com/office/drawing/2014/main" id="{9B0868CA-11CA-FC46-F80F-6C2F590181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sharpenSoften amount="50000"/>
                        </a14:imgEffect>
                        <a14:imgEffect>
                          <a14:brightnessContrast brigh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372182" y="4092594"/>
                <a:ext cx="2243871" cy="1495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E70ACD6-2DB4-8AEA-BDF6-8C89AF198106}"/>
                  </a:ext>
                </a:extLst>
              </p:cNvPr>
              <p:cNvSpPr txBox="1"/>
              <p:nvPr/>
            </p:nvSpPr>
            <p:spPr>
              <a:xfrm>
                <a:off x="6360836" y="5334090"/>
                <a:ext cx="797739" cy="27699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Slot 157</a:t>
                </a:r>
              </a:p>
            </p:txBody>
          </p:sp>
        </p:grpSp>
      </p:grp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8B05175-CD28-5D4D-66D6-325BFDB62375}"/>
              </a:ext>
            </a:extLst>
          </p:cNvPr>
          <p:cNvSpPr txBox="1"/>
          <p:nvPr/>
        </p:nvSpPr>
        <p:spPr>
          <a:xfrm>
            <a:off x="357685" y="3400684"/>
            <a:ext cx="6463629" cy="416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爐外環境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 M/W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承接後靜置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分鐘，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PTC=1/4/2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，非真因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6EB6BBFF-DF6C-FDD9-F623-5626D9A9F58D}"/>
              </a:ext>
            </a:extLst>
          </p:cNvPr>
          <p:cNvCxnSpPr/>
          <p:nvPr/>
        </p:nvCxnSpPr>
        <p:spPr>
          <a:xfrm>
            <a:off x="7630362" y="571525"/>
            <a:ext cx="1123053" cy="105884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D761850-9196-BA29-EF8D-B70DD2A116C4}"/>
              </a:ext>
            </a:extLst>
          </p:cNvPr>
          <p:cNvSpPr txBox="1"/>
          <p:nvPr/>
        </p:nvSpPr>
        <p:spPr>
          <a:xfrm>
            <a:off x="7067900" y="188640"/>
            <a:ext cx="1131486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環境因素</a:t>
            </a:r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48197914-D7E9-ABD7-C2BB-A180FB776338}"/>
              </a:ext>
            </a:extLst>
          </p:cNvPr>
          <p:cNvCxnSpPr/>
          <p:nvPr/>
        </p:nvCxnSpPr>
        <p:spPr>
          <a:xfrm flipV="1">
            <a:off x="8244247" y="845213"/>
            <a:ext cx="123610" cy="2603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EF22143-AE23-5880-2224-5587930A94A7}"/>
              </a:ext>
            </a:extLst>
          </p:cNvPr>
          <p:cNvSpPr txBox="1"/>
          <p:nvPr/>
        </p:nvSpPr>
        <p:spPr>
          <a:xfrm>
            <a:off x="7987837" y="527365"/>
            <a:ext cx="1120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爐管外</a:t>
            </a:r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A813CE07-B42E-F925-B17D-DD616A5D7E3C}"/>
              </a:ext>
            </a:extLst>
          </p:cNvPr>
          <p:cNvCxnSpPr>
            <a:cxnSpLocks/>
            <a:endCxn id="51" idx="3"/>
          </p:cNvCxnSpPr>
          <p:nvPr/>
        </p:nvCxnSpPr>
        <p:spPr>
          <a:xfrm flipH="1" flipV="1">
            <a:off x="7556924" y="933419"/>
            <a:ext cx="564040" cy="1108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A1DBD512-C73B-CF18-CF29-C4A64B1AC31D}"/>
              </a:ext>
            </a:extLst>
          </p:cNvPr>
          <p:cNvSpPr/>
          <p:nvPr/>
        </p:nvSpPr>
        <p:spPr>
          <a:xfrm>
            <a:off x="6635852" y="748753"/>
            <a:ext cx="9210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爐管內</a:t>
            </a:r>
          </a:p>
        </p:txBody>
      </p:sp>
      <p:sp>
        <p:nvSpPr>
          <p:cNvPr id="52" name="乘號 51">
            <a:extLst>
              <a:ext uri="{FF2B5EF4-FFF2-40B4-BE49-F238E27FC236}">
                <a16:creationId xmlns:a16="http://schemas.microsoft.com/office/drawing/2014/main" id="{297C76F5-96D9-02E7-0894-4BC5AF4DBE08}"/>
              </a:ext>
            </a:extLst>
          </p:cNvPr>
          <p:cNvSpPr/>
          <p:nvPr/>
        </p:nvSpPr>
        <p:spPr>
          <a:xfrm>
            <a:off x="7578524" y="798326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3" name="乘號 52">
            <a:extLst>
              <a:ext uri="{FF2B5EF4-FFF2-40B4-BE49-F238E27FC236}">
                <a16:creationId xmlns:a16="http://schemas.microsoft.com/office/drawing/2014/main" id="{4DE7EB31-9E4B-816E-A104-300131188E71}"/>
              </a:ext>
            </a:extLst>
          </p:cNvPr>
          <p:cNvSpPr/>
          <p:nvPr/>
        </p:nvSpPr>
        <p:spPr>
          <a:xfrm>
            <a:off x="8126160" y="789195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45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A44D8C5E-7677-E737-E5FC-82F6EAD8284A}"/>
              </a:ext>
            </a:extLst>
          </p:cNvPr>
          <p:cNvSpPr txBox="1"/>
          <p:nvPr/>
        </p:nvSpPr>
        <p:spPr>
          <a:xfrm>
            <a:off x="351793" y="5466710"/>
            <a:ext cx="753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boat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端傳送均正常，且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fork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位置不相符，非真因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70E3790-C8B1-42C8-B2E9-732DF5A4DA35}"/>
              </a:ext>
            </a:extLst>
          </p:cNvPr>
          <p:cNvCxnSpPr/>
          <p:nvPr/>
        </p:nvCxnSpPr>
        <p:spPr>
          <a:xfrm>
            <a:off x="7553403" y="643533"/>
            <a:ext cx="1123053" cy="105884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98F677A-1DCA-96F5-6373-FB3C533C5214}"/>
              </a:ext>
            </a:extLst>
          </p:cNvPr>
          <p:cNvSpPr txBox="1"/>
          <p:nvPr/>
        </p:nvSpPr>
        <p:spPr>
          <a:xfrm>
            <a:off x="7121355" y="260648"/>
            <a:ext cx="1123053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傳送相關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91A72FCE-3F6C-E992-E731-435C39D30F24}"/>
              </a:ext>
            </a:extLst>
          </p:cNvPr>
          <p:cNvCxnSpPr/>
          <p:nvPr/>
        </p:nvCxnSpPr>
        <p:spPr>
          <a:xfrm flipV="1">
            <a:off x="8167288" y="917221"/>
            <a:ext cx="123610" cy="2603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01C219-A6BF-7356-227D-792FF537032C}"/>
              </a:ext>
            </a:extLst>
          </p:cNvPr>
          <p:cNvSpPr txBox="1"/>
          <p:nvPr/>
        </p:nvSpPr>
        <p:spPr>
          <a:xfrm>
            <a:off x="8029425" y="599373"/>
            <a:ext cx="64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轉子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A7AA288-9826-F243-ACD6-01D64B0611CF}"/>
              </a:ext>
            </a:extLst>
          </p:cNvPr>
          <p:cNvCxnSpPr/>
          <p:nvPr/>
        </p:nvCxnSpPr>
        <p:spPr>
          <a:xfrm flipH="1" flipV="1">
            <a:off x="7941478" y="1441503"/>
            <a:ext cx="519342" cy="10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A835F91-9FBC-E743-DBF0-B198C212E8FB}"/>
              </a:ext>
            </a:extLst>
          </p:cNvPr>
          <p:cNvSpPr/>
          <p:nvPr/>
        </p:nvSpPr>
        <p:spPr>
          <a:xfrm>
            <a:off x="7394154" y="125280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刮管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F90B7C5A-F96C-6E41-7BAE-F3BF1150A2E0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7525320" y="1005427"/>
            <a:ext cx="518685" cy="1108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71EEA89-3A03-4D18-48EF-FBD90B641F6B}"/>
              </a:ext>
            </a:extLst>
          </p:cNvPr>
          <p:cNvSpPr/>
          <p:nvPr/>
        </p:nvSpPr>
        <p:spPr>
          <a:xfrm>
            <a:off x="6823231" y="820761"/>
            <a:ext cx="70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刮傷</a:t>
            </a:r>
          </a:p>
        </p:txBody>
      </p:sp>
      <p:sp>
        <p:nvSpPr>
          <p:cNvPr id="13" name="乘號 12">
            <a:extLst>
              <a:ext uri="{FF2B5EF4-FFF2-40B4-BE49-F238E27FC236}">
                <a16:creationId xmlns:a16="http://schemas.microsoft.com/office/drawing/2014/main" id="{95AE78ED-8844-80C6-3371-6679C6BDD610}"/>
              </a:ext>
            </a:extLst>
          </p:cNvPr>
          <p:cNvSpPr/>
          <p:nvPr/>
        </p:nvSpPr>
        <p:spPr>
          <a:xfrm>
            <a:off x="7553402" y="856260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79592276-AA6F-3B2E-48B5-136062189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3" y="2020633"/>
            <a:ext cx="4660275" cy="3290068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EE3E532A-8AA2-080E-2A36-597CD9C36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677" y="2009675"/>
            <a:ext cx="4002819" cy="329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04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70E3790-C8B1-42C8-B2E9-732DF5A4DA35}"/>
              </a:ext>
            </a:extLst>
          </p:cNvPr>
          <p:cNvCxnSpPr/>
          <p:nvPr/>
        </p:nvCxnSpPr>
        <p:spPr>
          <a:xfrm>
            <a:off x="7394993" y="661118"/>
            <a:ext cx="1123053" cy="105884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98F677A-1DCA-96F5-6373-FB3C533C5214}"/>
              </a:ext>
            </a:extLst>
          </p:cNvPr>
          <p:cNvSpPr txBox="1"/>
          <p:nvPr/>
        </p:nvSpPr>
        <p:spPr>
          <a:xfrm>
            <a:off x="6962945" y="278233"/>
            <a:ext cx="1123053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傳送相關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91A72FCE-3F6C-E992-E731-435C39D30F24}"/>
              </a:ext>
            </a:extLst>
          </p:cNvPr>
          <p:cNvCxnSpPr/>
          <p:nvPr/>
        </p:nvCxnSpPr>
        <p:spPr>
          <a:xfrm flipV="1">
            <a:off x="8008878" y="934806"/>
            <a:ext cx="123610" cy="2603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01C219-A6BF-7356-227D-792FF537032C}"/>
              </a:ext>
            </a:extLst>
          </p:cNvPr>
          <p:cNvSpPr txBox="1"/>
          <p:nvPr/>
        </p:nvSpPr>
        <p:spPr>
          <a:xfrm>
            <a:off x="7871015" y="616958"/>
            <a:ext cx="64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轉子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A7AA288-9826-F243-ACD6-01D64B0611CF}"/>
              </a:ext>
            </a:extLst>
          </p:cNvPr>
          <p:cNvCxnSpPr/>
          <p:nvPr/>
        </p:nvCxnSpPr>
        <p:spPr>
          <a:xfrm flipH="1" flipV="1">
            <a:off x="7783068" y="1459088"/>
            <a:ext cx="519342" cy="10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A835F91-9FBC-E743-DBF0-B198C212E8FB}"/>
              </a:ext>
            </a:extLst>
          </p:cNvPr>
          <p:cNvSpPr/>
          <p:nvPr/>
        </p:nvSpPr>
        <p:spPr>
          <a:xfrm>
            <a:off x="7235744" y="12703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刮管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F90B7C5A-F96C-6E41-7BAE-F3BF1150A2E0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7366910" y="1023012"/>
            <a:ext cx="518685" cy="1108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71EEA89-3A03-4D18-48EF-FBD90B641F6B}"/>
              </a:ext>
            </a:extLst>
          </p:cNvPr>
          <p:cNvSpPr/>
          <p:nvPr/>
        </p:nvSpPr>
        <p:spPr>
          <a:xfrm>
            <a:off x="6664821" y="838346"/>
            <a:ext cx="70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刮傷</a:t>
            </a:r>
          </a:p>
        </p:txBody>
      </p:sp>
      <p:sp>
        <p:nvSpPr>
          <p:cNvPr id="13" name="乘號 12">
            <a:extLst>
              <a:ext uri="{FF2B5EF4-FFF2-40B4-BE49-F238E27FC236}">
                <a16:creationId xmlns:a16="http://schemas.microsoft.com/office/drawing/2014/main" id="{95AE78ED-8844-80C6-3371-6679C6BDD610}"/>
              </a:ext>
            </a:extLst>
          </p:cNvPr>
          <p:cNvSpPr/>
          <p:nvPr/>
        </p:nvSpPr>
        <p:spPr>
          <a:xfrm>
            <a:off x="7394992" y="873845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乘號 13">
            <a:extLst>
              <a:ext uri="{FF2B5EF4-FFF2-40B4-BE49-F238E27FC236}">
                <a16:creationId xmlns:a16="http://schemas.microsoft.com/office/drawing/2014/main" id="{DE0BCA96-2821-B3F3-D787-C304E48D68CD}"/>
              </a:ext>
            </a:extLst>
          </p:cNvPr>
          <p:cNvSpPr/>
          <p:nvPr/>
        </p:nvSpPr>
        <p:spPr>
          <a:xfrm>
            <a:off x="7871015" y="1345123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79289449-68A3-3ABE-9355-2A13ECFCA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391" y="2209759"/>
            <a:ext cx="4131202" cy="3019441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DC3CA07-F0F8-517F-8C55-7421CC5E4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85" y="2209759"/>
            <a:ext cx="4131201" cy="3019441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8CB1840C-43A1-5C2F-3FDA-302C4C846FB8}"/>
              </a:ext>
            </a:extLst>
          </p:cNvPr>
          <p:cNvSpPr txBox="1"/>
          <p:nvPr/>
        </p:nvSpPr>
        <p:spPr>
          <a:xfrm>
            <a:off x="251520" y="5445224"/>
            <a:ext cx="2759410" cy="416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無刮管痕跡，非真因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8491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70E3790-C8B1-42C8-B2E9-732DF5A4DA35}"/>
              </a:ext>
            </a:extLst>
          </p:cNvPr>
          <p:cNvCxnSpPr/>
          <p:nvPr/>
        </p:nvCxnSpPr>
        <p:spPr>
          <a:xfrm>
            <a:off x="7394993" y="661118"/>
            <a:ext cx="1123053" cy="105884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98F677A-1DCA-96F5-6373-FB3C533C5214}"/>
              </a:ext>
            </a:extLst>
          </p:cNvPr>
          <p:cNvSpPr txBox="1"/>
          <p:nvPr/>
        </p:nvSpPr>
        <p:spPr>
          <a:xfrm>
            <a:off x="6962945" y="278233"/>
            <a:ext cx="1123053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傳送相關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91A72FCE-3F6C-E992-E731-435C39D30F24}"/>
              </a:ext>
            </a:extLst>
          </p:cNvPr>
          <p:cNvCxnSpPr/>
          <p:nvPr/>
        </p:nvCxnSpPr>
        <p:spPr>
          <a:xfrm flipV="1">
            <a:off x="8008878" y="934806"/>
            <a:ext cx="123610" cy="2603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01C219-A6BF-7356-227D-792FF537032C}"/>
              </a:ext>
            </a:extLst>
          </p:cNvPr>
          <p:cNvSpPr txBox="1"/>
          <p:nvPr/>
        </p:nvSpPr>
        <p:spPr>
          <a:xfrm>
            <a:off x="7871015" y="616958"/>
            <a:ext cx="64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轉子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A7AA288-9826-F243-ACD6-01D64B0611CF}"/>
              </a:ext>
            </a:extLst>
          </p:cNvPr>
          <p:cNvCxnSpPr/>
          <p:nvPr/>
        </p:nvCxnSpPr>
        <p:spPr>
          <a:xfrm flipH="1" flipV="1">
            <a:off x="7783068" y="1459088"/>
            <a:ext cx="519342" cy="10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A835F91-9FBC-E743-DBF0-B198C212E8FB}"/>
              </a:ext>
            </a:extLst>
          </p:cNvPr>
          <p:cNvSpPr/>
          <p:nvPr/>
        </p:nvSpPr>
        <p:spPr>
          <a:xfrm>
            <a:off x="7235744" y="12703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刮管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F90B7C5A-F96C-6E41-7BAE-F3BF1150A2E0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7366910" y="1023012"/>
            <a:ext cx="518685" cy="1108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71EEA89-3A03-4D18-48EF-FBD90B641F6B}"/>
              </a:ext>
            </a:extLst>
          </p:cNvPr>
          <p:cNvSpPr/>
          <p:nvPr/>
        </p:nvSpPr>
        <p:spPr>
          <a:xfrm>
            <a:off x="6664821" y="838346"/>
            <a:ext cx="70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刮傷</a:t>
            </a:r>
          </a:p>
        </p:txBody>
      </p:sp>
      <p:sp>
        <p:nvSpPr>
          <p:cNvPr id="13" name="乘號 12">
            <a:extLst>
              <a:ext uri="{FF2B5EF4-FFF2-40B4-BE49-F238E27FC236}">
                <a16:creationId xmlns:a16="http://schemas.microsoft.com/office/drawing/2014/main" id="{95AE78ED-8844-80C6-3371-6679C6BDD610}"/>
              </a:ext>
            </a:extLst>
          </p:cNvPr>
          <p:cNvSpPr/>
          <p:nvPr/>
        </p:nvSpPr>
        <p:spPr>
          <a:xfrm>
            <a:off x="7394992" y="873845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乘號 13">
            <a:extLst>
              <a:ext uri="{FF2B5EF4-FFF2-40B4-BE49-F238E27FC236}">
                <a16:creationId xmlns:a16="http://schemas.microsoft.com/office/drawing/2014/main" id="{DE0BCA96-2821-B3F3-D787-C304E48D68CD}"/>
              </a:ext>
            </a:extLst>
          </p:cNvPr>
          <p:cNvSpPr/>
          <p:nvPr/>
        </p:nvSpPr>
        <p:spPr>
          <a:xfrm>
            <a:off x="7871015" y="1345123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717A62D-E508-AE3C-AC75-A4D1E0FB446F}"/>
              </a:ext>
            </a:extLst>
          </p:cNvPr>
          <p:cNvSpPr txBox="1"/>
          <p:nvPr/>
        </p:nvSpPr>
        <p:spPr>
          <a:xfrm>
            <a:off x="305635" y="5517232"/>
            <a:ext cx="8154797" cy="785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轉子旋轉時用手摸有震動，卸載轉子後手轉皮帶卡頓。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Nitride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製程反應生成物較多，須於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時拆下清潔，此製程的轉子較容易會出現問題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CC8C3AB9-2969-22F6-6AD8-52E813D55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2420888"/>
            <a:ext cx="5584020" cy="2095509"/>
          </a:xfrm>
          <a:prstGeom prst="rect">
            <a:avLst/>
          </a:prstGeom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8DBA6A1E-8A87-0AA4-864B-6010EF540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8" t="9810" r="27278" b="7509"/>
          <a:stretch>
            <a:fillRect/>
          </a:stretch>
        </p:blipFill>
        <p:spPr bwMode="auto">
          <a:xfrm>
            <a:off x="263165" y="1776445"/>
            <a:ext cx="2896551" cy="3320732"/>
          </a:xfrm>
          <a:prstGeom prst="rect">
            <a:avLst/>
          </a:prstGeom>
          <a:noFill/>
          <a:ln w="9525">
            <a:solidFill>
              <a:srgbClr val="5B524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9DDF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EC8BA"/>
                  </a:outerShdw>
                </a:effectLst>
              </a14:hiddenEffects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D557576F-6B43-76D1-4416-9C6968253F9D}"/>
              </a:ext>
            </a:extLst>
          </p:cNvPr>
          <p:cNvSpPr/>
          <p:nvPr/>
        </p:nvSpPr>
        <p:spPr>
          <a:xfrm>
            <a:off x="1703325" y="4681267"/>
            <a:ext cx="504056" cy="47592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E343398-C711-EA47-A3EA-D02414F045FD}"/>
              </a:ext>
            </a:extLst>
          </p:cNvPr>
          <p:cNvSpPr txBox="1"/>
          <p:nvPr/>
        </p:nvSpPr>
        <p:spPr>
          <a:xfrm>
            <a:off x="1403648" y="5240233"/>
            <a:ext cx="1107996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磁性流體轉子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4543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70E3790-C8B1-42C8-B2E9-732DF5A4DA35}"/>
              </a:ext>
            </a:extLst>
          </p:cNvPr>
          <p:cNvCxnSpPr/>
          <p:nvPr/>
        </p:nvCxnSpPr>
        <p:spPr>
          <a:xfrm>
            <a:off x="7394993" y="661118"/>
            <a:ext cx="1123053" cy="105884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98F677A-1DCA-96F5-6373-FB3C533C5214}"/>
              </a:ext>
            </a:extLst>
          </p:cNvPr>
          <p:cNvSpPr txBox="1"/>
          <p:nvPr/>
        </p:nvSpPr>
        <p:spPr>
          <a:xfrm>
            <a:off x="6962945" y="278233"/>
            <a:ext cx="1123053" cy="369332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傳送相關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91A72FCE-3F6C-E992-E731-435C39D30F24}"/>
              </a:ext>
            </a:extLst>
          </p:cNvPr>
          <p:cNvCxnSpPr/>
          <p:nvPr/>
        </p:nvCxnSpPr>
        <p:spPr>
          <a:xfrm flipV="1">
            <a:off x="8008878" y="934806"/>
            <a:ext cx="123610" cy="2603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01C219-A6BF-7356-227D-792FF537032C}"/>
              </a:ext>
            </a:extLst>
          </p:cNvPr>
          <p:cNvSpPr txBox="1"/>
          <p:nvPr/>
        </p:nvSpPr>
        <p:spPr>
          <a:xfrm>
            <a:off x="7871015" y="616958"/>
            <a:ext cx="64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轉子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A7AA288-9826-F243-ACD6-01D64B0611CF}"/>
              </a:ext>
            </a:extLst>
          </p:cNvPr>
          <p:cNvCxnSpPr/>
          <p:nvPr/>
        </p:nvCxnSpPr>
        <p:spPr>
          <a:xfrm flipH="1" flipV="1">
            <a:off x="7783068" y="1459088"/>
            <a:ext cx="519342" cy="10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A835F91-9FBC-E743-DBF0-B198C212E8FB}"/>
              </a:ext>
            </a:extLst>
          </p:cNvPr>
          <p:cNvSpPr/>
          <p:nvPr/>
        </p:nvSpPr>
        <p:spPr>
          <a:xfrm>
            <a:off x="7235744" y="12703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刮管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F90B7C5A-F96C-6E41-7BAE-F3BF1150A2E0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7366910" y="1023012"/>
            <a:ext cx="518685" cy="1108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71EEA89-3A03-4D18-48EF-FBD90B641F6B}"/>
              </a:ext>
            </a:extLst>
          </p:cNvPr>
          <p:cNvSpPr/>
          <p:nvPr/>
        </p:nvSpPr>
        <p:spPr>
          <a:xfrm>
            <a:off x="6664821" y="838346"/>
            <a:ext cx="70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刮傷</a:t>
            </a:r>
          </a:p>
        </p:txBody>
      </p:sp>
      <p:sp>
        <p:nvSpPr>
          <p:cNvPr id="13" name="乘號 12">
            <a:extLst>
              <a:ext uri="{FF2B5EF4-FFF2-40B4-BE49-F238E27FC236}">
                <a16:creationId xmlns:a16="http://schemas.microsoft.com/office/drawing/2014/main" id="{95AE78ED-8844-80C6-3371-6679C6BDD610}"/>
              </a:ext>
            </a:extLst>
          </p:cNvPr>
          <p:cNvSpPr/>
          <p:nvPr/>
        </p:nvSpPr>
        <p:spPr>
          <a:xfrm>
            <a:off x="7394992" y="873845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乘號 13">
            <a:extLst>
              <a:ext uri="{FF2B5EF4-FFF2-40B4-BE49-F238E27FC236}">
                <a16:creationId xmlns:a16="http://schemas.microsoft.com/office/drawing/2014/main" id="{DE0BCA96-2821-B3F3-D787-C304E48D68CD}"/>
              </a:ext>
            </a:extLst>
          </p:cNvPr>
          <p:cNvSpPr/>
          <p:nvPr/>
        </p:nvSpPr>
        <p:spPr>
          <a:xfrm>
            <a:off x="7871015" y="1345123"/>
            <a:ext cx="359783" cy="3693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717A62D-E508-AE3C-AC75-A4D1E0FB446F}"/>
              </a:ext>
            </a:extLst>
          </p:cNvPr>
          <p:cNvSpPr txBox="1"/>
          <p:nvPr/>
        </p:nvSpPr>
        <p:spPr>
          <a:xfrm>
            <a:off x="294796" y="5523592"/>
            <a:ext cx="7336624" cy="785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對比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map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pitch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位置符合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轉子因轉動不順而抖動，讓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pitch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接觸摩擦產生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600" dirty="0">
                <a:solidFill>
                  <a:srgbClr val="FE0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為真因</a:t>
            </a:r>
            <a:endParaRPr lang="en-US" altLang="zh-TW" sz="1600" dirty="0">
              <a:solidFill>
                <a:srgbClr val="FE0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AFBFEDE0-533C-6245-E80D-24EA5400AA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3" t="3936" r="14064" b="22811"/>
          <a:stretch/>
        </p:blipFill>
        <p:spPr bwMode="auto">
          <a:xfrm>
            <a:off x="2228321" y="1745156"/>
            <a:ext cx="4668948" cy="384408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44CFF23D-070C-AB8A-23C8-1DA111A979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031462" y="2122831"/>
            <a:ext cx="3524394" cy="3451162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F1C1C063-40A9-4709-9CD2-BBE461855564}"/>
              </a:ext>
            </a:extLst>
          </p:cNvPr>
          <p:cNvSpPr/>
          <p:nvPr/>
        </p:nvSpPr>
        <p:spPr>
          <a:xfrm>
            <a:off x="7857041" y="610390"/>
            <a:ext cx="689088" cy="359899"/>
          </a:xfrm>
          <a:prstGeom prst="rect">
            <a:avLst/>
          </a:prstGeom>
          <a:noFill/>
          <a:ln>
            <a:solidFill>
              <a:srgbClr val="FE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01141F7-1335-F494-1212-C88A241C7227}"/>
              </a:ext>
            </a:extLst>
          </p:cNvPr>
          <p:cNvSpPr txBox="1"/>
          <p:nvPr/>
        </p:nvSpPr>
        <p:spPr>
          <a:xfrm>
            <a:off x="4312239" y="1772816"/>
            <a:ext cx="938527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Boat pitch</a:t>
            </a:r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AD02B83-5B0B-3DBF-CE1B-027DFDA2CC06}"/>
              </a:ext>
            </a:extLst>
          </p:cNvPr>
          <p:cNvCxnSpPr>
            <a:cxnSpLocks/>
            <a:stCxn id="29" idx="0"/>
          </p:cNvCxnSpPr>
          <p:nvPr/>
        </p:nvCxnSpPr>
        <p:spPr>
          <a:xfrm flipH="1">
            <a:off x="3347864" y="2122831"/>
            <a:ext cx="1445795" cy="1460946"/>
          </a:xfrm>
          <a:prstGeom prst="straightConnector1">
            <a:avLst/>
          </a:prstGeom>
          <a:ln w="19050">
            <a:solidFill>
              <a:srgbClr val="FE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7E0E6C9E-4BB7-3C40-45B4-B960CCCA6D04}"/>
              </a:ext>
            </a:extLst>
          </p:cNvPr>
          <p:cNvCxnSpPr>
            <a:cxnSpLocks/>
            <a:stCxn id="29" idx="0"/>
          </p:cNvCxnSpPr>
          <p:nvPr/>
        </p:nvCxnSpPr>
        <p:spPr>
          <a:xfrm flipH="1">
            <a:off x="3805315" y="2122831"/>
            <a:ext cx="988344" cy="485827"/>
          </a:xfrm>
          <a:prstGeom prst="straightConnector1">
            <a:avLst/>
          </a:prstGeom>
          <a:ln w="19050">
            <a:solidFill>
              <a:srgbClr val="FE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643A02C1-3010-A149-55C4-F15A0FF5269B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4793659" y="2122831"/>
            <a:ext cx="1445795" cy="1460946"/>
          </a:xfrm>
          <a:prstGeom prst="straightConnector1">
            <a:avLst/>
          </a:prstGeom>
          <a:ln w="19050">
            <a:solidFill>
              <a:srgbClr val="FE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FFB4130A-6498-B91F-C918-D84FABAA0B31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4793659" y="2122831"/>
            <a:ext cx="988344" cy="532857"/>
          </a:xfrm>
          <a:prstGeom prst="straightConnector1">
            <a:avLst/>
          </a:prstGeom>
          <a:ln w="19050">
            <a:solidFill>
              <a:srgbClr val="FE0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684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516EA4A-9540-14D6-26FC-CC304767F07A}"/>
              </a:ext>
            </a:extLst>
          </p:cNvPr>
          <p:cNvSpPr txBox="1"/>
          <p:nvPr/>
        </p:nvSpPr>
        <p:spPr>
          <a:xfrm>
            <a:off x="1043608" y="1700808"/>
            <a:ext cx="8038623" cy="263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S730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於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2025/03/15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highlight LP-N1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2025/03/12~2025/03/15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發現多批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 o’clock PTC defect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出現多批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defect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因為機台有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 run C4 PTC = 1011 OOS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機台有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因為轉子異常抖動，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摩擦產生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轉子發生異常抖動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因為此製程反應生成物較多，造成轉子卡頓</a:t>
            </a:r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j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36857" y="5157192"/>
            <a:ext cx="24367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b) Conclusion</a:t>
            </a:r>
            <a:r>
              <a:rPr lang="zh-TW" altLang="en-US" sz="1600" b="1" dirty="0">
                <a:solidFill>
                  <a:srgbClr val="0000FF"/>
                </a:solidFill>
              </a:rPr>
              <a:t>：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387CEE9-4554-2CDF-2547-C160B54D8824}"/>
              </a:ext>
            </a:extLst>
          </p:cNvPr>
          <p:cNvSpPr txBox="1"/>
          <p:nvPr/>
        </p:nvSpPr>
        <p:spPr>
          <a:xfrm>
            <a:off x="1161579" y="551723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更換轉子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81257C8-62C0-91FA-CC44-31BD7073BF19}"/>
              </a:ext>
            </a:extLst>
          </p:cNvPr>
          <p:cNvSpPr/>
          <p:nvPr/>
        </p:nvSpPr>
        <p:spPr>
          <a:xfrm>
            <a:off x="323528" y="1052736"/>
            <a:ext cx="74888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d) 5-Why analysis</a:t>
            </a:r>
          </a:p>
        </p:txBody>
      </p:sp>
    </p:spTree>
    <p:extLst>
      <p:ext uri="{BB962C8B-B14F-4D97-AF65-F5344CB8AC3E}">
        <p14:creationId xmlns:p14="http://schemas.microsoft.com/office/powerpoint/2010/main" val="33245139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j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4527" y="1052736"/>
            <a:ext cx="85059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4.2 </a:t>
            </a:r>
            <a:r>
              <a:rPr lang="en-US" altLang="zh-TW" sz="1600" b="1" dirty="0">
                <a:solidFill>
                  <a:srgbClr val="FF0000"/>
                </a:solidFill>
              </a:rPr>
              <a:t>Non-detection / escape root cause </a:t>
            </a:r>
            <a:r>
              <a:rPr lang="en-US" altLang="zh-TW" sz="1600" b="1" i="1" dirty="0">
                <a:solidFill>
                  <a:srgbClr val="0000FF"/>
                </a:solidFill>
              </a:rPr>
              <a:t>(Provide reason to why the current system failed to detect)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4149080"/>
            <a:ext cx="24367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b) Conclusion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5516" y="1307595"/>
            <a:ext cx="14841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 a) 5-why: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04570C4-29BD-1DF4-92E4-F193F7A4A780}"/>
              </a:ext>
            </a:extLst>
          </p:cNvPr>
          <p:cNvSpPr txBox="1"/>
          <p:nvPr/>
        </p:nvSpPr>
        <p:spPr>
          <a:xfrm>
            <a:off x="1043608" y="1793639"/>
            <a:ext cx="7632848" cy="78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轉子卡頓無法預防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0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因為轉子使用至出現異常才會做更換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274ACC5-BC51-3629-DF02-11713672F650}"/>
              </a:ext>
            </a:extLst>
          </p:cNvPr>
          <p:cNvSpPr txBox="1"/>
          <p:nvPr/>
        </p:nvSpPr>
        <p:spPr>
          <a:xfrm>
            <a:off x="1403648" y="4599654"/>
            <a:ext cx="17043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定期更換轉子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1255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96525" y="344850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3495" y="1124744"/>
            <a:ext cx="83709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5.1 What was the chosen corrective action to correct the root cause? (Add photo or diagram where applicable.)</a:t>
            </a:r>
            <a:endParaRPr lang="en-US" altLang="zh-TW" sz="14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7862133-9392-5655-2993-51B38E682F0A}"/>
              </a:ext>
            </a:extLst>
          </p:cNvPr>
          <p:cNvSpPr txBox="1"/>
          <p:nvPr/>
        </p:nvSpPr>
        <p:spPr>
          <a:xfrm>
            <a:off x="397490" y="1781527"/>
            <a:ext cx="7848872" cy="78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LP-N1 Replace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轉子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訂定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機組轉子更換週期</a:t>
            </a:r>
          </a:p>
        </p:txBody>
      </p:sp>
    </p:spTree>
    <p:extLst>
      <p:ext uri="{BB962C8B-B14F-4D97-AF65-F5344CB8AC3E}">
        <p14:creationId xmlns:p14="http://schemas.microsoft.com/office/powerpoint/2010/main" val="2590087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6525" y="344850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8650" y="1074222"/>
            <a:ext cx="3512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5.2 Verification of actions effectiveness</a:t>
            </a:r>
            <a:endParaRPr lang="zh-TW" altLang="en-US" sz="16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DDB5F7-B824-9CFD-08B8-234D6320480E}"/>
              </a:ext>
            </a:extLst>
          </p:cNvPr>
          <p:cNvSpPr/>
          <p:nvPr/>
        </p:nvSpPr>
        <p:spPr>
          <a:xfrm>
            <a:off x="390212" y="1628800"/>
            <a:ext cx="79262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TW" sz="1600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LP-N1</a:t>
            </a:r>
            <a:r>
              <a:rPr lang="zh-TW" altLang="en-US" sz="1600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 轉子更換後</a:t>
            </a:r>
            <a:br>
              <a:rPr lang="en-US" sz="1600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1st  test run N01 ADD 6M/W, TOX =1493/1500/1494, PTC = 0/0/0/0/0/16</a:t>
            </a:r>
          </a:p>
          <a:p>
            <a:pPr algn="l"/>
            <a:r>
              <a:rPr lang="en-US" sz="1600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2nd test run N01 ADD 3M/W, TOX = 1487/1497/1503, PTC = 0/0/4</a:t>
            </a:r>
          </a:p>
          <a:p>
            <a:pPr algn="l"/>
            <a:r>
              <a:rPr lang="en-US" sz="1600" dirty="0">
                <a:solidFill>
                  <a:srgbClr val="323130"/>
                </a:solidFill>
                <a:latin typeface="Segoe UI" panose="020B0502040204020203" pitchFamily="34" charset="0"/>
              </a:rPr>
              <a:t>Data in control</a:t>
            </a:r>
            <a:endParaRPr lang="en-US" sz="1600" b="0" i="0" dirty="0">
              <a:solidFill>
                <a:srgbClr val="32313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474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30547" y="348024"/>
            <a:ext cx="834789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6.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實施認永久改善對策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Corrective Actions Implementation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6545" y="1223755"/>
            <a:ext cx="8055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6.1 For non-conformance root cause (</a:t>
            </a:r>
            <a:r>
              <a:rPr lang="en-US" altLang="zh-TW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dirty="0"/>
              <a:t>):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579707"/>
              </p:ext>
            </p:extLst>
          </p:nvPr>
        </p:nvGraphicFramePr>
        <p:xfrm>
          <a:off x="701570" y="1593087"/>
          <a:ext cx="8190910" cy="103752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5065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3227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128955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LP-N1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更換轉子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林韋志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2025/3/16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1st   test run 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PTC = 0/0/0/0/0/16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2nd test run PTC = 0/0/4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86535" y="3158970"/>
            <a:ext cx="85059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6.2 For </a:t>
            </a:r>
            <a:r>
              <a:rPr lang="en-US" altLang="zh-TW" dirty="0">
                <a:solidFill>
                  <a:srgbClr val="FF0000"/>
                </a:solidFill>
              </a:rPr>
              <a:t>non-detection / escape root cause</a:t>
            </a:r>
            <a:endParaRPr lang="en-US" altLang="zh-TW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61872"/>
              </p:ext>
            </p:extLst>
          </p:nvPr>
        </p:nvGraphicFramePr>
        <p:xfrm>
          <a:off x="683624" y="3533464"/>
          <a:ext cx="8190910" cy="167760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2002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385321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3227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146901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06390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LP-N1</a:t>
                      </a:r>
                    </a:p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LP-N3</a:t>
                      </a:r>
                    </a:p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LP-N4</a:t>
                      </a:r>
                    </a:p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LP-N5</a:t>
                      </a:r>
                    </a:p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LP-N7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訂定轉子定期更換</a:t>
                      </a:r>
                      <a:endParaRPr lang="en-US" altLang="zh-TW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林韋志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2025/03/18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設定</a:t>
                      </a:r>
                      <a:r>
                        <a:rPr lang="en-US" altLang="zh-TW" sz="1400" dirty="0"/>
                        <a:t>EMS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parts PM </a:t>
                      </a:r>
                      <a:r>
                        <a:rPr lang="zh-TW" altLang="en-US" sz="1400" dirty="0"/>
                        <a:t>提醒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537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47250" y="408574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966568"/>
            <a:ext cx="23776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7.1 Systemic Actions:</a:t>
            </a:r>
            <a:endParaRPr lang="zh-TW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610906"/>
              </p:ext>
            </p:extLst>
          </p:nvPr>
        </p:nvGraphicFramePr>
        <p:xfrm>
          <a:off x="107505" y="1487532"/>
          <a:ext cx="8928989" cy="295877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6623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998261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43823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089026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2431645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559362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Factor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Actions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Who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When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Remarks / Evidence</a:t>
                      </a:r>
                      <a:endParaRPr lang="zh-TW" sz="14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(Document/Spec/Chart #)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Practices/ Training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更換轉子</a:t>
                      </a:r>
                      <a:endParaRPr lang="en-US" altLang="zh-TW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S220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2025/03/18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i="0" dirty="0">
                          <a:solidFill>
                            <a:srgbClr val="323130"/>
                          </a:solidFill>
                          <a:effectLst/>
                          <a:latin typeface="Segoe UI" panose="020B0502040204020203" pitchFamily="34" charset="0"/>
                        </a:rPr>
                        <a:t>1st test run </a:t>
                      </a:r>
                      <a:r>
                        <a:rPr lang="en-US" sz="1200" b="0" i="0" dirty="0">
                          <a:solidFill>
                            <a:srgbClr val="323130"/>
                          </a:solidFill>
                          <a:effectLst/>
                          <a:latin typeface="Segoe UI" panose="020B0502040204020203" pitchFamily="34" charset="0"/>
                        </a:rPr>
                        <a:t>PTC=0/0/0/0/0/16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2nd test run PTC=0/0/4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Work Instruction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機組定期更換轉子</a:t>
                      </a:r>
                      <a:endParaRPr lang="en-US" altLang="zh-TW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S220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每</a:t>
                      </a:r>
                      <a:r>
                        <a:rPr lang="en-US" altLang="zh-TW" sz="1400" dirty="0"/>
                        <a:t>6</a:t>
                      </a:r>
                      <a:r>
                        <a:rPr lang="zh-TW" altLang="en-US" sz="1400" dirty="0"/>
                        <a:t>個月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設定</a:t>
                      </a:r>
                      <a:r>
                        <a:rPr lang="en-US" altLang="zh-TW" sz="1400" dirty="0"/>
                        <a:t>EMS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parts PM </a:t>
                      </a:r>
                      <a:r>
                        <a:rPr lang="zh-TW" altLang="en-US" sz="1400" dirty="0"/>
                        <a:t>提醒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89561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Specification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altLang="zh-TW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66251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Control Plan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42735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r>
                        <a:rPr lang="en-US" sz="1400" dirty="0">
                          <a:effectLst/>
                        </a:rPr>
                        <a:t> FMEA (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must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2319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Error Proofing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661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47250" y="404664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908720"/>
            <a:ext cx="7285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7.2 Corrective Actions Fan-out: (</a:t>
            </a:r>
            <a:r>
              <a:rPr lang="zh-TW" altLang="en-US" dirty="0"/>
              <a:t>水平展開</a:t>
            </a:r>
            <a:r>
              <a:rPr lang="en-US" altLang="zh-TW" dirty="0"/>
              <a:t>):</a:t>
            </a:r>
            <a:endParaRPr lang="zh-TW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081279"/>
              </p:ext>
            </p:extLst>
          </p:nvPr>
        </p:nvGraphicFramePr>
        <p:xfrm>
          <a:off x="431540" y="1484784"/>
          <a:ext cx="8280919" cy="1626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4020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3668408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40736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364943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</a:tblGrid>
              <a:tr h="44075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Machine/ Process/ Product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Actions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</a:rPr>
                        <a:t>Responsible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Due date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LP-N1</a:t>
                      </a:r>
                    </a:p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LP-N3</a:t>
                      </a:r>
                    </a:p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LP-N4</a:t>
                      </a:r>
                    </a:p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LP-N5</a:t>
                      </a:r>
                    </a:p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LP-N7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轉子定期每</a:t>
                      </a:r>
                      <a:r>
                        <a:rPr lang="en-US" altLang="zh-TW" sz="1400" dirty="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1400" dirty="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個月更換</a:t>
                      </a:r>
                      <a:endParaRPr lang="en-US" altLang="zh-TW" sz="1400" dirty="0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S220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2025/03/18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206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47250" y="404664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908720"/>
            <a:ext cx="7285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7.2 Corrective Actions Fan-out: (</a:t>
            </a:r>
            <a:r>
              <a:rPr lang="zh-TW" altLang="en-US" dirty="0"/>
              <a:t>水平展開</a:t>
            </a:r>
            <a:r>
              <a:rPr lang="en-US" altLang="zh-TW" dirty="0"/>
              <a:t>):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A218B97-D47B-2498-82A0-D700E58DF095}"/>
              </a:ext>
            </a:extLst>
          </p:cNvPr>
          <p:cNvSpPr txBox="1"/>
          <p:nvPr/>
        </p:nvSpPr>
        <p:spPr>
          <a:xfrm>
            <a:off x="627546" y="1290246"/>
            <a:ext cx="7888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EMS parts PM 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提醒設定每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個月定期更換轉子</a:t>
            </a:r>
            <a:endParaRPr lang="zh-TW" altLang="en-US" sz="1600" dirty="0"/>
          </a:p>
        </p:txBody>
      </p:sp>
      <p:pic>
        <p:nvPicPr>
          <p:cNvPr id="1027" name="圖片 1">
            <a:extLst>
              <a:ext uri="{FF2B5EF4-FFF2-40B4-BE49-F238E27FC236}">
                <a16:creationId xmlns:a16="http://schemas.microsoft.com/office/drawing/2014/main" id="{EF502E88-43FF-8F8D-B3DC-892DC3371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32" y="1799619"/>
            <a:ext cx="7888908" cy="227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8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4F794FAD-73A2-2AB6-6447-B181F0AD8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4149080"/>
            <a:ext cx="5904656" cy="233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655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07988" y="439837"/>
            <a:ext cx="7607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8. Congratulate the Team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11188" y="998538"/>
            <a:ext cx="760730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  <a:ea typeface="新細明體" pitchFamily="18" charset="-120"/>
              </a:rPr>
              <a:t>Thanks for every member helped in this case.</a:t>
            </a:r>
            <a:endParaRPr lang="zh-TW" altLang="en-US" sz="2000" dirty="0">
              <a:solidFill>
                <a:srgbClr val="0000FF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7151" y="1853825"/>
            <a:ext cx="29899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0">
              <a:lnSpc>
                <a:spcPct val="150000"/>
              </a:lnSpc>
              <a:spcAft>
                <a:spcPts val="0"/>
              </a:spcAft>
            </a:pPr>
            <a:r>
              <a:rPr lang="en-US" altLang="zh-TW" b="1" dirty="0">
                <a:latin typeface="Calibri" panose="020F0502020204030204" pitchFamily="34" charset="0"/>
                <a:ea typeface="SimSun" panose="02010600030101010101" pitchFamily="2" charset="-122"/>
              </a:rPr>
              <a:t>Reviewed and Approved by:</a:t>
            </a:r>
            <a:endParaRPr lang="zh-TW" altLang="zh-TW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984526"/>
              </p:ext>
            </p:extLst>
          </p:nvPr>
        </p:nvGraphicFramePr>
        <p:xfrm>
          <a:off x="591955" y="2547465"/>
          <a:ext cx="7940487" cy="110515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46829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646829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2646829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Name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2. Position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3. Date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邱尊護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SECTION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2025/04/20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S200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李明驥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DEPARTMENT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2025/04/20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01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7B72A579B9B74C8B60CD9DA12CE965" ma:contentTypeVersion="0" ma:contentTypeDescription="Create a new document." ma:contentTypeScope="" ma:versionID="7bfc160474e469b017f2f82ca208a82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439154-81CD-4E1E-A26E-08A94ECF54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84B34AF-550D-4C92-BB3A-AE8B9AB4904C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A1F41721-8BA7-426A-8F1E-0C7B8587C6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9384</TotalTime>
  <Words>4581</Words>
  <Application>Microsoft Office PowerPoint</Application>
  <PresentationFormat>如螢幕大小 (4:3)</PresentationFormat>
  <Paragraphs>1517</Paragraphs>
  <Slides>44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55" baseType="lpstr">
      <vt:lpstr>微軟正黑體</vt:lpstr>
      <vt:lpstr>標楷體</vt:lpstr>
      <vt:lpstr>Aptos Narrow</vt:lpstr>
      <vt:lpstr>Arial</vt:lpstr>
      <vt:lpstr>Arial Black</vt:lpstr>
      <vt:lpstr>Calibri</vt:lpstr>
      <vt:lpstr>Cambria</vt:lpstr>
      <vt:lpstr>Segoe UI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E-runcards</vt:lpstr>
      <vt:lpstr>PowerPoint 簡報</vt:lpstr>
      <vt:lpstr>PowerPoint 簡報</vt:lpstr>
      <vt:lpstr>PowerPoint 簡報</vt:lpstr>
      <vt:lpstr>AOI - M030TI-BA5D26-25092960-4518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LP-N1 entity records</vt:lpstr>
      <vt:lpstr>Particle trends of LP-N1</vt:lpstr>
      <vt:lpstr>PowerPoint 簡報</vt:lpstr>
      <vt:lpstr>PowerPoint 簡報</vt:lpstr>
      <vt:lpstr>S.S. map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JYLin</cp:lastModifiedBy>
  <cp:revision>204</cp:revision>
  <cp:lastPrinted>2020-06-01T03:58:51Z</cp:lastPrinted>
  <dcterms:created xsi:type="dcterms:W3CDTF">2012-03-21T02:57:47Z</dcterms:created>
  <dcterms:modified xsi:type="dcterms:W3CDTF">2025-04-19T18:42:44Z</dcterms:modified>
</cp:coreProperties>
</file>