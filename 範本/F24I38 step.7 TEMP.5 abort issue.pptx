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256" r:id="rId5"/>
    <p:sldId id="447" r:id="rId6"/>
    <p:sldId id="262" r:id="rId7"/>
    <p:sldId id="299" r:id="rId8"/>
    <p:sldId id="488" r:id="rId9"/>
    <p:sldId id="489" r:id="rId10"/>
    <p:sldId id="264" r:id="rId11"/>
    <p:sldId id="265" r:id="rId12"/>
    <p:sldId id="314" r:id="rId13"/>
    <p:sldId id="436" r:id="rId14"/>
    <p:sldId id="325" r:id="rId15"/>
    <p:sldId id="473" r:id="rId16"/>
    <p:sldId id="474" r:id="rId17"/>
    <p:sldId id="444" r:id="rId18"/>
    <p:sldId id="443" r:id="rId19"/>
    <p:sldId id="497" r:id="rId20"/>
    <p:sldId id="490" r:id="rId21"/>
    <p:sldId id="493" r:id="rId22"/>
    <p:sldId id="487" r:id="rId23"/>
    <p:sldId id="494" r:id="rId24"/>
    <p:sldId id="495" r:id="rId25"/>
    <p:sldId id="498" r:id="rId26"/>
    <p:sldId id="482" r:id="rId27"/>
    <p:sldId id="477" r:id="rId28"/>
    <p:sldId id="483" r:id="rId29"/>
    <p:sldId id="484" r:id="rId30"/>
    <p:sldId id="485" r:id="rId31"/>
  </p:sldIdLst>
  <p:sldSz cx="9144000" cy="6858000" type="screen4x3"/>
  <p:notesSz cx="7010400" cy="92964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0600"/>
    <a:srgbClr val="0000FF"/>
    <a:srgbClr val="FC2110"/>
    <a:srgbClr val="E75798"/>
    <a:srgbClr val="D00600"/>
    <a:srgbClr val="E61C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979" autoAdjust="0"/>
  </p:normalViewPr>
  <p:slideViewPr>
    <p:cSldViewPr>
      <p:cViewPr>
        <p:scale>
          <a:sx n="100" d="100"/>
          <a:sy n="100" d="100"/>
        </p:scale>
        <p:origin x="1950" y="3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71BFA950-4D9B-49C1-88BC-71CD835B4ACB}" type="datetimeFigureOut">
              <a:rPr lang="zh-TW" altLang="en-US"/>
              <a:pPr>
                <a:defRPr/>
              </a:pPr>
              <a:t>2026/4/21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25F7101-7CBB-40B9-BA2A-FB97EE2A556B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2869909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6DC33ECA-595C-4C90-93AC-B3C8AC50E9E0}" type="datetimeFigureOut">
              <a:rPr lang="zh-TW" altLang="en-US"/>
              <a:pPr>
                <a:defRPr/>
              </a:pPr>
              <a:t>2026/4/16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  <a:endParaRPr lang="zh-TW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4BCC7E6-2CF8-46C3-9098-1DABD60058C4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852570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13316" name="Date Placeholder 3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1306FE17-8C9C-45FE-A0CC-E1BE1F6A9DB4}" type="datetime1">
              <a:rPr lang="zh-TW" altLang="en-US" smtClean="0"/>
              <a:pPr eaLnBrk="1" hangingPunct="1">
                <a:spcBef>
                  <a:spcPct val="0"/>
                </a:spcBef>
              </a:pPr>
              <a:t>2026/4/16</a:t>
            </a:fld>
            <a:endParaRPr lang="zh-TW" altLang="en-US"/>
          </a:p>
        </p:txBody>
      </p:sp>
      <p:sp>
        <p:nvSpPr>
          <p:cNvPr id="13317" name="Slide Number Placeholder 4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F067A20B-1C54-437C-B8C8-900806B3B756}" type="slidenum">
              <a:rPr lang="zh-TW" altLang="en-US"/>
              <a:pPr eaLnBrk="1" hangingPunct="1">
                <a:spcBef>
                  <a:spcPct val="0"/>
                </a:spcBef>
              </a:pPr>
              <a:t>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1988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57066" indent="-291179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64717" indent="-232943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30604" indent="-232943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96491" indent="-232943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/>
            <a:fld id="{550F2036-0CFA-4F19-9585-F765E4EEDFDB}" type="slidenum">
              <a:rPr kumimoji="0" lang="zh-TW" altLang="en-US" smtClean="0">
                <a:ea typeface="標楷體" pitchFamily="65" charset="-120"/>
              </a:rPr>
              <a:pPr eaLnBrk="1" hangingPunct="1"/>
              <a:t>2</a:t>
            </a:fld>
            <a:endParaRPr kumimoji="0" lang="zh-TW" altLang="en-US"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868081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F05C2AD7-759F-4D72-9DB1-C3E1D37C83FB}" type="datetime1">
              <a:rPr lang="zh-TW" altLang="en-US" smtClean="0"/>
              <a:t>2026/4/17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BCC7E6-2CF8-46C3-9098-1DABD60058C4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4127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4A19CC0-932C-4927-9531-F23EF827A30D}" type="datetime1">
              <a:rPr lang="zh-TW" altLang="en-US" smtClean="0"/>
              <a:t>2026/4/17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BCC7E6-2CF8-46C3-9098-1DABD60058C4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6068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7D733-5930-0E6D-99D4-7FE377228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D9BFA5E-9CCD-6810-5D84-54E252D40A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2972F22-56E3-4DB1-43E9-01B81CB2F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9F5AE8D-372C-EB27-A894-679E5A1DF1A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FDFC9A7F-38AC-41CB-A184-652D5DDE857B}" type="datetime1">
              <a:rPr lang="zh-TW" altLang="en-US" smtClean="0"/>
              <a:t>2026/4/17</a:t>
            </a:fld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8B8B386-B701-5403-44D3-DE7DFCA317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BCC7E6-2CF8-46C3-9098-1DABD60058C4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0493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22225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12777"/>
            <a:ext cx="7772400" cy="1440160"/>
          </a:xfrm>
        </p:spPr>
        <p:txBody>
          <a:bodyPr>
            <a:normAutofit/>
          </a:bodyPr>
          <a:lstStyle>
            <a:lvl1pPr>
              <a:defRPr sz="4000">
                <a:solidFill>
                  <a:srgbClr val="E61C0E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01008"/>
            <a:ext cx="6400800" cy="576064"/>
          </a:xfrm>
        </p:spPr>
        <p:txBody>
          <a:bodyPr>
            <a:normAutofit/>
          </a:bodyPr>
          <a:lstStyle>
            <a:lvl1pPr marL="0" indent="0" algn="ctr">
              <a:buNone/>
              <a:defRPr sz="30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dirty="0"/>
              <a:t>Click to edit Master subtitle style</a:t>
            </a:r>
            <a:endParaRPr lang="zh-TW" alt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7164388" y="6356350"/>
            <a:ext cx="1916112" cy="365125"/>
          </a:xfrm>
        </p:spPr>
        <p:txBody>
          <a:bodyPr/>
          <a:lstStyle>
            <a:lvl1pPr algn="ctr">
              <a:defRPr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>
              <a:defRPr/>
            </a:pPr>
            <a:fld id="{CD423D62-69AB-4776-9D27-A481614011A3}" type="datetime1">
              <a:rPr lang="zh-TW" altLang="en-US"/>
              <a:pPr>
                <a:defRPr/>
              </a:pPr>
              <a:t>2026/4/16</a:t>
            </a:fld>
            <a:endParaRPr lang="zh-TW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164388" y="5949950"/>
            <a:ext cx="1887537" cy="3651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800" b="1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TW" altLang="en-US"/>
              <a:t>報告人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D0D0D"/>
                </a:solidFill>
              </a:defRPr>
            </a:lvl1pPr>
          </a:lstStyle>
          <a:p>
            <a:fld id="{44A231B3-5E4C-4D1B-95D4-C7E3DBA05F13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3671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742950" indent="-285750">
              <a:spcBef>
                <a:spcPts val="1000"/>
              </a:spcBef>
              <a:buFont typeface="Arial" pitchFamily="34" charset="0"/>
              <a:buChar char="•"/>
              <a:defRPr/>
            </a:lvl2pPr>
            <a:lvl3pPr>
              <a:spcBef>
                <a:spcPts val="1000"/>
              </a:spcBef>
              <a:defRPr/>
            </a:lvl3pPr>
            <a:lvl4pPr marL="1714500" indent="-342900">
              <a:spcBef>
                <a:spcPts val="1000"/>
              </a:spcBef>
              <a:buFont typeface="Calibri" pitchFamily="34" charset="0"/>
              <a:buChar char="»"/>
              <a:defRPr/>
            </a:lvl4pPr>
            <a:lvl5pPr marL="2057400" indent="-228600">
              <a:spcBef>
                <a:spcPts val="1000"/>
              </a:spcBef>
              <a:buFont typeface="Arial" pitchFamily="34" charset="0"/>
              <a:buChar char="»"/>
              <a:defRPr/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680D2-7FDF-4135-982B-42BBCB547B39}" type="datetime1">
              <a:rPr lang="zh-TW" altLang="en-US"/>
              <a:pPr>
                <a:defRPr/>
              </a:pPr>
              <a:t>2026/4/16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10B2432-A20E-4E26-94E6-104434F1F062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1120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AD114F-B2F7-49D6-84C2-BEBF7C5739ED}" type="datetime1">
              <a:rPr lang="zh-TW" altLang="en-US"/>
              <a:pPr>
                <a:defRPr/>
              </a:pPr>
              <a:t>2026/4/16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D8C9091-334D-4D2D-81D2-8FCC512423D2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1262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E12379-5E08-4DCD-8D58-414798F05313}" type="datetime1">
              <a:rPr lang="zh-TW" altLang="en-US"/>
              <a:pPr>
                <a:defRPr/>
              </a:pPr>
              <a:t>2026/4/16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ECFAE55-6585-4179-99E2-ACF000E4A327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9821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0EBB0F-14A2-4190-86A3-9636FD7A888E}" type="datetime1">
              <a:rPr lang="zh-TW" altLang="en-US"/>
              <a:pPr>
                <a:defRPr/>
              </a:pPr>
              <a:t>2026/4/16</a:t>
            </a:fld>
            <a:endParaRPr lang="zh-TW" alt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A4EB1E-05BF-4B7D-BD16-48CA8D78EE43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2946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44DBA1-126E-41A1-A531-A26B3F9257A6}" type="datetime1">
              <a:rPr lang="zh-TW" altLang="en-US"/>
              <a:pPr>
                <a:defRPr/>
              </a:pPr>
              <a:t>2026/4/16</a:t>
            </a:fld>
            <a:endParaRPr lang="zh-TW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A10F7A5-06E4-4075-B789-BD63EF0624B7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244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334A2-72CE-4E4F-B739-E3603839837D}" type="datetime1">
              <a:rPr lang="zh-TW" altLang="en-US"/>
              <a:pPr>
                <a:defRPr/>
              </a:pPr>
              <a:t>2026/4/16</a:t>
            </a:fld>
            <a:endParaRPr lang="zh-TW" altLang="en-US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2A3647F-B5CB-4C0D-A009-B847CBF56DA1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1095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0EEA13-B897-446A-9E05-35D1B64E177F}" type="datetime1">
              <a:rPr lang="zh-TW" altLang="en-US"/>
              <a:pPr>
                <a:defRPr/>
              </a:pPr>
              <a:t>2026/4/16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99009B8-C727-446A-BB14-3FF14188E03E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744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996E2F-0C21-4EB4-8701-E162043E43C4}" type="datetime1">
              <a:rPr lang="zh-TW" altLang="en-US"/>
              <a:pPr>
                <a:defRPr/>
              </a:pPr>
              <a:t>2026/4/16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B18E4B5-6C1A-476F-A70A-20E87078FF2A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1150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9DDC33-D226-41A8-9FBF-FDBA94F444A2}" type="datetime1">
              <a:rPr lang="zh-TW" altLang="en-US"/>
              <a:pPr>
                <a:defRPr/>
              </a:pPr>
              <a:t>2026/4/16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38670BE-EA1A-47B4-A2A3-6C3BD5E6F1C6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3972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B1025-4FFF-40E2-A260-42D6146E33EA}" type="datetime1">
              <a:rPr lang="zh-TW" altLang="en-US"/>
              <a:pPr>
                <a:defRPr/>
              </a:pPr>
              <a:t>2026/4/16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B3ED241-944F-41C1-99C2-C0CEA3245B44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7673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6A5CD9D-9D6D-4889-90A9-F8A0134ABA04}" type="datetime1">
              <a:rPr lang="zh-TW" altLang="en-US"/>
              <a:pPr>
                <a:defRPr/>
              </a:pPr>
              <a:t>2026/4/16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5375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200">
                <a:solidFill>
                  <a:srgbClr val="7F7F7F"/>
                </a:solidFill>
              </a:defRPr>
            </a:lvl1pPr>
          </a:lstStyle>
          <a:p>
            <a:fld id="{D419ED81-ED36-436D-8B37-3EE69C921561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D006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70204" y="1080269"/>
            <a:ext cx="8794335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rgbClr val="E61C0E"/>
                </a:solidFill>
                <a:latin typeface="+mn-lt"/>
                <a:ea typeface="+mn-ea"/>
                <a:cs typeface="Arial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D00600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>
              <a:defRPr/>
            </a:pPr>
            <a:r>
              <a:rPr lang="en-US" altLang="zh-TW" sz="3200" dirty="0">
                <a:solidFill>
                  <a:srgbClr val="000000"/>
                </a:solidFill>
                <a:latin typeface="+mj-lt"/>
              </a:rPr>
              <a:t>20260125 F24I38 step.7 TEMP.5</a:t>
            </a:r>
            <a:r>
              <a:rPr lang="zh-TW" altLang="en-US" sz="32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zh-TW" sz="3200" dirty="0">
                <a:solidFill>
                  <a:srgbClr val="000000"/>
                </a:solidFill>
                <a:latin typeface="+mj-lt"/>
              </a:rPr>
              <a:t>abort issue</a:t>
            </a:r>
            <a:endParaRPr kumimoji="1" lang="zh-TW" altLang="zh-TW" sz="3200" dirty="0">
              <a:solidFill>
                <a:srgbClr val="000000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Rectangle 4"/>
          <p:cNvSpPr>
            <a:spLocks noChangeArrowheads="1"/>
          </p:cNvSpPr>
          <p:nvPr/>
        </p:nvSpPr>
        <p:spPr bwMode="auto">
          <a:xfrm>
            <a:off x="411163" y="291941"/>
            <a:ext cx="69691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1. 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選定團隊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Form the Team</a:t>
            </a:r>
            <a:endParaRPr lang="zh-TW" altLang="en-US" dirty="0">
              <a:solidFill>
                <a:srgbClr val="4D4D4D"/>
              </a:solidFill>
              <a:latin typeface="+mn-lt"/>
              <a:ea typeface="新細明體" pitchFamily="18" charset="-120"/>
            </a:endParaRPr>
          </a:p>
        </p:txBody>
      </p:sp>
      <p:sp>
        <p:nvSpPr>
          <p:cNvPr id="19459" name="Text Box 5"/>
          <p:cNvSpPr txBox="1">
            <a:spLocks noChangeArrowheads="1"/>
          </p:cNvSpPr>
          <p:nvPr/>
        </p:nvSpPr>
        <p:spPr bwMode="auto">
          <a:xfrm>
            <a:off x="411163" y="908720"/>
            <a:ext cx="429649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zh-TW" altLang="zh-TW" sz="1600" dirty="0">
                <a:latin typeface="+mn-lt"/>
              </a:rPr>
              <a:t>團隊負責人</a:t>
            </a:r>
            <a:r>
              <a:rPr lang="en-US" altLang="zh-TW" sz="1600" dirty="0">
                <a:latin typeface="+mn-lt"/>
              </a:rPr>
              <a:t>Team Leader/Dept.: </a:t>
            </a:r>
            <a:r>
              <a:rPr lang="zh-TW" altLang="en-US" sz="1600" dirty="0">
                <a:latin typeface="+mn-lt"/>
              </a:rPr>
              <a:t>蔡孟哲</a:t>
            </a:r>
            <a:r>
              <a:rPr lang="en-US" altLang="zh-TW" sz="1600" dirty="0">
                <a:latin typeface="+mn-lt"/>
              </a:rPr>
              <a:t>/S220</a:t>
            </a:r>
            <a:endParaRPr lang="en-US" altLang="zh-TW" b="1" dirty="0">
              <a:latin typeface="+mn-lt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847725" y="1775965"/>
          <a:ext cx="7684715" cy="103403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87971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4135172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2561572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</a:tblGrid>
              <a:tr h="164712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en-US" sz="1600" dirty="0">
                          <a:effectLst/>
                        </a:rPr>
                        <a:t>Name</a:t>
                      </a:r>
                      <a:endParaRPr lang="zh-TW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000" marR="36000" marT="18415" marB="18415" anchor="ctr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en-US" sz="1600" dirty="0">
                          <a:effectLst/>
                        </a:rPr>
                        <a:t>Department</a:t>
                      </a:r>
                      <a:endParaRPr lang="zh-TW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000" marR="36000" marT="18415" marB="18415" anchor="ctr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en-US" sz="1600" dirty="0">
                          <a:effectLst/>
                        </a:rPr>
                        <a:t>Position</a:t>
                      </a:r>
                      <a:endParaRPr lang="zh-TW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000" marR="36000" marT="18415" marB="18415" anchor="ctr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168050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S210</a:t>
                      </a:r>
                      <a:r>
                        <a:rPr lang="zh-TW" altLang="en-US" sz="1600" dirty="0"/>
                        <a:t> </a:t>
                      </a:r>
                      <a:r>
                        <a:rPr lang="en-US" altLang="zh-TW" sz="1600" dirty="0"/>
                        <a:t>PE</a:t>
                      </a:r>
                      <a:endParaRPr lang="zh-TW" altLang="en-US" sz="16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S210</a:t>
                      </a:r>
                      <a:endParaRPr lang="zh-TW" altLang="en-US" sz="16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擴散製程課</a:t>
                      </a: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  <a:tr h="168050"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S220</a:t>
                      </a:r>
                      <a:r>
                        <a:rPr lang="zh-TW" altLang="en-US" sz="1600" dirty="0"/>
                        <a:t> </a:t>
                      </a:r>
                      <a:r>
                        <a:rPr lang="en-US" altLang="zh-TW" sz="1600" dirty="0"/>
                        <a:t>EQ</a:t>
                      </a:r>
                      <a:endParaRPr lang="zh-TW" altLang="en-US" sz="16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S220</a:t>
                      </a:r>
                      <a:endParaRPr lang="zh-TW" altLang="en-US" sz="16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擴散設備課</a:t>
                      </a: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422301957"/>
                  </a:ext>
                </a:extLst>
              </a:tr>
            </a:tbl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411163" y="1290208"/>
            <a:ext cx="268708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+mn-lt"/>
              </a:rPr>
              <a:t>成員</a:t>
            </a:r>
            <a:r>
              <a:rPr lang="en-US" altLang="zh-TW" sz="1600" dirty="0">
                <a:latin typeface="+mn-lt"/>
              </a:rPr>
              <a:t>Team Member/Dept.:</a:t>
            </a:r>
            <a:endParaRPr lang="en-US" altLang="zh-TW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41451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Group 138"/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1384386758"/>
              </p:ext>
            </p:extLst>
          </p:nvPr>
        </p:nvGraphicFramePr>
        <p:xfrm>
          <a:off x="341313" y="1358769"/>
          <a:ext cx="8685212" cy="3582399"/>
        </p:xfrm>
        <a:graphic>
          <a:graphicData uri="http://schemas.openxmlformats.org/drawingml/2006/table">
            <a:tbl>
              <a:tblPr/>
              <a:tblGrid>
                <a:gridCol w="1044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40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79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What</a:t>
                      </a:r>
                    </a:p>
                  </a:txBody>
                  <a:tcPr marL="91432" marR="91432"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altLang="zh-TW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j-lt"/>
                        <a:ea typeface="Arial Unicode MS" pitchFamily="34" charset="-120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altLang="zh-TW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j-lt"/>
                        <a:ea typeface="Arial Unicode MS" pitchFamily="34" charset="-120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altLang="zh-TW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j-lt"/>
                        <a:ea typeface="Arial Unicode MS" pitchFamily="34" charset="-120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altLang="zh-TW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j-lt"/>
                        <a:ea typeface="Arial Unicode MS" pitchFamily="34" charset="-120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altLang="zh-TW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j-lt"/>
                        <a:ea typeface="Arial Unicode MS" pitchFamily="34" charset="-120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  <a:ea typeface="Arial Unicode MS" pitchFamily="34" charset="-120"/>
                          <a:cs typeface="Arial" pitchFamily="34" charset="0"/>
                        </a:rPr>
                        <a:t>Route : L0547I/L041SI/C050VI / C050VI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  <a:ea typeface="Arial Unicode MS" pitchFamily="34" charset="-120"/>
                          <a:cs typeface="Arial" pitchFamily="34" charset="0"/>
                        </a:rPr>
                        <a:t>Qty: 150 pcs</a:t>
                      </a:r>
                    </a:p>
                  </a:txBody>
                  <a:tcPr marL="91432" marR="91432"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0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Where</a:t>
                      </a:r>
                    </a:p>
                  </a:txBody>
                  <a:tcPr marL="91432" marR="91432" marT="45718" marB="457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  <a:ea typeface="Arial Unicode MS" pitchFamily="34" charset="-120"/>
                          <a:cs typeface="Arial" pitchFamily="34" charset="0"/>
                        </a:rPr>
                        <a:t>F24</a:t>
                      </a:r>
                      <a:endParaRPr kumimoji="0" lang="zh-TW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j-lt"/>
                        <a:ea typeface="Arial Unicode MS" pitchFamily="34" charset="-120"/>
                        <a:cs typeface="Arial" pitchFamily="34" charset="0"/>
                      </a:endParaRPr>
                    </a:p>
                  </a:txBody>
                  <a:tcPr marL="91432" marR="91432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0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When</a:t>
                      </a:r>
                    </a:p>
                  </a:txBody>
                  <a:tcPr marL="91432" marR="91432" marT="45718" marB="457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  <a:ea typeface="Arial Unicode MS" pitchFamily="34" charset="-120"/>
                          <a:cs typeface="Arial" pitchFamily="34" charset="0"/>
                        </a:rPr>
                        <a:t>2026.1.25</a:t>
                      </a:r>
                    </a:p>
                  </a:txBody>
                  <a:tcPr marL="91432" marR="91432"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3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zh-TW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" pitchFamily="34" charset="0"/>
                        </a:rPr>
                        <a:t>Extent</a:t>
                      </a:r>
                    </a:p>
                  </a:txBody>
                  <a:tcPr marL="91432" marR="91432"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TW" sz="1400" dirty="0">
                          <a:effectLst/>
                        </a:rPr>
                        <a:t>Run F24I38 step7 TEMP.5</a:t>
                      </a:r>
                      <a:r>
                        <a:rPr lang="zh-TW" altLang="en-US" sz="1400" dirty="0">
                          <a:effectLst/>
                        </a:rPr>
                        <a:t> </a:t>
                      </a:r>
                      <a:r>
                        <a:rPr lang="en-US" altLang="zh-TW" sz="1400" dirty="0">
                          <a:effectLst/>
                        </a:rPr>
                        <a:t>abort (Drive in time</a:t>
                      </a:r>
                      <a:r>
                        <a:rPr lang="zh-TW" altLang="en-US" sz="1400" dirty="0">
                          <a:effectLst/>
                        </a:rPr>
                        <a:t> </a:t>
                      </a:r>
                      <a:r>
                        <a:rPr lang="en-US" altLang="zh-TW" sz="1400" dirty="0">
                          <a:effectLst/>
                        </a:rPr>
                        <a:t>9:00:00,</a:t>
                      </a:r>
                      <a:r>
                        <a:rPr lang="zh-TW" altLang="en-US" sz="1400" dirty="0">
                          <a:effectLst/>
                        </a:rPr>
                        <a:t>剩餘</a:t>
                      </a:r>
                      <a:r>
                        <a:rPr lang="en-US" altLang="zh-TW" sz="1400" dirty="0">
                          <a:effectLst/>
                        </a:rPr>
                        <a:t>1:12:42)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/>
                        <a:t>量測 </a:t>
                      </a:r>
                      <a:r>
                        <a:rPr lang="en-US" altLang="zh-TW" sz="1400" dirty="0"/>
                        <a:t>MW</a:t>
                      </a:r>
                      <a:r>
                        <a:rPr lang="zh-TW" altLang="en-US" sz="1400" dirty="0"/>
                        <a:t> </a:t>
                      </a:r>
                      <a:r>
                        <a:rPr lang="en-US" altLang="zh-TW" sz="1400" dirty="0"/>
                        <a:t>THK:601.66/607.69/614.12/597.05/615.26</a:t>
                      </a:r>
                      <a:r>
                        <a:rPr lang="zh-TW" altLang="en-US" sz="1400" dirty="0"/>
                        <a:t> </a:t>
                      </a:r>
                      <a:r>
                        <a:rPr lang="en-US" altLang="zh-TW" sz="1400" dirty="0"/>
                        <a:t>AVERAGE:607 Å</a:t>
                      </a:r>
                      <a:r>
                        <a:rPr lang="zh-TW" altLang="en-US" sz="1400" dirty="0"/>
                        <a:t> </a:t>
                      </a:r>
                      <a:endParaRPr lang="en-US" altLang="zh-TW" sz="1400" dirty="0"/>
                    </a:p>
                  </a:txBody>
                  <a:tcPr marL="91432" marR="91432" marT="45718" marB="457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7348" name="Rectangle 4"/>
          <p:cNvSpPr>
            <a:spLocks noChangeArrowheads="1"/>
          </p:cNvSpPr>
          <p:nvPr/>
        </p:nvSpPr>
        <p:spPr bwMode="auto">
          <a:xfrm>
            <a:off x="206515" y="460993"/>
            <a:ext cx="882001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  <a:p>
            <a:pPr>
              <a:defRPr/>
            </a:pPr>
            <a:r>
              <a:rPr lang="en-US" altLang="zh-TW" sz="1200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(WHO detected the problem? WHAT is wrong? State the problem in terms of object and defect. WHERE the problem was first detected, describe location of the detection, lot #,  WHEN and HOW it was detected)</a:t>
            </a:r>
            <a:r>
              <a:rPr lang="en-US" altLang="zh-TW" sz="1200" dirty="0">
                <a:solidFill>
                  <a:srgbClr val="4D4D4D"/>
                </a:solidFill>
                <a:latin typeface="+mn-lt"/>
                <a:ea typeface="新細明體" pitchFamily="18" charset="-120"/>
              </a:rPr>
              <a:t> </a:t>
            </a:r>
            <a:endParaRPr lang="zh-TW" altLang="en-US" sz="1200" dirty="0">
              <a:solidFill>
                <a:srgbClr val="4D4D4D"/>
              </a:solidFill>
              <a:latin typeface="+mn-lt"/>
              <a:ea typeface="新細明體" pitchFamily="18" charset="-12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315D3B7-9AD8-C159-16B7-CEB7B332E4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080489"/>
              </p:ext>
            </p:extLst>
          </p:nvPr>
        </p:nvGraphicFramePr>
        <p:xfrm>
          <a:off x="1475656" y="1484784"/>
          <a:ext cx="5778502" cy="1400175"/>
        </p:xfrm>
        <a:graphic>
          <a:graphicData uri="http://schemas.openxmlformats.org/drawingml/2006/table">
            <a:tbl>
              <a:tblPr/>
              <a:tblGrid>
                <a:gridCol w="1246405">
                  <a:extLst>
                    <a:ext uri="{9D8B030D-6E8A-4147-A177-3AD203B41FA5}">
                      <a16:colId xmlns:a16="http://schemas.microsoft.com/office/drawing/2014/main" val="3863289822"/>
                    </a:ext>
                  </a:extLst>
                </a:gridCol>
                <a:gridCol w="393268">
                  <a:extLst>
                    <a:ext uri="{9D8B030D-6E8A-4147-A177-3AD203B41FA5}">
                      <a16:colId xmlns:a16="http://schemas.microsoft.com/office/drawing/2014/main" val="3014094408"/>
                    </a:ext>
                  </a:extLst>
                </a:gridCol>
                <a:gridCol w="558187">
                  <a:extLst>
                    <a:ext uri="{9D8B030D-6E8A-4147-A177-3AD203B41FA5}">
                      <a16:colId xmlns:a16="http://schemas.microsoft.com/office/drawing/2014/main" val="2941535990"/>
                    </a:ext>
                  </a:extLst>
                </a:gridCol>
                <a:gridCol w="393268">
                  <a:extLst>
                    <a:ext uri="{9D8B030D-6E8A-4147-A177-3AD203B41FA5}">
                      <a16:colId xmlns:a16="http://schemas.microsoft.com/office/drawing/2014/main" val="309210779"/>
                    </a:ext>
                  </a:extLst>
                </a:gridCol>
                <a:gridCol w="773850">
                  <a:extLst>
                    <a:ext uri="{9D8B030D-6E8A-4147-A177-3AD203B41FA5}">
                      <a16:colId xmlns:a16="http://schemas.microsoft.com/office/drawing/2014/main" val="1067691237"/>
                    </a:ext>
                  </a:extLst>
                </a:gridCol>
                <a:gridCol w="976827">
                  <a:extLst>
                    <a:ext uri="{9D8B030D-6E8A-4147-A177-3AD203B41FA5}">
                      <a16:colId xmlns:a16="http://schemas.microsoft.com/office/drawing/2014/main" val="777578875"/>
                    </a:ext>
                  </a:extLst>
                </a:gridCol>
                <a:gridCol w="646989">
                  <a:extLst>
                    <a:ext uri="{9D8B030D-6E8A-4147-A177-3AD203B41FA5}">
                      <a16:colId xmlns:a16="http://schemas.microsoft.com/office/drawing/2014/main" val="2794798182"/>
                    </a:ext>
                  </a:extLst>
                </a:gridCol>
                <a:gridCol w="447184">
                  <a:extLst>
                    <a:ext uri="{9D8B030D-6E8A-4147-A177-3AD203B41FA5}">
                      <a16:colId xmlns:a16="http://schemas.microsoft.com/office/drawing/2014/main" val="1211754133"/>
                    </a:ext>
                  </a:extLst>
                </a:gridCol>
                <a:gridCol w="342524">
                  <a:extLst>
                    <a:ext uri="{9D8B030D-6E8A-4147-A177-3AD203B41FA5}">
                      <a16:colId xmlns:a16="http://schemas.microsoft.com/office/drawing/2014/main" val="2611233418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上貨時間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程式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LOC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Lot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Product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Route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Oper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Qty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94381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2026/1/25 00:48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F24I38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26040320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Y5V30Y     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V0417U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1802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961927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2026/1/25 00:48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F24I38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26040310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Y5V30Y     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V0417U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1802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70184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2026/1/25 00:48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F24I38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25523040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YBF05T     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T0517I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1802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16141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2026/1/25 00:48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F24I38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25524090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Y8C01T     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O0562I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1802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28784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2026/1/25 00:48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F24I38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25524100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Y8C01T     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O0562I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1802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40606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2026/1/25 00:48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F24I38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25531980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Y7S05W     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T046UI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1802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907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295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06515" y="465521"/>
            <a:ext cx="88200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95536" y="1012666"/>
            <a:ext cx="4752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</a:rPr>
              <a:t>lot History - </a:t>
            </a:r>
            <a:r>
              <a:rPr lang="zh-TW" altLang="zh-TW" sz="2000" b="1" dirty="0">
                <a:solidFill>
                  <a:srgbClr val="0000FF"/>
                </a:solidFill>
              </a:rPr>
              <a:t>調查過程簡述</a:t>
            </a:r>
            <a:r>
              <a:rPr lang="en-US" altLang="zh-TW" sz="2000" b="1" dirty="0">
                <a:solidFill>
                  <a:srgbClr val="0000FF"/>
                </a:solidFill>
              </a:rPr>
              <a:t> (Investigation): </a:t>
            </a:r>
            <a:endParaRPr lang="zh-TW" altLang="en-US" sz="2000" b="1" dirty="0">
              <a:solidFill>
                <a:srgbClr val="C00000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06515" y="5135948"/>
            <a:ext cx="849040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TW" sz="1400" dirty="0"/>
              <a:t>Run F24I38 step7 TEMP.5</a:t>
            </a:r>
            <a:r>
              <a:rPr lang="zh-TW" altLang="en-US" sz="1400" dirty="0"/>
              <a:t> </a:t>
            </a:r>
            <a:r>
              <a:rPr lang="en-US" altLang="zh-TW" sz="1400" dirty="0"/>
              <a:t>abort (Drive in time</a:t>
            </a:r>
            <a:r>
              <a:rPr lang="zh-TW" altLang="en-US" sz="1400" dirty="0"/>
              <a:t> </a:t>
            </a:r>
            <a:r>
              <a:rPr lang="en-US" altLang="zh-TW" sz="1400" dirty="0"/>
              <a:t>9:00:00,</a:t>
            </a:r>
            <a:r>
              <a:rPr lang="zh-TW" altLang="en-US" sz="1400" dirty="0"/>
              <a:t>剩餘</a:t>
            </a:r>
            <a:r>
              <a:rPr lang="en-US" altLang="zh-TW" sz="1400" dirty="0"/>
              <a:t>1:12:42)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sz="1400" dirty="0"/>
              <a:t>確認最高溫為</a:t>
            </a:r>
            <a:r>
              <a:rPr lang="en-US" altLang="zh-TW" sz="1400" dirty="0"/>
              <a:t>1185℃</a:t>
            </a:r>
            <a:r>
              <a:rPr lang="zh-TW" altLang="en-US" sz="1400" dirty="0"/>
              <a:t>。</a:t>
            </a:r>
            <a:endParaRPr lang="en-US" altLang="zh-TW" sz="1400" dirty="0"/>
          </a:p>
          <a:p>
            <a:endParaRPr lang="en-US" altLang="zh-TW" sz="14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4949344" y="141277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設定值</a:t>
            </a:r>
          </a:p>
        </p:txBody>
      </p:sp>
      <p:sp>
        <p:nvSpPr>
          <p:cNvPr id="19" name="文字方塊 18"/>
          <p:cNvSpPr txBox="1"/>
          <p:nvPr/>
        </p:nvSpPr>
        <p:spPr>
          <a:xfrm>
            <a:off x="7164288" y="137684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實際值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E1D61DB-F634-636E-F450-9E33AECFBE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564602"/>
              </p:ext>
            </p:extLst>
          </p:nvPr>
        </p:nvGraphicFramePr>
        <p:xfrm>
          <a:off x="467318" y="1746178"/>
          <a:ext cx="8318418" cy="2996624"/>
        </p:xfrm>
        <a:graphic>
          <a:graphicData uri="http://schemas.openxmlformats.org/drawingml/2006/table">
            <a:tbl>
              <a:tblPr/>
              <a:tblGrid>
                <a:gridCol w="577129">
                  <a:extLst>
                    <a:ext uri="{9D8B030D-6E8A-4147-A177-3AD203B41FA5}">
                      <a16:colId xmlns:a16="http://schemas.microsoft.com/office/drawing/2014/main" val="2985909581"/>
                    </a:ext>
                  </a:extLst>
                </a:gridCol>
                <a:gridCol w="293705">
                  <a:extLst>
                    <a:ext uri="{9D8B030D-6E8A-4147-A177-3AD203B41FA5}">
                      <a16:colId xmlns:a16="http://schemas.microsoft.com/office/drawing/2014/main" val="2437428997"/>
                    </a:ext>
                  </a:extLst>
                </a:gridCol>
                <a:gridCol w="207061">
                  <a:extLst>
                    <a:ext uri="{9D8B030D-6E8A-4147-A177-3AD203B41FA5}">
                      <a16:colId xmlns:a16="http://schemas.microsoft.com/office/drawing/2014/main" val="3969022358"/>
                    </a:ext>
                  </a:extLst>
                </a:gridCol>
                <a:gridCol w="541885">
                  <a:extLst>
                    <a:ext uri="{9D8B030D-6E8A-4147-A177-3AD203B41FA5}">
                      <a16:colId xmlns:a16="http://schemas.microsoft.com/office/drawing/2014/main" val="3532664331"/>
                    </a:ext>
                  </a:extLst>
                </a:gridCol>
                <a:gridCol w="240837">
                  <a:extLst>
                    <a:ext uri="{9D8B030D-6E8A-4147-A177-3AD203B41FA5}">
                      <a16:colId xmlns:a16="http://schemas.microsoft.com/office/drawing/2014/main" val="643602378"/>
                    </a:ext>
                  </a:extLst>
                </a:gridCol>
                <a:gridCol w="287830">
                  <a:extLst>
                    <a:ext uri="{9D8B030D-6E8A-4147-A177-3AD203B41FA5}">
                      <a16:colId xmlns:a16="http://schemas.microsoft.com/office/drawing/2014/main" val="1385392426"/>
                    </a:ext>
                  </a:extLst>
                </a:gridCol>
                <a:gridCol w="481675">
                  <a:extLst>
                    <a:ext uri="{9D8B030D-6E8A-4147-A177-3AD203B41FA5}">
                      <a16:colId xmlns:a16="http://schemas.microsoft.com/office/drawing/2014/main" val="879104130"/>
                    </a:ext>
                  </a:extLst>
                </a:gridCol>
                <a:gridCol w="640276">
                  <a:extLst>
                    <a:ext uri="{9D8B030D-6E8A-4147-A177-3AD203B41FA5}">
                      <a16:colId xmlns:a16="http://schemas.microsoft.com/office/drawing/2014/main" val="3449757879"/>
                    </a:ext>
                  </a:extLst>
                </a:gridCol>
                <a:gridCol w="189440">
                  <a:extLst>
                    <a:ext uri="{9D8B030D-6E8A-4147-A177-3AD203B41FA5}">
                      <a16:colId xmlns:a16="http://schemas.microsoft.com/office/drawing/2014/main" val="2320085880"/>
                    </a:ext>
                  </a:extLst>
                </a:gridCol>
                <a:gridCol w="569787">
                  <a:extLst>
                    <a:ext uri="{9D8B030D-6E8A-4147-A177-3AD203B41FA5}">
                      <a16:colId xmlns:a16="http://schemas.microsoft.com/office/drawing/2014/main" val="820181094"/>
                    </a:ext>
                  </a:extLst>
                </a:gridCol>
                <a:gridCol w="399438">
                  <a:extLst>
                    <a:ext uri="{9D8B030D-6E8A-4147-A177-3AD203B41FA5}">
                      <a16:colId xmlns:a16="http://schemas.microsoft.com/office/drawing/2014/main" val="190907587"/>
                    </a:ext>
                  </a:extLst>
                </a:gridCol>
                <a:gridCol w="399438">
                  <a:extLst>
                    <a:ext uri="{9D8B030D-6E8A-4147-A177-3AD203B41FA5}">
                      <a16:colId xmlns:a16="http://schemas.microsoft.com/office/drawing/2014/main" val="1634849929"/>
                    </a:ext>
                  </a:extLst>
                </a:gridCol>
                <a:gridCol w="381816">
                  <a:extLst>
                    <a:ext uri="{9D8B030D-6E8A-4147-A177-3AD203B41FA5}">
                      <a16:colId xmlns:a16="http://schemas.microsoft.com/office/drawing/2014/main" val="2695390315"/>
                    </a:ext>
                  </a:extLst>
                </a:gridCol>
                <a:gridCol w="381816">
                  <a:extLst>
                    <a:ext uri="{9D8B030D-6E8A-4147-A177-3AD203B41FA5}">
                      <a16:colId xmlns:a16="http://schemas.microsoft.com/office/drawing/2014/main" val="2339874857"/>
                    </a:ext>
                  </a:extLst>
                </a:gridCol>
                <a:gridCol w="317201">
                  <a:extLst>
                    <a:ext uri="{9D8B030D-6E8A-4147-A177-3AD203B41FA5}">
                      <a16:colId xmlns:a16="http://schemas.microsoft.com/office/drawing/2014/main" val="922378603"/>
                    </a:ext>
                  </a:extLst>
                </a:gridCol>
                <a:gridCol w="510468">
                  <a:extLst>
                    <a:ext uri="{9D8B030D-6E8A-4147-A177-3AD203B41FA5}">
                      <a16:colId xmlns:a16="http://schemas.microsoft.com/office/drawing/2014/main" val="2837528216"/>
                    </a:ext>
                  </a:extLst>
                </a:gridCol>
                <a:gridCol w="510468">
                  <a:extLst>
                    <a:ext uri="{9D8B030D-6E8A-4147-A177-3AD203B41FA5}">
                      <a16:colId xmlns:a16="http://schemas.microsoft.com/office/drawing/2014/main" val="2272958150"/>
                    </a:ext>
                  </a:extLst>
                </a:gridCol>
                <a:gridCol w="491418">
                  <a:extLst>
                    <a:ext uri="{9D8B030D-6E8A-4147-A177-3AD203B41FA5}">
                      <a16:colId xmlns:a16="http://schemas.microsoft.com/office/drawing/2014/main" val="4198157856"/>
                    </a:ext>
                  </a:extLst>
                </a:gridCol>
                <a:gridCol w="491418">
                  <a:extLst>
                    <a:ext uri="{9D8B030D-6E8A-4147-A177-3AD203B41FA5}">
                      <a16:colId xmlns:a16="http://schemas.microsoft.com/office/drawing/2014/main" val="3097004920"/>
                    </a:ext>
                  </a:extLst>
                </a:gridCol>
                <a:gridCol w="405312">
                  <a:extLst>
                    <a:ext uri="{9D8B030D-6E8A-4147-A177-3AD203B41FA5}">
                      <a16:colId xmlns:a16="http://schemas.microsoft.com/office/drawing/2014/main" val="1580540530"/>
                    </a:ext>
                  </a:extLst>
                </a:gridCol>
              </a:tblGrid>
              <a:tr h="925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SampleTime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GC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Tube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Standby Factor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Alarm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Recipe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Recipe Name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Recipe Remaining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Step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Step Remaining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Set_BTM_1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Set_BTM_2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Set_CTR_1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Set_CTR_2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Set_TOP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Outer_BTM_1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Outer_BTM_2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Outer_CTR_1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Outer_CTR_2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Outer_TOP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303959"/>
                  </a:ext>
                </a:extLst>
              </a:tr>
              <a:tr h="925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2026/1/25 10:22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Win310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F24I38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COPY F11I38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0004:11:30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02:02:20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1187.5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1187.5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1184.9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1185.1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215815"/>
                  </a:ext>
                </a:extLst>
              </a:tr>
              <a:tr h="925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2026/1/25 10:24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Win310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F24I38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COPY F11I38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0004:09:14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02:00:04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1187.5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1187.5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1184.9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150850"/>
                  </a:ext>
                </a:extLst>
              </a:tr>
              <a:tr h="925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2026/1/25 10:30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Win310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F24I38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COPY F11I38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0004:03:38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01:54:28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1187.5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1187.5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1184.9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1184.9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064619"/>
                  </a:ext>
                </a:extLst>
              </a:tr>
              <a:tr h="925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2026/1/25 10:32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Win310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F24I38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COPY F11I38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0004:01:15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01:52:05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1187.5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1183.4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1183.6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1187.5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120301"/>
                  </a:ext>
                </a:extLst>
              </a:tr>
              <a:tr h="925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2026/1/25 10:38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Win310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F24I38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COPY F11I38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0003:55:44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01:46:34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1187.5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1183.4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1187.5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1184.9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001394"/>
                  </a:ext>
                </a:extLst>
              </a:tr>
              <a:tr h="925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2026/1/25 10:40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Win310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F24I38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COPY F11I38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0003:53:23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01:44:13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1187.5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1183.6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1187.6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1184.9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92505"/>
                  </a:ext>
                </a:extLst>
              </a:tr>
              <a:tr h="925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2026/1/25 10:46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Win310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F24I38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COPY F11I38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0003:47:50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01:38:40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1187.5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1183.4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1187.5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1185.1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564003"/>
                  </a:ext>
                </a:extLst>
              </a:tr>
              <a:tr h="925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2026/1/25 10:48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Win310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F24I38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COPY F11I38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0003:45:29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01:36:19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1187.5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1187.5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1184.9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1184.6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04534"/>
                  </a:ext>
                </a:extLst>
              </a:tr>
              <a:tr h="925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2026/1/25 10:53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Win310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F24I38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COPY F11I38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0003:40:00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01:30:50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1187.5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1187.5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1184.9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875367"/>
                  </a:ext>
                </a:extLst>
              </a:tr>
              <a:tr h="925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2026/1/25 10:56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Win310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F24I38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COPY F11I38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0003:37:35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01:28:25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1187.5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1183.6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1183.6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1187.5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1185.1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646129"/>
                  </a:ext>
                </a:extLst>
              </a:tr>
              <a:tr h="925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2026/1/25 11:01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Win310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F24I38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COPY F11I38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0003:32:04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01:22:54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1187.5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1183.6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1183.4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1187.4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1182.4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1176.3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560202"/>
                  </a:ext>
                </a:extLst>
              </a:tr>
              <a:tr h="925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2026/1/25 11:04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Win310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F24I38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COPY F11I38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0003:29:45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01:20:35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1187.5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1187.5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1182.4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1170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3335464"/>
                  </a:ext>
                </a:extLst>
              </a:tr>
              <a:tr h="925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2026/1/25 11:11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Win310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F24I38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COPY F11I38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0003:21:56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01:12:46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1187.5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1187.5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1183.6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1166.1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168774"/>
                  </a:ext>
                </a:extLst>
              </a:tr>
              <a:tr h="925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2026/1/25 11:12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Win310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F24I38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COPY F11I38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0003:21:52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01:12:42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1187.5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1187.5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1183.6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1166.1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137984"/>
                  </a:ext>
                </a:extLst>
              </a:tr>
              <a:tr h="925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2026/1/25 11:19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Win310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RAMP-EXE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F24AB1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COPY F11I38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0002:12:16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02:12:16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780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780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780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780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780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1172.9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1175.2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1178.2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1179.8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1161.1</a:t>
                      </a:r>
                    </a:p>
                  </a:txBody>
                  <a:tcPr marL="4409" marR="4409" marT="44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729094"/>
                  </a:ext>
                </a:extLst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8388424" y="3789039"/>
            <a:ext cx="432048" cy="965024"/>
          </a:xfrm>
          <a:prstGeom prst="rect">
            <a:avLst/>
          </a:prstGeom>
          <a:noFill/>
          <a:ln>
            <a:solidFill>
              <a:srgbClr val="FC21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955F346-0484-764E-5C25-48479C7D69A5}"/>
              </a:ext>
            </a:extLst>
          </p:cNvPr>
          <p:cNvSpPr/>
          <p:nvPr/>
        </p:nvSpPr>
        <p:spPr>
          <a:xfrm>
            <a:off x="4499992" y="1746178"/>
            <a:ext cx="1872208" cy="29966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189BE6D-AFB8-C630-00A9-7151CCA2999C}"/>
              </a:ext>
            </a:extLst>
          </p:cNvPr>
          <p:cNvSpPr/>
          <p:nvPr/>
        </p:nvSpPr>
        <p:spPr>
          <a:xfrm>
            <a:off x="6372200" y="1746178"/>
            <a:ext cx="2413536" cy="29966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362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06515" y="465521"/>
            <a:ext cx="88200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2.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描述問題及現況掌握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Describe the Problem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4032" y="1013202"/>
            <a:ext cx="43924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Is/Is Not Analysis table (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釐清問題</a:t>
            </a:r>
            <a:r>
              <a:rPr lang="en-US" altLang="zh-TW" sz="2000" dirty="0"/>
              <a:t>):</a:t>
            </a:r>
            <a:endParaRPr lang="zh-TW" altLang="en-US" sz="2000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86838C9-599C-4541-07D5-A44566FFF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704695"/>
              </p:ext>
            </p:extLst>
          </p:nvPr>
        </p:nvGraphicFramePr>
        <p:xfrm>
          <a:off x="323528" y="1560884"/>
          <a:ext cx="8748464" cy="3701172"/>
        </p:xfrm>
        <a:graphic>
          <a:graphicData uri="http://schemas.openxmlformats.org/drawingml/2006/table">
            <a:tbl>
              <a:tblPr/>
              <a:tblGrid>
                <a:gridCol w="1139286">
                  <a:extLst>
                    <a:ext uri="{9D8B030D-6E8A-4147-A177-3AD203B41FA5}">
                      <a16:colId xmlns:a16="http://schemas.microsoft.com/office/drawing/2014/main" val="956814940"/>
                    </a:ext>
                  </a:extLst>
                </a:gridCol>
                <a:gridCol w="1369234">
                  <a:extLst>
                    <a:ext uri="{9D8B030D-6E8A-4147-A177-3AD203B41FA5}">
                      <a16:colId xmlns:a16="http://schemas.microsoft.com/office/drawing/2014/main" val="2507271339"/>
                    </a:ext>
                  </a:extLst>
                </a:gridCol>
                <a:gridCol w="1797778">
                  <a:extLst>
                    <a:ext uri="{9D8B030D-6E8A-4147-A177-3AD203B41FA5}">
                      <a16:colId xmlns:a16="http://schemas.microsoft.com/office/drawing/2014/main" val="2773316266"/>
                    </a:ext>
                  </a:extLst>
                </a:gridCol>
                <a:gridCol w="2554583">
                  <a:extLst>
                    <a:ext uri="{9D8B030D-6E8A-4147-A177-3AD203B41FA5}">
                      <a16:colId xmlns:a16="http://schemas.microsoft.com/office/drawing/2014/main" val="3420031959"/>
                    </a:ext>
                  </a:extLst>
                </a:gridCol>
                <a:gridCol w="1887583">
                  <a:extLst>
                    <a:ext uri="{9D8B030D-6E8A-4147-A177-3AD203B41FA5}">
                      <a16:colId xmlns:a16="http://schemas.microsoft.com/office/drawing/2014/main" val="820988365"/>
                    </a:ext>
                  </a:extLst>
                </a:gridCol>
              </a:tblGrid>
              <a:tr h="4783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Is 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4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Is Not 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4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Difference/Conclusion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669038"/>
                  </a:ext>
                </a:extLst>
              </a:tr>
              <a:tr h="300168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What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object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Temperature</a:t>
                      </a: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itchFamily="34" charset="0"/>
                        </a:rPr>
                        <a:t> </a:t>
                      </a:r>
                      <a:endParaRPr kumimoji="0" lang="zh-TW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itchFamily="34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itchFamily="34" charset="0"/>
                        </a:rPr>
                        <a:t>Gas</a:t>
                      </a:r>
                      <a:endParaRPr kumimoji="0" lang="zh-TW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itchFamily="34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Temperature-related issue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557674"/>
                  </a:ext>
                </a:extLst>
              </a:tr>
              <a:tr h="3001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Defect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Temperature </a:t>
                      </a: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itchFamily="34" charset="0"/>
                        </a:rPr>
                        <a:t>abnormal</a:t>
                      </a: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Temperature </a:t>
                      </a: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itchFamily="34" charset="0"/>
                        </a:rPr>
                        <a:t>normal</a:t>
                      </a: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Insufficient heating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714792"/>
                  </a:ext>
                </a:extLst>
              </a:tr>
              <a:tr h="300168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Where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Location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itchFamily="18" charset="0"/>
                        </a:rPr>
                        <a:t>TOP</a:t>
                      </a:r>
                      <a:endParaRPr kumimoji="0" lang="zh-TW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itchFamily="18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itchFamily="34" charset="0"/>
                        </a:rPr>
                        <a:t>BTM-1/BTM-2/CTR-1/CTR-2</a:t>
                      </a:r>
                      <a:endParaRPr kumimoji="0" lang="zh-TW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itchFamily="34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Furnace heater zone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881455"/>
                  </a:ext>
                </a:extLst>
              </a:tr>
              <a:tr h="3001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Machine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itchFamily="18" charset="0"/>
                        </a:rPr>
                        <a:t>F24</a:t>
                      </a:r>
                      <a:endParaRPr kumimoji="0" lang="zh-TW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itchFamily="18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itchFamily="34" charset="0"/>
                        </a:rPr>
                        <a:t>Other drive in</a:t>
                      </a:r>
                      <a:endParaRPr kumimoji="0" lang="zh-TW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itchFamily="34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338079"/>
                  </a:ext>
                </a:extLst>
              </a:tr>
              <a:tr h="300168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When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First time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itchFamily="18" charset="0"/>
                        </a:rPr>
                        <a:t>2026.1.25 </a:t>
                      </a:r>
                      <a:endParaRPr kumimoji="0" lang="zh-TW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itchFamily="18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itchFamily="34" charset="0"/>
                        </a:rPr>
                        <a:t>before </a:t>
                      </a: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itchFamily="18" charset="0"/>
                        </a:rPr>
                        <a:t>2026.1.25 </a:t>
                      </a:r>
                      <a:endParaRPr kumimoji="0" lang="zh-TW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itchFamily="18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Specific date started (2026/1/25) 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156506"/>
                  </a:ext>
                </a:extLst>
              </a:tr>
              <a:tr h="3001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Reoccurred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itchFamily="34" charset="0"/>
                        </a:rPr>
                        <a:t>NA</a:t>
                      </a:r>
                      <a:endParaRPr kumimoji="0" lang="zh-TW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itchFamily="34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itchFamily="18" charset="0"/>
                        </a:rPr>
                        <a:t>NA</a:t>
                      </a:r>
                      <a:endParaRPr kumimoji="0" lang="zh-TW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itchFamily="18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NA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746478"/>
                  </a:ext>
                </a:extLst>
              </a:tr>
              <a:tr h="300168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How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Many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itchFamily="18" charset="0"/>
                        </a:rPr>
                        <a:t>6lots</a:t>
                      </a:r>
                      <a:endParaRPr kumimoji="0" lang="zh-TW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itchFamily="18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itchFamily="18" charset="0"/>
                        </a:rPr>
                        <a:t>Other batches</a:t>
                      </a:r>
                      <a:endParaRPr kumimoji="0" lang="zh-TW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imes New Roman" pitchFamily="18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Only this batch 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824573"/>
                  </a:ext>
                </a:extLst>
              </a:tr>
              <a:tr h="3001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Trend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itchFamily="34" charset="0"/>
                        </a:rPr>
                        <a:t>C1 temp cannot reach target casing step.7 abort</a:t>
                      </a:r>
                      <a:endParaRPr kumimoji="0" lang="zh-TW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itchFamily="34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Temperature</a:t>
                      </a:r>
                      <a:r>
                        <a:rPr kumimoji="0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itchFamily="34" charset="0"/>
                        </a:rPr>
                        <a:t> is normal</a:t>
                      </a:r>
                      <a:endParaRPr kumimoji="0" lang="zh-TW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itchFamily="34" charset="0"/>
                      </a:endParaRPr>
                    </a:p>
                  </a:txBody>
                  <a:tcPr marL="91441" marR="91441" marT="45718" marB="4571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Temperature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cannot reach target </a:t>
                      </a:r>
                    </a:p>
                  </a:txBody>
                  <a:tcPr marL="7504" marR="7504" marT="750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673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2047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17F47A0-0BB8-80BD-11F6-18FF536D98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2317"/>
          <a:stretch>
            <a:fillRect/>
          </a:stretch>
        </p:blipFill>
        <p:spPr>
          <a:xfrm>
            <a:off x="1763688" y="2531138"/>
            <a:ext cx="5433374" cy="383837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71C23AA-9A25-F356-EDFE-91F6BE0B29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0B2432-A20E-4E26-94E6-104434F1F062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AF127A0-7E0A-5CC6-9444-7CCC2FA74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521" y="558382"/>
            <a:ext cx="873097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3.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執行及驗證暫時防堵對策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Contain the Problem</a:t>
            </a:r>
          </a:p>
          <a:p>
            <a:pPr>
              <a:defRPr/>
            </a:pPr>
            <a:r>
              <a:rPr lang="en-US" altLang="zh-TW" sz="1400" b="1" dirty="0">
                <a:solidFill>
                  <a:srgbClr val="4D4D4D"/>
                </a:solidFill>
                <a:latin typeface="+mn-lt"/>
                <a:ea typeface="新細明體" pitchFamily="18" charset="-120"/>
              </a:rPr>
              <a:t>(Define and implement containment actions to </a:t>
            </a:r>
            <a:r>
              <a:rPr lang="en-US" altLang="zh-TW" sz="1400" b="1" dirty="0">
                <a:solidFill>
                  <a:srgbClr val="FF0000"/>
                </a:solidFill>
                <a:latin typeface="+mn-lt"/>
                <a:ea typeface="新細明體" pitchFamily="18" charset="-120"/>
              </a:rPr>
              <a:t>isolate</a:t>
            </a:r>
            <a:r>
              <a:rPr lang="en-US" altLang="zh-TW" sz="1400" b="1" dirty="0">
                <a:solidFill>
                  <a:srgbClr val="4D4D4D"/>
                </a:solidFill>
                <a:latin typeface="+mn-lt"/>
                <a:ea typeface="新細明體" pitchFamily="18" charset="-120"/>
              </a:rPr>
              <a:t> the effect of problem from any internal/external customer until corrective action is implemented)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88E3BEB-1E03-D5B3-E02B-EB5A651D0771}"/>
              </a:ext>
            </a:extLst>
          </p:cNvPr>
          <p:cNvSpPr txBox="1"/>
          <p:nvPr/>
        </p:nvSpPr>
        <p:spPr>
          <a:xfrm>
            <a:off x="323527" y="1365161"/>
            <a:ext cx="855995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This case</a:t>
            </a:r>
            <a:r>
              <a:rPr lang="zh-TW" altLang="en-US" sz="1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 lots of V0417U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follow O.I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2920-0006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Automotive Process Rework O.I.</a:t>
            </a:r>
            <a:r>
              <a:rPr lang="en-US" sz="1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buNone/>
            </a:pPr>
            <a:r>
              <a:rPr lang="en-US" sz="1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Rework rule: </a:t>
            </a:r>
          </a:p>
          <a:p>
            <a:pPr lvl="1"/>
            <a:r>
              <a:rPr lang="en-US" sz="1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Type E: Continuous process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 the equipment M/D, the wafer is removed equipment and continue to finish the process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Type E rework flow is not allowed for automotive process </a:t>
            </a:r>
          </a:p>
        </p:txBody>
      </p:sp>
    </p:spTree>
    <p:extLst>
      <p:ext uri="{BB962C8B-B14F-4D97-AF65-F5344CB8AC3E}">
        <p14:creationId xmlns:p14="http://schemas.microsoft.com/office/powerpoint/2010/main" val="1132243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96525" y="548680"/>
            <a:ext cx="873097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3.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執行及驗證暫時防堵對策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Contain the Problem</a:t>
            </a:r>
          </a:p>
          <a:p>
            <a:pPr>
              <a:defRPr/>
            </a:pPr>
            <a:r>
              <a:rPr lang="en-US" altLang="zh-TW" sz="1400" b="1" dirty="0">
                <a:solidFill>
                  <a:srgbClr val="4D4D4D"/>
                </a:solidFill>
                <a:latin typeface="+mj-lt"/>
                <a:ea typeface="新細明體" pitchFamily="18" charset="-120"/>
              </a:rPr>
              <a:t>(Define and implement containment actions to </a:t>
            </a:r>
            <a:r>
              <a:rPr lang="en-US" altLang="zh-TW" sz="1400" b="1" dirty="0">
                <a:solidFill>
                  <a:srgbClr val="FF0000"/>
                </a:solidFill>
                <a:latin typeface="+mj-lt"/>
                <a:ea typeface="新細明體" pitchFamily="18" charset="-120"/>
              </a:rPr>
              <a:t>isolate</a:t>
            </a:r>
            <a:r>
              <a:rPr lang="en-US" altLang="zh-TW" sz="1400" b="1" dirty="0">
                <a:solidFill>
                  <a:srgbClr val="4D4D4D"/>
                </a:solidFill>
                <a:latin typeface="+mj-lt"/>
                <a:ea typeface="新細明體" pitchFamily="18" charset="-120"/>
              </a:rPr>
              <a:t> the effect of problem from any internal/external customer until corrective action is implemented)</a:t>
            </a:r>
            <a:endParaRPr lang="zh-TW" altLang="en-US" sz="1400" b="1" dirty="0">
              <a:latin typeface="+mj-lt"/>
              <a:ea typeface="新細明體" pitchFamily="18" charset="-12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18807"/>
              </p:ext>
            </p:extLst>
          </p:nvPr>
        </p:nvGraphicFramePr>
        <p:xfrm>
          <a:off x="701569" y="1919104"/>
          <a:ext cx="8325924" cy="1005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060255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1113651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742434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965164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  <a:gridCol w="965164">
                  <a:extLst>
                    <a:ext uri="{9D8B030D-6E8A-4147-A177-3AD203B41FA5}">
                      <a16:colId xmlns:a16="http://schemas.microsoft.com/office/drawing/2014/main" val="2331622569"/>
                    </a:ext>
                  </a:extLst>
                </a:gridCol>
                <a:gridCol w="2479256">
                  <a:extLst>
                    <a:ext uri="{9D8B030D-6E8A-4147-A177-3AD203B41FA5}">
                      <a16:colId xmlns:a16="http://schemas.microsoft.com/office/drawing/2014/main" val="2477096594"/>
                    </a:ext>
                  </a:extLst>
                </a:gridCol>
              </a:tblGrid>
              <a:tr h="2195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項目 </a:t>
                      </a:r>
                      <a:r>
                        <a:rPr lang="en-US" sz="1200" b="0" kern="100" dirty="0">
                          <a:effectLst/>
                        </a:rPr>
                        <a:t>Item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處理方式</a:t>
                      </a:r>
                      <a:r>
                        <a:rPr lang="en-US" sz="1200" b="0" kern="100" dirty="0">
                          <a:effectLst/>
                        </a:rPr>
                        <a:t> Action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負責人員 </a:t>
                      </a:r>
                      <a:r>
                        <a:rPr lang="en-US" sz="1200" b="0" kern="100" dirty="0" err="1">
                          <a:effectLst/>
                        </a:rPr>
                        <a:t>Resp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預定完成日 </a:t>
                      </a:r>
                      <a:r>
                        <a:rPr lang="en-US" sz="1200" b="0" kern="100" dirty="0">
                          <a:effectLst/>
                        </a:rPr>
                        <a:t>Due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實際完成日</a:t>
                      </a:r>
                      <a:r>
                        <a:rPr lang="en-US" sz="1200" b="0" kern="100" dirty="0">
                          <a:effectLst/>
                        </a:rPr>
                        <a:t>  Imp.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處理結果 </a:t>
                      </a:r>
                      <a:r>
                        <a:rPr lang="en-US" sz="1200" b="0" kern="100" dirty="0">
                          <a:effectLst/>
                        </a:rPr>
                        <a:t>Verification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26040320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26040310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WIP REWORK</a:t>
                      </a:r>
                      <a:endParaRPr lang="zh-TW" altLang="en-US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李治中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2026/1/26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2026/1/26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 WIP REWORK</a:t>
                      </a: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7210" y="1509818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3.1 </a:t>
            </a:r>
            <a:r>
              <a:rPr lang="zh-TW" altLang="en-US" sz="1600" b="1" dirty="0">
                <a:solidFill>
                  <a:srgbClr val="0000FF"/>
                </a:solidFill>
              </a:rPr>
              <a:t>異常產品 </a:t>
            </a:r>
            <a:r>
              <a:rPr lang="en-US" altLang="zh-TW" sz="1600" b="1" dirty="0">
                <a:solidFill>
                  <a:srgbClr val="0000FF"/>
                </a:solidFill>
              </a:rPr>
              <a:t>(Defect Lots)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7210" y="3501008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3.2 </a:t>
            </a:r>
            <a:r>
              <a:rPr lang="zh-TW" altLang="en-US" sz="1600" b="1" dirty="0">
                <a:solidFill>
                  <a:srgbClr val="0000FF"/>
                </a:solidFill>
              </a:rPr>
              <a:t>波及產品 </a:t>
            </a:r>
            <a:r>
              <a:rPr lang="en-US" altLang="zh-TW" sz="1600" b="1" dirty="0">
                <a:solidFill>
                  <a:srgbClr val="0000FF"/>
                </a:solidFill>
              </a:rPr>
              <a:t>(Impact Lots)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986198"/>
              </p:ext>
            </p:extLst>
          </p:nvPr>
        </p:nvGraphicFramePr>
        <p:xfrm>
          <a:off x="701569" y="3933873"/>
          <a:ext cx="8325923" cy="11887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208741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1336381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685349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948006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  <a:gridCol w="965164">
                  <a:extLst>
                    <a:ext uri="{9D8B030D-6E8A-4147-A177-3AD203B41FA5}">
                      <a16:colId xmlns:a16="http://schemas.microsoft.com/office/drawing/2014/main" val="2331622569"/>
                    </a:ext>
                  </a:extLst>
                </a:gridCol>
                <a:gridCol w="2182282">
                  <a:extLst>
                    <a:ext uri="{9D8B030D-6E8A-4147-A177-3AD203B41FA5}">
                      <a16:colId xmlns:a16="http://schemas.microsoft.com/office/drawing/2014/main" val="2477096594"/>
                    </a:ext>
                  </a:extLst>
                </a:gridCol>
              </a:tblGrid>
              <a:tr h="32545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項目 </a:t>
                      </a:r>
                      <a:r>
                        <a:rPr lang="en-US" sz="1200" b="0" kern="100" dirty="0">
                          <a:effectLst/>
                        </a:rPr>
                        <a:t>Item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處理方式</a:t>
                      </a:r>
                      <a:r>
                        <a:rPr lang="en-US" sz="1200" b="0" kern="100" dirty="0">
                          <a:effectLst/>
                        </a:rPr>
                        <a:t> Action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負責人員 </a:t>
                      </a:r>
                      <a:r>
                        <a:rPr lang="en-US" sz="1200" b="0" kern="100" dirty="0" err="1">
                          <a:effectLst/>
                        </a:rPr>
                        <a:t>Resp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預定完成日 </a:t>
                      </a:r>
                      <a:r>
                        <a:rPr lang="en-US" sz="1200" b="0" kern="100" dirty="0">
                          <a:effectLst/>
                        </a:rPr>
                        <a:t>Due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實際完成日</a:t>
                      </a:r>
                      <a:r>
                        <a:rPr lang="en-US" sz="1200" b="0" kern="100" dirty="0">
                          <a:effectLst/>
                        </a:rPr>
                        <a:t>  Imp.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處理結果 </a:t>
                      </a:r>
                      <a:r>
                        <a:rPr lang="en-US" sz="1200" b="0" kern="100" dirty="0">
                          <a:effectLst/>
                        </a:rPr>
                        <a:t>Verification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5695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altLang="zh-TW" sz="12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indent="0">
                        <a:buNone/>
                      </a:pPr>
                      <a:r>
                        <a:rPr lang="zh-TW" altLang="en-US" sz="12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共 </a:t>
                      </a:r>
                      <a:r>
                        <a:rPr lang="en-US" altLang="zh-TW" sz="12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  <a:r>
                        <a:rPr lang="zh-TW" altLang="en-US" sz="12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批 </a:t>
                      </a:r>
                      <a:r>
                        <a:rPr lang="en-US" altLang="zh-TW" sz="12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150</a:t>
                      </a:r>
                      <a:r>
                        <a:rPr lang="zh-TW" altLang="en-US" sz="12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片產品 </a:t>
                      </a:r>
                      <a:r>
                        <a:rPr lang="en-US" altLang="zh-TW" sz="12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thermal </a:t>
                      </a:r>
                      <a:r>
                        <a:rPr lang="zh-TW" altLang="en-US" sz="12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不足 </a:t>
                      </a:r>
                      <a:endParaRPr lang="en-US" altLang="zh-TW" sz="12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indent="0">
                        <a:buNone/>
                      </a:pPr>
                      <a:endParaRPr lang="zh-TW" altLang="en-US" sz="12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新建 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RKW </a:t>
                      </a:r>
                      <a:r>
                        <a:rPr lang="zh-TW" altLang="en-US" sz="12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程式將 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thermal</a:t>
                      </a:r>
                      <a:r>
                        <a:rPr lang="zh-TW" altLang="en-US" sz="12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補足</a:t>
                      </a: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2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賴瑞澤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2026/01/25</a:t>
                      </a:r>
                      <a:endParaRPr lang="zh-TW" altLang="en-US" sz="12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2026/1/26</a:t>
                      </a:r>
                      <a:endParaRPr lang="zh-TW" altLang="en-US" sz="12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 RWK recipe ok</a:t>
                      </a:r>
                    </a:p>
                    <a:p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FH.9950 WAT check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1695974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60521" y="558382"/>
            <a:ext cx="873097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3.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執行及驗證暫時防堵對策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Contain the Problem</a:t>
            </a:r>
          </a:p>
          <a:p>
            <a:pPr>
              <a:defRPr/>
            </a:pPr>
            <a:r>
              <a:rPr lang="en-US" altLang="zh-TW" sz="1400" b="1" dirty="0">
                <a:solidFill>
                  <a:srgbClr val="4D4D4D"/>
                </a:solidFill>
                <a:latin typeface="+mn-lt"/>
                <a:ea typeface="新細明體" pitchFamily="18" charset="-120"/>
              </a:rPr>
              <a:t>(Define and implement containment actions to </a:t>
            </a:r>
            <a:r>
              <a:rPr lang="en-US" altLang="zh-TW" sz="1400" b="1" dirty="0">
                <a:solidFill>
                  <a:srgbClr val="FF0000"/>
                </a:solidFill>
                <a:latin typeface="+mn-lt"/>
                <a:ea typeface="新細明體" pitchFamily="18" charset="-120"/>
              </a:rPr>
              <a:t>isolate</a:t>
            </a:r>
            <a:r>
              <a:rPr lang="en-US" altLang="zh-TW" sz="1400" b="1" dirty="0">
                <a:solidFill>
                  <a:srgbClr val="4D4D4D"/>
                </a:solidFill>
                <a:latin typeface="+mn-lt"/>
                <a:ea typeface="新細明體" pitchFamily="18" charset="-120"/>
              </a:rPr>
              <a:t> the effect of problem from any internal/external customer until corrective action is implemented)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1593" y="3374533"/>
            <a:ext cx="834527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3.4</a:t>
            </a:r>
            <a:r>
              <a:rPr lang="zh-TW" altLang="en-US" sz="1600" b="1" dirty="0">
                <a:solidFill>
                  <a:srgbClr val="0000FF"/>
                </a:solidFill>
              </a:rPr>
              <a:t> 波及製程 </a:t>
            </a:r>
            <a:r>
              <a:rPr lang="en-US" altLang="zh-TW" sz="1600" b="1" dirty="0">
                <a:solidFill>
                  <a:srgbClr val="0000FF"/>
                </a:solidFill>
              </a:rPr>
              <a:t>(Impact Route) : </a:t>
            </a:r>
            <a:r>
              <a:rPr lang="zh-TW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否</a:t>
            </a:r>
            <a:r>
              <a:rPr lang="en-US" altLang="zh-TW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(No)</a:t>
            </a:r>
            <a:r>
              <a:rPr lang="zh-TW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endParaRPr lang="en-US" altLang="zh-TW" sz="1600" b="1" dirty="0">
              <a:solidFill>
                <a:srgbClr val="0000FF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81593" y="4670675"/>
            <a:ext cx="81009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3.5 </a:t>
            </a:r>
            <a:r>
              <a:rPr lang="zh-TW" altLang="en-US" sz="1600" b="1" dirty="0">
                <a:solidFill>
                  <a:srgbClr val="0000FF"/>
                </a:solidFill>
              </a:rPr>
              <a:t>產品召回選項，是否需進行客戶端波及產品的召回</a:t>
            </a:r>
            <a:r>
              <a:rPr lang="en-US" altLang="zh-TW" sz="1600" b="1" dirty="0">
                <a:solidFill>
                  <a:srgbClr val="0000FF"/>
                </a:solidFill>
              </a:rPr>
              <a:t>?</a:t>
            </a:r>
            <a:r>
              <a:rPr lang="zh-TW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zh-TW" altLang="en-US" sz="1600" b="1" dirty="0"/>
              <a:t>否</a:t>
            </a:r>
            <a:r>
              <a:rPr lang="en-US" altLang="zh-TW" sz="1600" b="1" dirty="0"/>
              <a:t>(No)</a:t>
            </a:r>
            <a:r>
              <a:rPr lang="zh-TW" altLang="en-US" sz="1600" b="1" dirty="0"/>
              <a:t> </a:t>
            </a:r>
            <a:endParaRPr lang="en-US" altLang="zh-TW" sz="1600" b="1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96133" y="5126122"/>
          <a:ext cx="8285646" cy="70465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61703">
                  <a:extLst>
                    <a:ext uri="{9D8B030D-6E8A-4147-A177-3AD203B41FA5}">
                      <a16:colId xmlns:a16="http://schemas.microsoft.com/office/drawing/2014/main" val="86909870"/>
                    </a:ext>
                  </a:extLst>
                </a:gridCol>
                <a:gridCol w="1861703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3078971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1483269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</a:tblGrid>
              <a:tr h="33381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200" b="0" kern="100" dirty="0">
                          <a:effectLst/>
                        </a:rPr>
                        <a:t>Customer</a:t>
                      </a:r>
                      <a:endParaRPr lang="zh-TW" sz="1200" b="0" kern="100" dirty="0"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200" b="0" kern="100" dirty="0">
                          <a:effectLst/>
                        </a:rPr>
                        <a:t>Product No.</a:t>
                      </a:r>
                      <a:endParaRPr lang="zh-TW" sz="1200" b="0" kern="100" dirty="0"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200" b="0" kern="100" dirty="0">
                          <a:effectLst/>
                        </a:rPr>
                        <a:t>Lot</a:t>
                      </a:r>
                      <a:r>
                        <a:rPr lang="en-US" altLang="zh-TW" sz="1200" b="0" kern="100" baseline="0" dirty="0">
                          <a:effectLst/>
                        </a:rPr>
                        <a:t> number / Wafer number</a:t>
                      </a:r>
                      <a:endParaRPr lang="zh-TW" sz="1200" b="0" kern="100" dirty="0"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200" b="0" kern="100" dirty="0">
                          <a:effectLst/>
                        </a:rPr>
                        <a:t>Approx.</a:t>
                      </a:r>
                      <a:r>
                        <a:rPr lang="en-US" altLang="zh-TW" sz="1200" b="0" kern="100" baseline="0" dirty="0">
                          <a:effectLst/>
                        </a:rPr>
                        <a:t> Quantity</a:t>
                      </a:r>
                      <a:endParaRPr lang="zh-TW" sz="1200" b="0" kern="100" dirty="0"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NA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NA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NA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NA</a:t>
                      </a: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81593" y="1727270"/>
            <a:ext cx="676109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3.3</a:t>
            </a:r>
            <a:r>
              <a:rPr lang="zh-TW" altLang="en-US" sz="1600" b="1" dirty="0">
                <a:solidFill>
                  <a:srgbClr val="0000FF"/>
                </a:solidFill>
              </a:rPr>
              <a:t> 波及設備 </a:t>
            </a:r>
            <a:r>
              <a:rPr lang="en-US" altLang="zh-TW" sz="1600" b="1" dirty="0">
                <a:solidFill>
                  <a:srgbClr val="0000FF"/>
                </a:solidFill>
              </a:rPr>
              <a:t>(Impact Machine)</a:t>
            </a:r>
            <a:r>
              <a:rPr lang="zh-TW" altLang="en-US" sz="1600" b="1" dirty="0">
                <a:solidFill>
                  <a:srgbClr val="0000FF"/>
                </a:solidFill>
              </a:rPr>
              <a:t> </a:t>
            </a:r>
            <a:endParaRPr lang="en-US" altLang="zh-TW" sz="1600" b="1" dirty="0">
              <a:solidFill>
                <a:srgbClr val="0000FF"/>
              </a:solidFill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511190"/>
              </p:ext>
            </p:extLst>
          </p:nvPr>
        </p:nvGraphicFramePr>
        <p:xfrm>
          <a:off x="488258" y="2124336"/>
          <a:ext cx="8404223" cy="1005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80564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1510070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1211327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1325449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  <a:gridCol w="1331655">
                  <a:extLst>
                    <a:ext uri="{9D8B030D-6E8A-4147-A177-3AD203B41FA5}">
                      <a16:colId xmlns:a16="http://schemas.microsoft.com/office/drawing/2014/main" val="2331622569"/>
                    </a:ext>
                  </a:extLst>
                </a:gridCol>
                <a:gridCol w="2145158">
                  <a:extLst>
                    <a:ext uri="{9D8B030D-6E8A-4147-A177-3AD203B41FA5}">
                      <a16:colId xmlns:a16="http://schemas.microsoft.com/office/drawing/2014/main" val="2477096594"/>
                    </a:ext>
                  </a:extLst>
                </a:gridCol>
              </a:tblGrid>
              <a:tr h="12020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項目 </a:t>
                      </a:r>
                      <a:r>
                        <a:rPr lang="en-US" sz="1200" b="0" kern="100" dirty="0">
                          <a:effectLst/>
                        </a:rPr>
                        <a:t>Item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處理方式</a:t>
                      </a:r>
                      <a:r>
                        <a:rPr lang="en-US" sz="1200" b="0" kern="100" dirty="0">
                          <a:effectLst/>
                        </a:rPr>
                        <a:t> Action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負責人員 </a:t>
                      </a:r>
                      <a:r>
                        <a:rPr lang="en-US" sz="1200" b="0" kern="100" dirty="0" err="1">
                          <a:effectLst/>
                        </a:rPr>
                        <a:t>Resp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預定完成日 </a:t>
                      </a:r>
                      <a:r>
                        <a:rPr lang="en-US" sz="1200" b="0" kern="100" dirty="0">
                          <a:effectLst/>
                        </a:rPr>
                        <a:t>Due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實際完成日</a:t>
                      </a:r>
                      <a:r>
                        <a:rPr lang="en-US" sz="1200" b="0" kern="100" dirty="0">
                          <a:effectLst/>
                        </a:rPr>
                        <a:t>  Imp.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處理結果 </a:t>
                      </a:r>
                      <a:r>
                        <a:rPr lang="en-US" sz="1200" b="0" kern="100" dirty="0">
                          <a:effectLst/>
                        </a:rPr>
                        <a:t>Verification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5409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F24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將 </a:t>
                      </a:r>
                      <a:r>
                        <a:rPr lang="en-US" altLang="zh-TW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heater TOP cable </a:t>
                      </a:r>
                      <a:r>
                        <a:rPr lang="zh-TW" altLang="en-US" sz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端子重新壓接重鎖</a:t>
                      </a:r>
                      <a:endParaRPr lang="en-US" altLang="zh-TW" sz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S220</a:t>
                      </a:r>
                      <a:r>
                        <a:rPr lang="zh-TW" altLang="en-US" sz="1200" dirty="0"/>
                        <a:t> </a:t>
                      </a:r>
                      <a:r>
                        <a:rPr lang="en-US" altLang="zh-TW" sz="1200" dirty="0"/>
                        <a:t>EQ</a:t>
                      </a:r>
                      <a:endParaRPr lang="zh-TW" altLang="en-US" sz="12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2026/01/25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2026/01/25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鉤表勾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TOP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SCR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current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正常顯示。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2.Test run check BTM-1~TOP TEMP. stable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。</a:t>
                      </a:r>
                      <a:endParaRPr lang="en-US" altLang="zh-TW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96133" y="3829979"/>
          <a:ext cx="8285646" cy="72380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68139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1256032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1403801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1329917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  <a:gridCol w="1329917">
                  <a:extLst>
                    <a:ext uri="{9D8B030D-6E8A-4147-A177-3AD203B41FA5}">
                      <a16:colId xmlns:a16="http://schemas.microsoft.com/office/drawing/2014/main" val="2331622569"/>
                    </a:ext>
                  </a:extLst>
                </a:gridCol>
                <a:gridCol w="2097840">
                  <a:extLst>
                    <a:ext uri="{9D8B030D-6E8A-4147-A177-3AD203B41FA5}">
                      <a16:colId xmlns:a16="http://schemas.microsoft.com/office/drawing/2014/main" val="2477096594"/>
                    </a:ext>
                  </a:extLst>
                </a:gridCol>
              </a:tblGrid>
              <a:tr h="12020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項目 </a:t>
                      </a:r>
                      <a:r>
                        <a:rPr lang="en-US" sz="1200" b="0" kern="100" dirty="0">
                          <a:effectLst/>
                        </a:rPr>
                        <a:t>Item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處理方式</a:t>
                      </a:r>
                      <a:r>
                        <a:rPr lang="en-US" sz="1200" b="0" kern="100" dirty="0">
                          <a:effectLst/>
                        </a:rPr>
                        <a:t> Action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負責人員 </a:t>
                      </a:r>
                      <a:r>
                        <a:rPr lang="en-US" sz="1200" b="0" kern="100" dirty="0" err="1">
                          <a:effectLst/>
                        </a:rPr>
                        <a:t>Resp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預定完成日 </a:t>
                      </a:r>
                      <a:r>
                        <a:rPr lang="en-US" sz="1200" b="0" kern="100" dirty="0">
                          <a:effectLst/>
                        </a:rPr>
                        <a:t>Due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實際完成日</a:t>
                      </a:r>
                      <a:r>
                        <a:rPr lang="en-US" sz="1200" b="0" kern="100" dirty="0">
                          <a:effectLst/>
                        </a:rPr>
                        <a:t>  Imp.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b="0" kern="100" dirty="0">
                          <a:effectLst/>
                        </a:rPr>
                        <a:t>處理結果 </a:t>
                      </a:r>
                      <a:r>
                        <a:rPr lang="en-US" sz="1200" b="0" kern="100" dirty="0">
                          <a:effectLst/>
                        </a:rPr>
                        <a:t>Verification</a:t>
                      </a:r>
                      <a:endParaRPr lang="zh-TW" sz="1200" b="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5409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TW" sz="1200" dirty="0"/>
                        <a:t>NA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NA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NA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NA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NA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NA</a:t>
                      </a: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6200991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39B9CA56-DEB0-4CD3-C9D7-BC5AD9C502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173965"/>
              </p:ext>
            </p:extLst>
          </p:nvPr>
        </p:nvGraphicFramePr>
        <p:xfrm>
          <a:off x="5083916" y="1465273"/>
          <a:ext cx="4060084" cy="2796828"/>
        </p:xfrm>
        <a:graphic>
          <a:graphicData uri="http://schemas.openxmlformats.org/drawingml/2006/table">
            <a:tbl>
              <a:tblPr/>
              <a:tblGrid>
                <a:gridCol w="580012">
                  <a:extLst>
                    <a:ext uri="{9D8B030D-6E8A-4147-A177-3AD203B41FA5}">
                      <a16:colId xmlns:a16="http://schemas.microsoft.com/office/drawing/2014/main" val="3351759324"/>
                    </a:ext>
                  </a:extLst>
                </a:gridCol>
                <a:gridCol w="580012">
                  <a:extLst>
                    <a:ext uri="{9D8B030D-6E8A-4147-A177-3AD203B41FA5}">
                      <a16:colId xmlns:a16="http://schemas.microsoft.com/office/drawing/2014/main" val="819224379"/>
                    </a:ext>
                  </a:extLst>
                </a:gridCol>
                <a:gridCol w="580012">
                  <a:extLst>
                    <a:ext uri="{9D8B030D-6E8A-4147-A177-3AD203B41FA5}">
                      <a16:colId xmlns:a16="http://schemas.microsoft.com/office/drawing/2014/main" val="1362907471"/>
                    </a:ext>
                  </a:extLst>
                </a:gridCol>
                <a:gridCol w="580012">
                  <a:extLst>
                    <a:ext uri="{9D8B030D-6E8A-4147-A177-3AD203B41FA5}">
                      <a16:colId xmlns:a16="http://schemas.microsoft.com/office/drawing/2014/main" val="1709058968"/>
                    </a:ext>
                  </a:extLst>
                </a:gridCol>
                <a:gridCol w="580012">
                  <a:extLst>
                    <a:ext uri="{9D8B030D-6E8A-4147-A177-3AD203B41FA5}">
                      <a16:colId xmlns:a16="http://schemas.microsoft.com/office/drawing/2014/main" val="4132840278"/>
                    </a:ext>
                  </a:extLst>
                </a:gridCol>
                <a:gridCol w="580012">
                  <a:extLst>
                    <a:ext uri="{9D8B030D-6E8A-4147-A177-3AD203B41FA5}">
                      <a16:colId xmlns:a16="http://schemas.microsoft.com/office/drawing/2014/main" val="3502847783"/>
                    </a:ext>
                  </a:extLst>
                </a:gridCol>
                <a:gridCol w="580012">
                  <a:extLst>
                    <a:ext uri="{9D8B030D-6E8A-4147-A177-3AD203B41FA5}">
                      <a16:colId xmlns:a16="http://schemas.microsoft.com/office/drawing/2014/main" val="1916050301"/>
                    </a:ext>
                  </a:extLst>
                </a:gridCol>
              </a:tblGrid>
              <a:tr h="1127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STEP NO.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3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細明體" panose="02020509000000000000" pitchFamily="49" charset="-120"/>
                        <a:ea typeface="細明體" panose="02020509000000000000" pitchFamily="49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4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細明體" panose="02020509000000000000" pitchFamily="49" charset="-120"/>
                        <a:ea typeface="細明體" panose="02020509000000000000" pitchFamily="49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5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細明體" panose="02020509000000000000" pitchFamily="49" charset="-120"/>
                        <a:ea typeface="細明體" panose="02020509000000000000" pitchFamily="49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細明體" panose="02020509000000000000" pitchFamily="49" charset="-120"/>
                        <a:ea typeface="細明體" panose="02020509000000000000" pitchFamily="49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8638671"/>
                  </a:ext>
                </a:extLst>
              </a:tr>
              <a:tr h="2188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DESCRIPTION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BOAT IN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RAMP UP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RAMP UP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DRIVE-IN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RAMP DOWN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BOAT OUT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320066"/>
                  </a:ext>
                </a:extLst>
              </a:tr>
              <a:tr h="1127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940175"/>
                  </a:ext>
                </a:extLst>
              </a:tr>
              <a:tr h="1127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TIME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10'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10'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60'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00:48:18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133'20"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511544"/>
                  </a:ext>
                </a:extLst>
              </a:tr>
              <a:tr h="2188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TEMPERATURE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779537"/>
                  </a:ext>
                </a:extLst>
              </a:tr>
              <a:tr h="1127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PROFILE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483284"/>
                  </a:ext>
                </a:extLst>
              </a:tr>
              <a:tr h="1127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1200 ℃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BlToT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677685"/>
                  </a:ext>
                </a:extLst>
              </a:tr>
              <a:tr h="1127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968667"/>
                  </a:ext>
                </a:extLst>
              </a:tr>
              <a:tr h="1127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900 ℃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674885"/>
                  </a:ext>
                </a:extLst>
              </a:tr>
              <a:tr h="1127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BlToT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619718"/>
                  </a:ext>
                </a:extLst>
              </a:tr>
              <a:tr h="1127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800 ℃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205329"/>
                  </a:ext>
                </a:extLst>
              </a:tr>
              <a:tr h="1127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936390"/>
                  </a:ext>
                </a:extLst>
              </a:tr>
              <a:tr h="2123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Temperature null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31507"/>
                  </a:ext>
                </a:extLst>
              </a:tr>
              <a:tr h="1127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N2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10L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50">
                      <a:fgClr>
                        <a:srgbClr val="000000"/>
                      </a:fgClr>
                      <a:bgClr>
                        <a:srgbClr val="999999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10L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50">
                      <a:fgClr>
                        <a:srgbClr val="000000"/>
                      </a:fgClr>
                      <a:bgClr>
                        <a:srgbClr val="999999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10L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50">
                      <a:fgClr>
                        <a:srgbClr val="000000"/>
                      </a:fgClr>
                      <a:bgClr>
                        <a:srgbClr val="999999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10L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50">
                      <a:fgClr>
                        <a:srgbClr val="000000"/>
                      </a:fgClr>
                      <a:bgClr>
                        <a:srgbClr val="999999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10L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50">
                      <a:fgClr>
                        <a:srgbClr val="000000"/>
                      </a:fgClr>
                      <a:bgClr>
                        <a:srgbClr val="999999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10L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50">
                      <a:fgClr>
                        <a:srgbClr val="000000"/>
                      </a:fgClr>
                      <a:bgClr>
                        <a:srgbClr val="999999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3319182947"/>
                  </a:ext>
                </a:extLst>
              </a:tr>
              <a:tr h="1127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O2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542289"/>
                  </a:ext>
                </a:extLst>
              </a:tr>
              <a:tr h="1127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H2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415584"/>
                  </a:ext>
                </a:extLst>
              </a:tr>
              <a:tr h="1127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T-LC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3280569"/>
                  </a:ext>
                </a:extLst>
              </a:tr>
              <a:tr h="1127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sO2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0.3L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50">
                      <a:fgClr>
                        <a:srgbClr val="000000"/>
                      </a:fgClr>
                      <a:bgClr>
                        <a:srgbClr val="999999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0.3L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50">
                      <a:fgClr>
                        <a:srgbClr val="000000"/>
                      </a:fgClr>
                      <a:bgClr>
                        <a:srgbClr val="999999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細明體" panose="02020509000000000000" pitchFamily="49" charset="-120"/>
                          <a:ea typeface="細明體" panose="02020509000000000000" pitchFamily="49" charset="-12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700932"/>
                  </a:ext>
                </a:extLst>
              </a:tr>
              <a:tr h="1339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1771116"/>
                  </a:ext>
                </a:extLst>
              </a:tr>
            </a:tbl>
          </a:graphicData>
        </a:graphic>
      </p:graphicFrame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0B2432-A20E-4E26-94E6-104434F1F062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179512" y="3919696"/>
            <a:ext cx="8005205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Action :</a:t>
            </a:r>
          </a:p>
          <a:p>
            <a:pPr marL="179388" indent="-179388">
              <a:buFont typeface="+mj-lt"/>
              <a:buAutoNum type="arabicPeriod"/>
            </a:pPr>
            <a:r>
              <a:rPr lang="zh-TW" altLang="en-US" sz="1400" dirty="0"/>
              <a:t>量測</a:t>
            </a:r>
            <a:r>
              <a:rPr lang="en-US" altLang="zh-TW" sz="1400" dirty="0"/>
              <a:t>MW</a:t>
            </a:r>
            <a:r>
              <a:rPr lang="zh-TW" altLang="en-US" sz="1400" dirty="0"/>
              <a:t> 厚度</a:t>
            </a:r>
            <a:r>
              <a:rPr lang="en-US" altLang="zh-TW" sz="1400" dirty="0"/>
              <a:t>601.66/607.69/614.12/597.05/615.26</a:t>
            </a:r>
            <a:r>
              <a:rPr lang="zh-TW" altLang="en-US" sz="1400" dirty="0"/>
              <a:t> </a:t>
            </a:r>
            <a:r>
              <a:rPr lang="en-US" altLang="zh-TW" sz="1400" dirty="0"/>
              <a:t>AVERAGE:607 Å</a:t>
            </a:r>
            <a:r>
              <a:rPr lang="zh-TW" altLang="en-US" sz="1400" dirty="0"/>
              <a:t> </a:t>
            </a:r>
            <a:endParaRPr lang="en-US" altLang="zh-TW" sz="1400" dirty="0"/>
          </a:p>
          <a:p>
            <a:pPr marL="228600" indent="-228600">
              <a:buFontTx/>
              <a:buAutoNum type="arabicPeriod"/>
            </a:pPr>
            <a:r>
              <a:rPr lang="en-US" altLang="zh-TW" sz="1400" dirty="0"/>
              <a:t>F24I38 Step 7  </a:t>
            </a:r>
            <a:r>
              <a:rPr lang="zh-TW" altLang="en-US" sz="1400" dirty="0"/>
              <a:t>共 </a:t>
            </a:r>
            <a:r>
              <a:rPr lang="en-US" altLang="zh-TW" sz="1400" dirty="0"/>
              <a:t>9</a:t>
            </a:r>
            <a:r>
              <a:rPr lang="zh-TW" altLang="en-US" sz="1400" dirty="0"/>
              <a:t>小時</a:t>
            </a:r>
            <a:r>
              <a:rPr lang="en-US" altLang="zh-TW" sz="1400" dirty="0"/>
              <a:t>,STEP.7 </a:t>
            </a:r>
            <a:r>
              <a:rPr lang="zh-TW" altLang="en-US" sz="1400" dirty="0"/>
              <a:t>剩</a:t>
            </a:r>
            <a:r>
              <a:rPr lang="en-US" sz="1400" dirty="0"/>
              <a:t>01:12:42</a:t>
            </a:r>
            <a:r>
              <a:rPr lang="zh-TW" altLang="en-US" sz="1400" dirty="0"/>
              <a:t>扣除重複升降溫 </a:t>
            </a:r>
            <a:r>
              <a:rPr lang="en-US" altLang="zh-TW" sz="1400" dirty="0"/>
              <a:t>thermal , RWK</a:t>
            </a:r>
            <a:r>
              <a:rPr lang="zh-TW" altLang="en-US" sz="1400" dirty="0"/>
              <a:t> 程式共補 </a:t>
            </a:r>
            <a:r>
              <a:rPr lang="en-US" altLang="zh-TW" sz="1400" dirty="0"/>
              <a:t>Drive in </a:t>
            </a:r>
            <a:r>
              <a:rPr lang="en-US" sz="1400" dirty="0"/>
              <a:t>00:48:18</a:t>
            </a:r>
            <a:r>
              <a:rPr lang="zh-TW" altLang="en-US" sz="1400" dirty="0"/>
              <a:t> </a:t>
            </a:r>
            <a:r>
              <a:rPr lang="en-US" altLang="zh-TW" sz="1400" dirty="0"/>
              <a:t>.</a:t>
            </a:r>
          </a:p>
          <a:p>
            <a:pPr marL="228600" indent="-228600">
              <a:buAutoNum type="arabicPeriod"/>
            </a:pPr>
            <a:endParaRPr lang="en-US" altLang="zh-TW" sz="1400" dirty="0"/>
          </a:p>
          <a:p>
            <a:pPr marL="228600" indent="-228600">
              <a:buAutoNum type="arabicPeriod"/>
            </a:pPr>
            <a:endParaRPr lang="en-US" altLang="zh-TW" sz="1400" dirty="0"/>
          </a:p>
          <a:p>
            <a:pPr marL="228600" indent="-228600">
              <a:buAutoNum type="arabicPeriod"/>
            </a:pPr>
            <a:endParaRPr lang="en-US" altLang="zh-TW" sz="1400" dirty="0"/>
          </a:p>
          <a:p>
            <a:pPr marL="228600" indent="-228600">
              <a:buAutoNum type="arabicPeriod"/>
            </a:pPr>
            <a:r>
              <a:rPr lang="zh-TW" altLang="en-US" sz="1400" dirty="0"/>
              <a:t>產品預計安拍於 </a:t>
            </a:r>
            <a:r>
              <a:rPr lang="en-US" altLang="zh-TW" sz="1400" dirty="0"/>
              <a:t>F42 </a:t>
            </a:r>
            <a:r>
              <a:rPr lang="zh-TW" altLang="en-US" sz="1400" dirty="0"/>
              <a:t>機台進行 </a:t>
            </a:r>
            <a:r>
              <a:rPr lang="en-US" altLang="zh-TW" sz="1400" dirty="0"/>
              <a:t>RWK</a:t>
            </a:r>
            <a:r>
              <a:rPr lang="zh-TW" altLang="en-US" sz="1400" dirty="0"/>
              <a:t>，建立</a:t>
            </a:r>
            <a:r>
              <a:rPr lang="en-US" altLang="zh-TW" sz="1400" dirty="0"/>
              <a:t>F42RWK</a:t>
            </a:r>
          </a:p>
          <a:p>
            <a:r>
              <a:rPr lang="en-US" altLang="zh-TW" sz="1400" dirty="0"/>
              <a:t>F42RWK: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/>
              <a:t>刪除</a:t>
            </a:r>
            <a:r>
              <a:rPr lang="en-US" altLang="zh-TW" sz="1400" dirty="0"/>
              <a:t>Step.3~5 oxidation</a:t>
            </a:r>
            <a:r>
              <a:rPr lang="zh-TW" altLang="en-US" sz="1400" dirty="0"/>
              <a:t> 步驟。</a:t>
            </a:r>
            <a:endParaRPr lang="en-US" altLang="zh-TW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/>
              <a:t>Drive in</a:t>
            </a:r>
            <a:r>
              <a:rPr lang="zh-TW" altLang="en-US" sz="1400" dirty="0"/>
              <a:t>步驟改為</a:t>
            </a:r>
            <a:r>
              <a:rPr lang="en-US" altLang="zh-TW" sz="1400" dirty="0"/>
              <a:t>0:48:18</a:t>
            </a:r>
            <a:r>
              <a:rPr lang="zh-TW" altLang="en-US" sz="1400" dirty="0"/>
              <a:t>。</a:t>
            </a:r>
            <a:endParaRPr lang="en-US" altLang="zh-TW" sz="1400" dirty="0"/>
          </a:p>
          <a:p>
            <a:pPr marL="342900" indent="-342900">
              <a:buFont typeface="+mj-lt"/>
              <a:buAutoNum type="arabicPeriod" startAt="4"/>
            </a:pPr>
            <a:r>
              <a:rPr lang="zh-TW" altLang="en-US" sz="1400" dirty="0">
                <a:solidFill>
                  <a:srgbClr val="0000FF"/>
                </a:solidFill>
              </a:rPr>
              <a:t>先補</a:t>
            </a:r>
            <a:r>
              <a:rPr lang="en-US" altLang="zh-TW" sz="1400" dirty="0">
                <a:solidFill>
                  <a:srgbClr val="0000FF"/>
                </a:solidFill>
              </a:rPr>
              <a:t>MW </a:t>
            </a:r>
            <a:r>
              <a:rPr lang="zh-TW" altLang="en-US" sz="1400" dirty="0">
                <a:solidFill>
                  <a:srgbClr val="0000FF"/>
                </a:solidFill>
              </a:rPr>
              <a:t>確認程式正常執行，待日班安排產品補</a:t>
            </a:r>
            <a:r>
              <a:rPr lang="en-US" altLang="zh-TW" sz="1400" dirty="0">
                <a:solidFill>
                  <a:srgbClr val="0000FF"/>
                </a:solidFill>
              </a:rPr>
              <a:t>RUN</a:t>
            </a:r>
            <a:r>
              <a:rPr lang="zh-TW" altLang="en-US" sz="1400" dirty="0">
                <a:solidFill>
                  <a:srgbClr val="0000FF"/>
                </a:solidFill>
              </a:rPr>
              <a:t>，補</a:t>
            </a:r>
            <a:r>
              <a:rPr lang="en-US" altLang="zh-TW" sz="1400" dirty="0">
                <a:solidFill>
                  <a:srgbClr val="0000FF"/>
                </a:solidFill>
              </a:rPr>
              <a:t>RUN</a:t>
            </a:r>
            <a:r>
              <a:rPr lang="zh-TW" altLang="en-US" sz="1400" dirty="0">
                <a:solidFill>
                  <a:srgbClr val="0000FF"/>
                </a:solidFill>
              </a:rPr>
              <a:t>後</a:t>
            </a:r>
            <a:r>
              <a:rPr lang="en-US" altLang="zh-TW" sz="1400" dirty="0">
                <a:solidFill>
                  <a:srgbClr val="0000FF"/>
                </a:solidFill>
              </a:rPr>
              <a:t>FH.</a:t>
            </a:r>
            <a:r>
              <a:rPr lang="zh-TW" altLang="en-US" sz="1400" dirty="0">
                <a:solidFill>
                  <a:srgbClr val="0000FF"/>
                </a:solidFill>
              </a:rPr>
              <a:t> </a:t>
            </a:r>
            <a:r>
              <a:rPr lang="en-US" altLang="zh-TW" sz="1400" dirty="0">
                <a:solidFill>
                  <a:srgbClr val="0000FF"/>
                </a:solidFill>
              </a:rPr>
              <a:t>9950</a:t>
            </a:r>
            <a:r>
              <a:rPr lang="zh-TW" altLang="en-US" sz="1400" dirty="0">
                <a:solidFill>
                  <a:srgbClr val="0000FF"/>
                </a:solidFill>
              </a:rPr>
              <a:t>  </a:t>
            </a:r>
            <a:r>
              <a:rPr lang="en-US" altLang="zh-TW" sz="1400" dirty="0" err="1">
                <a:solidFill>
                  <a:srgbClr val="0000FF"/>
                </a:solidFill>
              </a:rPr>
              <a:t>oper</a:t>
            </a:r>
            <a:r>
              <a:rPr lang="en-US" altLang="zh-TW" sz="1400" dirty="0">
                <a:solidFill>
                  <a:srgbClr val="0000FF"/>
                </a:solidFill>
              </a:rPr>
              <a:t>. </a:t>
            </a:r>
            <a:r>
              <a:rPr lang="zh-TW" altLang="en-US" sz="1400" dirty="0">
                <a:solidFill>
                  <a:srgbClr val="0000FF"/>
                </a:solidFill>
              </a:rPr>
              <a:t>確認 </a:t>
            </a:r>
            <a:r>
              <a:rPr lang="en-US" altLang="zh-TW" sz="1400" dirty="0">
                <a:solidFill>
                  <a:srgbClr val="0000FF"/>
                </a:solidFill>
              </a:rPr>
              <a:t>WAT</a:t>
            </a:r>
            <a:r>
              <a:rPr lang="zh-TW" altLang="en-US" sz="1400" dirty="0">
                <a:solidFill>
                  <a:srgbClr val="0000FF"/>
                </a:solidFill>
              </a:rPr>
              <a:t> </a:t>
            </a:r>
            <a:r>
              <a:rPr lang="en-US" altLang="zh-TW" sz="1400" dirty="0">
                <a:solidFill>
                  <a:srgbClr val="0000FF"/>
                </a:solidFill>
              </a:rPr>
              <a:t>data .</a:t>
            </a:r>
          </a:p>
          <a:p>
            <a:pPr marL="342900" indent="-342900">
              <a:buFont typeface="+mj-lt"/>
              <a:buAutoNum type="arabicPeriod" startAt="4"/>
            </a:pPr>
            <a:endParaRPr lang="en-US" altLang="zh-TW" sz="1400" dirty="0">
              <a:solidFill>
                <a:srgbClr val="0000FF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83974" y="1139951"/>
            <a:ext cx="167372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latin typeface="+mn-lt"/>
                <a:ea typeface="Arial Unicode MS" panose="020B0604020202020204" pitchFamily="34" charset="-120"/>
                <a:cs typeface="Arial Unicode MS" panose="020B0604020202020204" pitchFamily="34" charset="-120"/>
              </a:rPr>
              <a:t>F24I38 </a:t>
            </a:r>
            <a:r>
              <a:rPr lang="zh-TW" altLang="en-US" sz="1400" dirty="0">
                <a:latin typeface="+mn-lt"/>
                <a:ea typeface="Arial Unicode MS" panose="020B0604020202020204" pitchFamily="34" charset="-120"/>
                <a:cs typeface="Arial Unicode MS" panose="020B0604020202020204" pitchFamily="34" charset="-120"/>
              </a:rPr>
              <a:t>程式</a:t>
            </a:r>
            <a:r>
              <a:rPr lang="en-US" altLang="zh-TW" sz="1400" dirty="0">
                <a:latin typeface="+mn-lt"/>
                <a:ea typeface="Arial Unicode MS" panose="020B0604020202020204" pitchFamily="34" charset="-120"/>
                <a:cs typeface="Arial Unicode MS" panose="020B0604020202020204" pitchFamily="34" charset="-120"/>
              </a:rPr>
              <a:t>PROFILE</a:t>
            </a:r>
          </a:p>
        </p:txBody>
      </p:sp>
      <p:sp>
        <p:nvSpPr>
          <p:cNvPr id="9" name="矩形 8"/>
          <p:cNvSpPr/>
          <p:nvPr/>
        </p:nvSpPr>
        <p:spPr>
          <a:xfrm>
            <a:off x="5321288" y="1139951"/>
            <a:ext cx="15310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>
                <a:latin typeface="+mn-lt"/>
                <a:ea typeface="微軟正黑體" panose="020B0604030504040204" pitchFamily="34" charset="-120"/>
              </a:rPr>
              <a:t>RWK </a:t>
            </a:r>
            <a:r>
              <a:rPr lang="zh-TW" altLang="en-US" sz="1400" dirty="0">
                <a:latin typeface="+mn-lt"/>
                <a:ea typeface="微軟正黑體" panose="020B0604030504040204" pitchFamily="34" charset="-120"/>
              </a:rPr>
              <a:t>程式</a:t>
            </a:r>
            <a:r>
              <a:rPr lang="en-US" altLang="zh-TW" sz="1400" dirty="0">
                <a:latin typeface="+mn-lt"/>
                <a:ea typeface="微軟正黑體" panose="020B0604030504040204" pitchFamily="34" charset="-120"/>
              </a:rPr>
              <a:t>PROFILE</a:t>
            </a: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66" y="1521048"/>
            <a:ext cx="4773143" cy="2335736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707904" y="1399416"/>
            <a:ext cx="648072" cy="26303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7436272" y="1368525"/>
            <a:ext cx="592112" cy="28935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DA52C41-78BF-3A2F-E4CC-161630309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711784"/>
            <a:ext cx="5591175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2C2BE8D3-7431-79F5-FA6B-9DE861D5A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056" y="268951"/>
            <a:ext cx="873097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3.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執行及驗證暫時防堵對策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Contain the Problem</a:t>
            </a:r>
          </a:p>
          <a:p>
            <a:pPr>
              <a:defRPr/>
            </a:pPr>
            <a:r>
              <a:rPr lang="en-US" altLang="zh-TW" sz="1400" b="1" dirty="0">
                <a:solidFill>
                  <a:srgbClr val="4D4D4D"/>
                </a:solidFill>
                <a:latin typeface="+mj-lt"/>
                <a:ea typeface="新細明體" pitchFamily="18" charset="-120"/>
              </a:rPr>
              <a:t>(Define and implement containment actions to </a:t>
            </a:r>
            <a:r>
              <a:rPr lang="en-US" altLang="zh-TW" sz="1400" b="1" dirty="0">
                <a:solidFill>
                  <a:srgbClr val="FF0000"/>
                </a:solidFill>
                <a:latin typeface="+mj-lt"/>
                <a:ea typeface="新細明體" pitchFamily="18" charset="-120"/>
              </a:rPr>
              <a:t>isolate</a:t>
            </a:r>
            <a:r>
              <a:rPr lang="en-US" altLang="zh-TW" sz="1400" b="1" dirty="0">
                <a:solidFill>
                  <a:srgbClr val="4D4D4D"/>
                </a:solidFill>
                <a:latin typeface="+mj-lt"/>
                <a:ea typeface="新細明體" pitchFamily="18" charset="-120"/>
              </a:rPr>
              <a:t> the effect of problem from any internal/external customer until corrective action is implemented)</a:t>
            </a:r>
            <a:endParaRPr lang="zh-TW" altLang="en-US" sz="1400" b="1" dirty="0">
              <a:latin typeface="+mj-lt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98104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圖片 1">
            <a:extLst>
              <a:ext uri="{FF2B5EF4-FFF2-40B4-BE49-F238E27FC236}">
                <a16:creationId xmlns:a16="http://schemas.microsoft.com/office/drawing/2014/main" id="{CFED7284-A8BA-FAC0-5E5B-15C91280E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2996525"/>
            <a:ext cx="2519550" cy="3312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82D4F7E-98CE-2666-3E21-A3AF23D9A4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612" y="3089538"/>
            <a:ext cx="2828588" cy="2811751"/>
          </a:xfrm>
          <a:prstGeom prst="rect">
            <a:avLst/>
          </a:prstGeom>
        </p:spPr>
      </p:pic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7685" y="1052736"/>
            <a:ext cx="871481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pPr lvl="1"/>
            <a:r>
              <a:rPr lang="en-US" altLang="zh-TW" sz="1600" b="1" dirty="0">
                <a:solidFill>
                  <a:srgbClr val="0000FF"/>
                </a:solidFill>
              </a:rPr>
              <a:t>a) </a:t>
            </a:r>
            <a:r>
              <a:rPr lang="en-US" altLang="zh-TW" sz="1600" b="1" dirty="0">
                <a:solidFill>
                  <a:srgbClr val="C00000"/>
                </a:solidFill>
              </a:rPr>
              <a:t>Failure mechanism</a:t>
            </a:r>
            <a:r>
              <a:rPr lang="en-US" altLang="zh-TW" sz="1600" b="1" dirty="0">
                <a:solidFill>
                  <a:srgbClr val="0000FF"/>
                </a:solidFill>
              </a:rPr>
              <a:t>: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8016D21-0DC3-E179-2B57-D83C57DB0252}"/>
              </a:ext>
            </a:extLst>
          </p:cNvPr>
          <p:cNvSpPr txBox="1"/>
          <p:nvPr/>
        </p:nvSpPr>
        <p:spPr>
          <a:xfrm>
            <a:off x="611560" y="1637511"/>
            <a:ext cx="84609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F24</a:t>
            </a:r>
            <a:r>
              <a:rPr 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run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I38</a:t>
            </a:r>
            <a:r>
              <a:rPr 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step.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07</a:t>
            </a:r>
            <a:r>
              <a:rPr 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TEMP.5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abort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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C</a:t>
            </a:r>
            <a:r>
              <a:rPr lang="en-US" altLang="zh-TW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heck TOP</a:t>
            </a:r>
            <a:r>
              <a:rPr lang="zh-TW" alt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TEMP.</a:t>
            </a:r>
            <a:r>
              <a:rPr lang="zh-TW" altLang="en-US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實際值低於設定值 </a:t>
            </a:r>
            <a:r>
              <a:rPr lang="en-US" altLang="zh-TW" sz="1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20</a:t>
            </a:r>
            <a:r>
              <a:rPr 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°C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且持續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60sec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76814573-E9AB-41B0-BDB2-6C9C6D6F9905}"/>
              </a:ext>
            </a:extLst>
          </p:cNvPr>
          <p:cNvSpPr txBox="1"/>
          <p:nvPr/>
        </p:nvSpPr>
        <p:spPr>
          <a:xfrm>
            <a:off x="611560" y="2352798"/>
            <a:ext cx="84609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 startAt="2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Turun off 208V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Check heater TOP cable burnout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，使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SCR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無輸出，則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TOP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無法升溫。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E180BE29-9556-4FF4-A790-4BE1CE7F7452}"/>
              </a:ext>
            </a:extLst>
          </p:cNvPr>
          <p:cNvSpPr txBox="1"/>
          <p:nvPr/>
        </p:nvSpPr>
        <p:spPr>
          <a:xfrm>
            <a:off x="3995411" y="4498549"/>
            <a:ext cx="14393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Burnout</a:t>
            </a:r>
            <a:r>
              <a: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，使 </a:t>
            </a:r>
            <a:r>
              <a:rPr lang="en-US" altLang="zh-TW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TOP</a:t>
            </a:r>
            <a:r>
              <a: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SCR</a:t>
            </a:r>
            <a:r>
              <a:rPr lang="zh-TW" altLang="en-US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current=0A</a:t>
            </a:r>
            <a:endParaRPr lang="en-US" sz="1200" b="1" dirty="0">
              <a:solidFill>
                <a:srgbClr val="FF0000"/>
              </a:solidFill>
            </a:endParaRPr>
          </a:p>
        </p:txBody>
      </p: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7ECD27F6-3BD0-472E-9C0A-DF98A893A201}"/>
              </a:ext>
            </a:extLst>
          </p:cNvPr>
          <p:cNvCxnSpPr>
            <a:cxnSpLocks/>
          </p:cNvCxnSpPr>
          <p:nvPr/>
        </p:nvCxnSpPr>
        <p:spPr>
          <a:xfrm>
            <a:off x="2489575" y="4650777"/>
            <a:ext cx="3954633" cy="10764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橢圓 9">
            <a:extLst>
              <a:ext uri="{FF2B5EF4-FFF2-40B4-BE49-F238E27FC236}">
                <a16:creationId xmlns:a16="http://schemas.microsoft.com/office/drawing/2014/main" id="{AE8E00DC-4B5F-A244-3A75-6AD40543B850}"/>
              </a:ext>
            </a:extLst>
          </p:cNvPr>
          <p:cNvSpPr/>
          <p:nvPr/>
        </p:nvSpPr>
        <p:spPr>
          <a:xfrm>
            <a:off x="1475656" y="4258568"/>
            <a:ext cx="1008112" cy="7844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503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7685" y="1052736"/>
            <a:ext cx="824172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r>
              <a:rPr lang="en-US" altLang="zh-TW" sz="1600" dirty="0"/>
              <a:t>         </a:t>
            </a:r>
            <a:r>
              <a:rPr lang="en-US" altLang="zh-TW" sz="1600" b="1" dirty="0">
                <a:solidFill>
                  <a:srgbClr val="0000FF"/>
                </a:solidFill>
              </a:rPr>
              <a:t>b) </a:t>
            </a:r>
            <a:r>
              <a:rPr lang="zh-TW" altLang="en-US" sz="1600" b="1" dirty="0">
                <a:solidFill>
                  <a:srgbClr val="0000FF"/>
                </a:solidFill>
              </a:rPr>
              <a:t>列出所有可能的原因 </a:t>
            </a:r>
            <a:r>
              <a:rPr lang="en-US" altLang="zh-TW" sz="1600" b="1" dirty="0">
                <a:solidFill>
                  <a:srgbClr val="0000FF"/>
                </a:solidFill>
              </a:rPr>
              <a:t>(Probable Causes/Factors): </a:t>
            </a:r>
            <a:r>
              <a:rPr lang="en-US" altLang="zh-TW" sz="1600" b="1" dirty="0">
                <a:solidFill>
                  <a:srgbClr val="FF0000"/>
                </a:solidFill>
              </a:rPr>
              <a:t>Non-conformance</a:t>
            </a:r>
          </a:p>
          <a:p>
            <a:pPr lvl="1"/>
            <a:r>
              <a:rPr lang="zh-TW" altLang="en-US" sz="1200" b="1" dirty="0">
                <a:solidFill>
                  <a:srgbClr val="0000FF"/>
                </a:solidFill>
              </a:rPr>
              <a:t>工具 </a:t>
            </a:r>
            <a:r>
              <a:rPr lang="en-US" altLang="zh-TW" sz="1200" b="1" dirty="0">
                <a:solidFill>
                  <a:srgbClr val="0000FF"/>
                </a:solidFill>
              </a:rPr>
              <a:t>(Tools): </a:t>
            </a:r>
            <a:r>
              <a:rPr lang="zh-TW" altLang="en-US" sz="1200" b="1" dirty="0">
                <a:solidFill>
                  <a:srgbClr val="0000FF"/>
                </a:solidFill>
              </a:rPr>
              <a:t>故障樹分析 </a:t>
            </a:r>
            <a:r>
              <a:rPr lang="en-US" altLang="zh-TW" sz="1200" b="1" dirty="0">
                <a:solidFill>
                  <a:srgbClr val="0000FF"/>
                </a:solidFill>
              </a:rPr>
              <a:t>(Fault Tree Analysis)</a:t>
            </a:r>
            <a:r>
              <a:rPr lang="zh-TW" altLang="en-US" sz="1200" b="1" dirty="0">
                <a:solidFill>
                  <a:srgbClr val="0000FF"/>
                </a:solidFill>
              </a:rPr>
              <a:t>、魚骨圖 </a:t>
            </a:r>
            <a:r>
              <a:rPr lang="en-US" altLang="zh-TW" sz="1200" b="1" dirty="0">
                <a:solidFill>
                  <a:srgbClr val="0000FF"/>
                </a:solidFill>
              </a:rPr>
              <a:t>(Fishbone)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3288131-7D00-CA49-E048-AB9F98513B87}"/>
              </a:ext>
            </a:extLst>
          </p:cNvPr>
          <p:cNvGrpSpPr/>
          <p:nvPr/>
        </p:nvGrpSpPr>
        <p:grpSpPr>
          <a:xfrm>
            <a:off x="966562" y="3097591"/>
            <a:ext cx="7632848" cy="2665854"/>
            <a:chOff x="730980" y="2259654"/>
            <a:chExt cx="7785223" cy="3264135"/>
          </a:xfrm>
        </p:grpSpPr>
        <p:grpSp>
          <p:nvGrpSpPr>
            <p:cNvPr id="3" name="Group 90">
              <a:extLst>
                <a:ext uri="{FF2B5EF4-FFF2-40B4-BE49-F238E27FC236}">
                  <a16:creationId xmlns:a16="http://schemas.microsoft.com/office/drawing/2014/main" id="{B8BDFFAE-7772-F2C9-C02A-F2058968818E}"/>
                </a:ext>
              </a:extLst>
            </p:cNvPr>
            <p:cNvGrpSpPr/>
            <p:nvPr/>
          </p:nvGrpSpPr>
          <p:grpSpPr>
            <a:xfrm>
              <a:off x="730980" y="2259654"/>
              <a:ext cx="7785223" cy="3264135"/>
              <a:chOff x="730980" y="2259654"/>
              <a:chExt cx="7785223" cy="3264135"/>
            </a:xfrm>
          </p:grpSpPr>
          <p:cxnSp>
            <p:nvCxnSpPr>
              <p:cNvPr id="15" name="Straight Connector 40">
                <a:extLst>
                  <a:ext uri="{FF2B5EF4-FFF2-40B4-BE49-F238E27FC236}">
                    <a16:creationId xmlns:a16="http://schemas.microsoft.com/office/drawing/2014/main" id="{A91D92A4-D2BB-FB49-FFD5-A109BA1C0B1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69177" y="2343800"/>
                <a:ext cx="588922" cy="1421338"/>
              </a:xfrm>
              <a:prstGeom prst="line">
                <a:avLst/>
              </a:prstGeom>
              <a:noFill/>
              <a:ln w="76200" cap="rnd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11" name="Straight Connector 27">
                <a:extLst>
                  <a:ext uri="{FF2B5EF4-FFF2-40B4-BE49-F238E27FC236}">
                    <a16:creationId xmlns:a16="http://schemas.microsoft.com/office/drawing/2014/main" id="{91356830-A97C-D47E-723A-F1CFF07A77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537" y="2714174"/>
                <a:ext cx="604930" cy="0"/>
              </a:xfrm>
              <a:prstGeom prst="line">
                <a:avLst/>
              </a:prstGeom>
              <a:noFill/>
              <a:ln w="76200" cap="rnd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12" name="Straight Connector 39">
                <a:extLst>
                  <a:ext uri="{FF2B5EF4-FFF2-40B4-BE49-F238E27FC236}">
                    <a16:creationId xmlns:a16="http://schemas.microsoft.com/office/drawing/2014/main" id="{74F05D9C-95F9-873B-40ED-7254619A3CC6}"/>
                  </a:ext>
                </a:extLst>
              </p:cNvPr>
              <p:cNvCxnSpPr/>
              <p:nvPr/>
            </p:nvCxnSpPr>
            <p:spPr>
              <a:xfrm flipV="1">
                <a:off x="3918281" y="3987964"/>
                <a:ext cx="609600" cy="1535825"/>
              </a:xfrm>
              <a:prstGeom prst="line">
                <a:avLst/>
              </a:prstGeom>
              <a:noFill/>
              <a:ln w="76200" cap="rnd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sp>
            <p:nvSpPr>
              <p:cNvPr id="14" name="Freeform 7">
                <a:extLst>
                  <a:ext uri="{FF2B5EF4-FFF2-40B4-BE49-F238E27FC236}">
                    <a16:creationId xmlns:a16="http://schemas.microsoft.com/office/drawing/2014/main" id="{E672E0F3-3305-8703-BA94-6ECF4DAB66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980" y="2259654"/>
                <a:ext cx="7785223" cy="2960610"/>
              </a:xfrm>
              <a:custGeom>
                <a:avLst/>
                <a:gdLst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704061 w 7785223"/>
                  <a:gd name="connsiteY9" fmla="*/ 1488530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97534 w 7785223"/>
                  <a:gd name="connsiteY18" fmla="*/ 1718745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801983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704061 w 7785223"/>
                  <a:gd name="connsiteY9" fmla="*/ 1488530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97534 w 7785223"/>
                  <a:gd name="connsiteY18" fmla="*/ 1718745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801983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704061 w 7785223"/>
                  <a:gd name="connsiteY9" fmla="*/ 1488530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97534 w 7785223"/>
                  <a:gd name="connsiteY18" fmla="*/ 1718745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766472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704061 w 7785223"/>
                  <a:gd name="connsiteY9" fmla="*/ 1488530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97534 w 7785223"/>
                  <a:gd name="connsiteY18" fmla="*/ 1718745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766472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704061 w 7785223"/>
                  <a:gd name="connsiteY9" fmla="*/ 1488530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97534 w 7785223"/>
                  <a:gd name="connsiteY18" fmla="*/ 1718745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766472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663118 w 7785223"/>
                  <a:gd name="connsiteY9" fmla="*/ 1447586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97534 w 7785223"/>
                  <a:gd name="connsiteY18" fmla="*/ 1718745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766472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663118 w 7785223"/>
                  <a:gd name="connsiteY9" fmla="*/ 1447586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97534 w 7785223"/>
                  <a:gd name="connsiteY18" fmla="*/ 1718745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766472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663118 w 7785223"/>
                  <a:gd name="connsiteY9" fmla="*/ 1447586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97534 w 7785223"/>
                  <a:gd name="connsiteY18" fmla="*/ 1718745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766472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663118 w 7785223"/>
                  <a:gd name="connsiteY9" fmla="*/ 1447586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97534 w 7785223"/>
                  <a:gd name="connsiteY18" fmla="*/ 1718745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766472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663118 w 7785223"/>
                  <a:gd name="connsiteY9" fmla="*/ 1447586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83886 w 7785223"/>
                  <a:gd name="connsiteY18" fmla="*/ 1786984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766472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7785223" h="2960610">
                    <a:moveTo>
                      <a:pt x="6458167" y="833882"/>
                    </a:moveTo>
                    <a:cubicBezTo>
                      <a:pt x="6319152" y="833882"/>
                      <a:pt x="6206458" y="946576"/>
                      <a:pt x="6206458" y="1085591"/>
                    </a:cubicBezTo>
                    <a:cubicBezTo>
                      <a:pt x="6206458" y="1224606"/>
                      <a:pt x="6319152" y="1337300"/>
                      <a:pt x="6458167" y="1337300"/>
                    </a:cubicBezTo>
                    <a:cubicBezTo>
                      <a:pt x="6597182" y="1337300"/>
                      <a:pt x="6709876" y="1224606"/>
                      <a:pt x="6709876" y="1085591"/>
                    </a:cubicBezTo>
                    <a:cubicBezTo>
                      <a:pt x="6709876" y="946576"/>
                      <a:pt x="6597182" y="833882"/>
                      <a:pt x="6458167" y="833882"/>
                    </a:cubicBezTo>
                    <a:close/>
                    <a:moveTo>
                      <a:pt x="124054" y="0"/>
                    </a:moveTo>
                    <a:cubicBezTo>
                      <a:pt x="124054" y="0"/>
                      <a:pt x="694494" y="17040"/>
                      <a:pt x="881802" y="766777"/>
                    </a:cubicBezTo>
                    <a:cubicBezTo>
                      <a:pt x="975349" y="1143344"/>
                      <a:pt x="1108255" y="1399114"/>
                      <a:pt x="1232618" y="1485722"/>
                    </a:cubicBezTo>
                    <a:cubicBezTo>
                      <a:pt x="1356981" y="1572330"/>
                      <a:pt x="1831368" y="1540253"/>
                      <a:pt x="2569785" y="1533897"/>
                    </a:cubicBezTo>
                    <a:cubicBezTo>
                      <a:pt x="3308202" y="1527541"/>
                      <a:pt x="4961056" y="1460173"/>
                      <a:pt x="5663118" y="1447586"/>
                    </a:cubicBezTo>
                    <a:cubicBezTo>
                      <a:pt x="5764083" y="633577"/>
                      <a:pt x="6000518" y="305361"/>
                      <a:pt x="6184373" y="217410"/>
                    </a:cubicBezTo>
                    <a:cubicBezTo>
                      <a:pt x="6504706" y="184050"/>
                      <a:pt x="7316553" y="874307"/>
                      <a:pt x="7585117" y="1247424"/>
                    </a:cubicBezTo>
                    <a:cubicBezTo>
                      <a:pt x="7737800" y="1452337"/>
                      <a:pt x="7785205" y="1625731"/>
                      <a:pt x="7785223" y="1625797"/>
                    </a:cubicBezTo>
                    <a:cubicBezTo>
                      <a:pt x="7785158" y="1625937"/>
                      <a:pt x="7690374" y="1830829"/>
                      <a:pt x="7506128" y="2067231"/>
                    </a:cubicBezTo>
                    <a:cubicBezTo>
                      <a:pt x="7395543" y="2209120"/>
                      <a:pt x="7263894" y="2377287"/>
                      <a:pt x="7074320" y="2519175"/>
                    </a:cubicBezTo>
                    <a:cubicBezTo>
                      <a:pt x="6895320" y="2340543"/>
                      <a:pt x="6737376" y="2324743"/>
                      <a:pt x="6737299" y="2324735"/>
                    </a:cubicBezTo>
                    <a:cubicBezTo>
                      <a:pt x="6737317" y="2324764"/>
                      <a:pt x="6868950" y="2545458"/>
                      <a:pt x="6911075" y="2629534"/>
                    </a:cubicBezTo>
                    <a:cubicBezTo>
                      <a:pt x="6705703" y="2760914"/>
                      <a:pt x="6463469" y="2876528"/>
                      <a:pt x="6173841" y="2960610"/>
                    </a:cubicBezTo>
                    <a:cubicBezTo>
                      <a:pt x="6173686" y="2960472"/>
                      <a:pt x="5712200" y="2625849"/>
                      <a:pt x="5683886" y="1786984"/>
                    </a:cubicBezTo>
                    <a:cubicBezTo>
                      <a:pt x="5351100" y="1778601"/>
                      <a:pt x="4997819" y="1710631"/>
                      <a:pt x="4260900" y="1707212"/>
                    </a:cubicBezTo>
                    <a:cubicBezTo>
                      <a:pt x="3523981" y="1703793"/>
                      <a:pt x="1406504" y="1698533"/>
                      <a:pt x="1262370" y="1766472"/>
                    </a:cubicBezTo>
                    <a:cubicBezTo>
                      <a:pt x="1118236" y="1834411"/>
                      <a:pt x="1130100" y="2066835"/>
                      <a:pt x="907344" y="2381268"/>
                    </a:cubicBezTo>
                    <a:cubicBezTo>
                      <a:pt x="684588" y="2695701"/>
                      <a:pt x="192167" y="2960610"/>
                      <a:pt x="192166" y="2960610"/>
                    </a:cubicBezTo>
                    <a:cubicBezTo>
                      <a:pt x="243251" y="2474985"/>
                      <a:pt x="136825" y="2313110"/>
                      <a:pt x="149596" y="2142715"/>
                    </a:cubicBezTo>
                    <a:cubicBezTo>
                      <a:pt x="175137" y="1836023"/>
                      <a:pt x="515658" y="1640074"/>
                      <a:pt x="515699" y="1640050"/>
                    </a:cubicBezTo>
                    <a:cubicBezTo>
                      <a:pt x="515699" y="1640050"/>
                      <a:pt x="68713" y="1431317"/>
                      <a:pt x="4858" y="958471"/>
                    </a:cubicBezTo>
                    <a:cubicBezTo>
                      <a:pt x="-41969" y="604902"/>
                      <a:pt x="268793" y="481366"/>
                      <a:pt x="124054" y="0"/>
                    </a:cubicBezTo>
                    <a:close/>
                  </a:path>
                </a:pathLst>
              </a:custGeom>
              <a:ln>
                <a:headEnd/>
                <a:tailEnd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1B0A2D6-83DE-0B57-3CC8-CAE91D7235FC}"/>
                </a:ext>
              </a:extLst>
            </p:cNvPr>
            <p:cNvSpPr/>
            <p:nvPr/>
          </p:nvSpPr>
          <p:spPr>
            <a:xfrm>
              <a:off x="7164000" y="3348000"/>
              <a:ext cx="36000" cy="36000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spcFirstLastPara="1" wrap="none" numCol="1">
              <a:prstTxWarp prst="textCircle">
                <a:avLst/>
              </a:prstTxWarp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TW" sz="300" b="1" spc="-1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http://home.rapidbbs.cn/?fromuid=22138</a:t>
              </a:r>
              <a:endParaRPr lang="zh-TW" altLang="en-US" sz="300" b="1" spc="-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cxnSp>
        <p:nvCxnSpPr>
          <p:cNvPr id="16" name="Straight Connector 39">
            <a:extLst>
              <a:ext uri="{FF2B5EF4-FFF2-40B4-BE49-F238E27FC236}">
                <a16:creationId xmlns:a16="http://schemas.microsoft.com/office/drawing/2014/main" id="{960F6FD9-4C6C-B7FA-DD2A-D9E489C3FB9B}"/>
              </a:ext>
            </a:extLst>
          </p:cNvPr>
          <p:cNvCxnSpPr>
            <a:cxnSpLocks/>
          </p:cNvCxnSpPr>
          <p:nvPr/>
        </p:nvCxnSpPr>
        <p:spPr>
          <a:xfrm flipH="1">
            <a:off x="3651166" y="5424341"/>
            <a:ext cx="577395" cy="0"/>
          </a:xfrm>
          <a:prstGeom prst="line">
            <a:avLst/>
          </a:prstGeom>
          <a:noFill/>
          <a:ln w="76200" cap="rnd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</p:cxnSp>
      <p:cxnSp>
        <p:nvCxnSpPr>
          <p:cNvPr id="18" name="Straight Connector 39">
            <a:extLst>
              <a:ext uri="{FF2B5EF4-FFF2-40B4-BE49-F238E27FC236}">
                <a16:creationId xmlns:a16="http://schemas.microsoft.com/office/drawing/2014/main" id="{0449B6C1-D869-EC8F-80DE-8A0A6DC7086D}"/>
              </a:ext>
            </a:extLst>
          </p:cNvPr>
          <p:cNvCxnSpPr>
            <a:cxnSpLocks/>
          </p:cNvCxnSpPr>
          <p:nvPr/>
        </p:nvCxnSpPr>
        <p:spPr>
          <a:xfrm flipH="1">
            <a:off x="4528793" y="4944925"/>
            <a:ext cx="547263" cy="0"/>
          </a:xfrm>
          <a:prstGeom prst="line">
            <a:avLst/>
          </a:prstGeom>
          <a:noFill/>
          <a:ln w="76200" cap="rnd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B54CE068-F7FC-4E66-A9D4-759AB0E199CE}"/>
              </a:ext>
            </a:extLst>
          </p:cNvPr>
          <p:cNvSpPr/>
          <p:nvPr/>
        </p:nvSpPr>
        <p:spPr>
          <a:xfrm>
            <a:off x="6539780" y="4302401"/>
            <a:ext cx="166726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TEMP.5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abort 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原因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9F1A5477-BC23-4A39-BD39-14B875E31184}"/>
              </a:ext>
            </a:extLst>
          </p:cNvPr>
          <p:cNvSpPr txBox="1"/>
          <p:nvPr/>
        </p:nvSpPr>
        <p:spPr>
          <a:xfrm>
            <a:off x="2881696" y="4822877"/>
            <a:ext cx="1086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Cable </a:t>
            </a:r>
          </a:p>
          <a:p>
            <a:pPr algn="ctr"/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端子阻抗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883554F5-E553-3021-B176-7BCBEF2A8FAE}"/>
              </a:ext>
            </a:extLst>
          </p:cNvPr>
          <p:cNvSpPr txBox="1"/>
          <p:nvPr/>
        </p:nvSpPr>
        <p:spPr>
          <a:xfrm>
            <a:off x="4775135" y="3136612"/>
            <a:ext cx="1624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Spike thermocouple</a:t>
            </a:r>
            <a:endPara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6F98B71A-9DC8-587F-81EA-227E5F46B10F}"/>
              </a:ext>
            </a:extLst>
          </p:cNvPr>
          <p:cNvSpPr txBox="1"/>
          <p:nvPr/>
        </p:nvSpPr>
        <p:spPr>
          <a:xfrm>
            <a:off x="2135362" y="3539166"/>
            <a:ext cx="21150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SCR control PCB</a:t>
            </a:r>
            <a:endPara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Rounded Rectangle 43">
            <a:extLst>
              <a:ext uri="{FF2B5EF4-FFF2-40B4-BE49-F238E27FC236}">
                <a16:creationId xmlns:a16="http://schemas.microsoft.com/office/drawing/2014/main" id="{1553E0AD-6D52-7BE8-CF63-3F8319E2CBF0}"/>
              </a:ext>
            </a:extLst>
          </p:cNvPr>
          <p:cNvSpPr/>
          <p:nvPr/>
        </p:nvSpPr>
        <p:spPr>
          <a:xfrm>
            <a:off x="3222916" y="5884526"/>
            <a:ext cx="1656184" cy="546166"/>
          </a:xfrm>
          <a:prstGeom prst="roundRect">
            <a:avLst>
              <a:gd name="adj" fmla="val 4267"/>
            </a:avLst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b="1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Heater</a:t>
            </a:r>
            <a:endParaRPr kumimoji="0" lang="en-US" b="1" kern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30AF17E-0C10-7E0B-47C8-AC1597E47402}"/>
              </a:ext>
            </a:extLst>
          </p:cNvPr>
          <p:cNvSpPr txBox="1"/>
          <p:nvPr/>
        </p:nvSpPr>
        <p:spPr>
          <a:xfrm>
            <a:off x="4702469" y="4575952"/>
            <a:ext cx="14251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線圈阻抗</a:t>
            </a:r>
          </a:p>
        </p:txBody>
      </p:sp>
      <p:sp>
        <p:nvSpPr>
          <p:cNvPr id="7" name="Rounded Rectangle 43">
            <a:extLst>
              <a:ext uri="{FF2B5EF4-FFF2-40B4-BE49-F238E27FC236}">
                <a16:creationId xmlns:a16="http://schemas.microsoft.com/office/drawing/2014/main" id="{6D7C191B-7510-6210-FE96-97498E2C1946}"/>
              </a:ext>
            </a:extLst>
          </p:cNvPr>
          <p:cNvSpPr/>
          <p:nvPr/>
        </p:nvSpPr>
        <p:spPr>
          <a:xfrm>
            <a:off x="3400469" y="2460213"/>
            <a:ext cx="1656184" cy="546166"/>
          </a:xfrm>
          <a:prstGeom prst="roundRect">
            <a:avLst>
              <a:gd name="adj" fmla="val 4267"/>
            </a:avLst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b="1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TEMP.</a:t>
            </a:r>
            <a:endParaRPr kumimoji="0" lang="en-US" b="1" kern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1" name="Straight Connector 27">
            <a:extLst>
              <a:ext uri="{FF2B5EF4-FFF2-40B4-BE49-F238E27FC236}">
                <a16:creationId xmlns:a16="http://schemas.microsoft.com/office/drawing/2014/main" id="{57AEBAF5-2B54-1E71-9C1B-B63673F36B31}"/>
              </a:ext>
            </a:extLst>
          </p:cNvPr>
          <p:cNvCxnSpPr>
            <a:cxnSpLocks/>
          </p:cNvCxnSpPr>
          <p:nvPr/>
        </p:nvCxnSpPr>
        <p:spPr>
          <a:xfrm>
            <a:off x="3192899" y="3986455"/>
            <a:ext cx="593090" cy="0"/>
          </a:xfrm>
          <a:prstGeom prst="line">
            <a:avLst/>
          </a:prstGeom>
          <a:noFill/>
          <a:ln w="76200" cap="rnd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534294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 descr="一張含有 文字, 字型, 螢幕擷取畫面, 符號 的圖片&#10;&#10;AI 產生的內容可能不正確。">
            <a:extLst>
              <a:ext uri="{FF2B5EF4-FFF2-40B4-BE49-F238E27FC236}">
                <a16:creationId xmlns:a16="http://schemas.microsoft.com/office/drawing/2014/main" id="{8411425F-54A2-A492-16A5-C4319E2041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253351"/>
            <a:ext cx="2699792" cy="1495194"/>
          </a:xfrm>
          <a:prstGeom prst="rect">
            <a:avLst/>
          </a:prstGeom>
        </p:spPr>
      </p:pic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7685" y="1052736"/>
            <a:ext cx="82417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r>
              <a:rPr lang="en-US" altLang="zh-TW" sz="1600" b="1" dirty="0">
                <a:solidFill>
                  <a:srgbClr val="0000FF"/>
                </a:solidFill>
              </a:rPr>
              <a:t>         c) </a:t>
            </a:r>
            <a:r>
              <a:rPr lang="zh-TW" altLang="en-US" sz="1600" b="1" dirty="0">
                <a:solidFill>
                  <a:srgbClr val="0000FF"/>
                </a:solidFill>
              </a:rPr>
              <a:t>真因驗證 </a:t>
            </a:r>
            <a:r>
              <a:rPr lang="en-US" altLang="zh-TW" sz="1600" b="1" dirty="0">
                <a:solidFill>
                  <a:srgbClr val="0000FF"/>
                </a:solidFill>
              </a:rPr>
              <a:t>(Root Cause Verification)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6DDD0B2-0A51-D60D-F0AA-F6F15BF14232}"/>
              </a:ext>
            </a:extLst>
          </p:cNvPr>
          <p:cNvSpPr txBox="1"/>
          <p:nvPr/>
        </p:nvSpPr>
        <p:spPr>
          <a:xfrm>
            <a:off x="357684" y="1740021"/>
            <a:ext cx="7487823" cy="699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Spike thermocouple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b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分析：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Measure BTM-1~TOP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zone spike thermocouple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阻抗約為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歐姆：非真因。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" name="圖片 9" descr="一張含有 地面 的圖片&#10;&#10;AI 產生的內容可能不正確。">
            <a:extLst>
              <a:ext uri="{FF2B5EF4-FFF2-40B4-BE49-F238E27FC236}">
                <a16:creationId xmlns:a16="http://schemas.microsoft.com/office/drawing/2014/main" id="{2A159E1D-EF13-A51B-ABC2-3E9E9E4C81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2818054"/>
            <a:ext cx="2120167" cy="3385080"/>
          </a:xfrm>
          <a:prstGeom prst="rect">
            <a:avLst/>
          </a:prstGeom>
        </p:spPr>
      </p:pic>
      <p:pic>
        <p:nvPicPr>
          <p:cNvPr id="13" name="圖片 12" descr="一張含有 測量儀器, 數位鐘, 文字 的圖片&#10;&#10;AI 產生的內容可能不正確。">
            <a:extLst>
              <a:ext uri="{FF2B5EF4-FFF2-40B4-BE49-F238E27FC236}">
                <a16:creationId xmlns:a16="http://schemas.microsoft.com/office/drawing/2014/main" id="{BC71F2A7-1B39-9F2C-A1AF-C1C750B00F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4134" y="3158011"/>
            <a:ext cx="2004069" cy="1580899"/>
          </a:xfrm>
          <a:prstGeom prst="rect">
            <a:avLst/>
          </a:prstGeom>
        </p:spPr>
      </p:pic>
      <p:cxnSp>
        <p:nvCxnSpPr>
          <p:cNvPr id="18" name="接點: 弧形 17">
            <a:extLst>
              <a:ext uri="{FF2B5EF4-FFF2-40B4-BE49-F238E27FC236}">
                <a16:creationId xmlns:a16="http://schemas.microsoft.com/office/drawing/2014/main" id="{F39769F8-6112-1DCF-9DFF-F3B352E832E7}"/>
              </a:ext>
            </a:extLst>
          </p:cNvPr>
          <p:cNvCxnSpPr>
            <a:cxnSpLocks/>
          </p:cNvCxnSpPr>
          <p:nvPr/>
        </p:nvCxnSpPr>
        <p:spPr>
          <a:xfrm rot="10800000" flipV="1">
            <a:off x="1555900" y="4738910"/>
            <a:ext cx="4240236" cy="961806"/>
          </a:xfrm>
          <a:prstGeom prst="curvedConnector3">
            <a:avLst>
              <a:gd name="adj1" fmla="val -1051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接點: 弧形 20">
            <a:extLst>
              <a:ext uri="{FF2B5EF4-FFF2-40B4-BE49-F238E27FC236}">
                <a16:creationId xmlns:a16="http://schemas.microsoft.com/office/drawing/2014/main" id="{400CA256-6BEB-6420-B44A-DAA138EEFFB4}"/>
              </a:ext>
            </a:extLst>
          </p:cNvPr>
          <p:cNvCxnSpPr>
            <a:cxnSpLocks/>
          </p:cNvCxnSpPr>
          <p:nvPr/>
        </p:nvCxnSpPr>
        <p:spPr>
          <a:xfrm rot="10800000" flipV="1">
            <a:off x="1835696" y="4738910"/>
            <a:ext cx="4840504" cy="792088"/>
          </a:xfrm>
          <a:prstGeom prst="curvedConnector3">
            <a:avLst>
              <a:gd name="adj1" fmla="val 50000"/>
            </a:avLst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A02FAA32-94E8-379B-9778-DEF5ACE18BA1}"/>
              </a:ext>
            </a:extLst>
          </p:cNvPr>
          <p:cNvSpPr txBox="1"/>
          <p:nvPr/>
        </p:nvSpPr>
        <p:spPr>
          <a:xfrm>
            <a:off x="1187624" y="2804068"/>
            <a:ext cx="1656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spike</a:t>
            </a:r>
          </a:p>
          <a:p>
            <a:r>
              <a:rPr lang="en-US" sz="2000" dirty="0">
                <a:solidFill>
                  <a:srgbClr val="FF0000"/>
                </a:solidFill>
              </a:rPr>
              <a:t>thermocouple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C2640B8-EEBB-402D-909A-1802F298184F}"/>
              </a:ext>
            </a:extLst>
          </p:cNvPr>
          <p:cNvSpPr txBox="1"/>
          <p:nvPr/>
        </p:nvSpPr>
        <p:spPr>
          <a:xfrm>
            <a:off x="4806204" y="4510594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+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97725AA2-1EF5-4B44-B350-43AF2A4F71DF}"/>
              </a:ext>
            </a:extLst>
          </p:cNvPr>
          <p:cNvSpPr txBox="1"/>
          <p:nvPr/>
        </p:nvSpPr>
        <p:spPr>
          <a:xfrm>
            <a:off x="5081755" y="5346333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-</a:t>
            </a:r>
            <a:endParaRPr lang="zh-TW" altLang="en-US" dirty="0"/>
          </a:p>
        </p:txBody>
      </p:sp>
      <p:sp>
        <p:nvSpPr>
          <p:cNvPr id="11" name="乘號 10">
            <a:extLst>
              <a:ext uri="{FF2B5EF4-FFF2-40B4-BE49-F238E27FC236}">
                <a16:creationId xmlns:a16="http://schemas.microsoft.com/office/drawing/2014/main" id="{5CEE5DF6-9B96-A83D-9BF2-C55638B762EB}"/>
              </a:ext>
            </a:extLst>
          </p:cNvPr>
          <p:cNvSpPr/>
          <p:nvPr/>
        </p:nvSpPr>
        <p:spPr>
          <a:xfrm>
            <a:off x="7763434" y="970227"/>
            <a:ext cx="288032" cy="360040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07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7BD51-32D4-7D6C-4F69-0BEC24391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E2D532B8-B0B5-3DB7-A21A-AC444A3EA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E108E9-FB36-A3BF-E604-33809B492593}"/>
              </a:ext>
            </a:extLst>
          </p:cNvPr>
          <p:cNvSpPr/>
          <p:nvPr/>
        </p:nvSpPr>
        <p:spPr>
          <a:xfrm>
            <a:off x="357685" y="1052736"/>
            <a:ext cx="82417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r>
              <a:rPr lang="en-US" altLang="zh-TW" sz="1600" b="1" dirty="0">
                <a:solidFill>
                  <a:srgbClr val="0000FF"/>
                </a:solidFill>
              </a:rPr>
              <a:t>         c) </a:t>
            </a:r>
            <a:r>
              <a:rPr lang="zh-TW" altLang="en-US" sz="1600" b="1" dirty="0">
                <a:solidFill>
                  <a:srgbClr val="0000FF"/>
                </a:solidFill>
              </a:rPr>
              <a:t>真因驗證 </a:t>
            </a:r>
            <a:r>
              <a:rPr lang="en-US" altLang="zh-TW" sz="1600" b="1" dirty="0">
                <a:solidFill>
                  <a:srgbClr val="0000FF"/>
                </a:solidFill>
              </a:rPr>
              <a:t>(Root Cause Verification)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A2386AA-564F-ADEE-FDF4-D6D328AD21FC}"/>
              </a:ext>
            </a:extLst>
          </p:cNvPr>
          <p:cNvSpPr txBox="1"/>
          <p:nvPr/>
        </p:nvSpPr>
        <p:spPr>
          <a:xfrm>
            <a:off x="357684" y="1740021"/>
            <a:ext cx="7886724" cy="699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SCR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control PCB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b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分析：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Replace spare SCR control PCB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之後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鉤表勾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TOP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SCR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current still 0A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：非真因。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26" name="圖片 1">
            <a:extLst>
              <a:ext uri="{FF2B5EF4-FFF2-40B4-BE49-F238E27FC236}">
                <a16:creationId xmlns:a16="http://schemas.microsoft.com/office/drawing/2014/main" id="{9F0DA105-BFD7-7610-3832-964EFA9F5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2667385"/>
            <a:ext cx="2664296" cy="3503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圖片 13" descr="一張含有 電子產品, 電子元件, 電路, 電路元件 的圖片&#10;&#10;AI 產生的內容可能不正確。">
            <a:extLst>
              <a:ext uri="{FF2B5EF4-FFF2-40B4-BE49-F238E27FC236}">
                <a16:creationId xmlns:a16="http://schemas.microsoft.com/office/drawing/2014/main" id="{0319352D-7A30-BDA2-5890-23DAB38E6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5400000">
            <a:off x="1236269" y="2042677"/>
            <a:ext cx="3503112" cy="4752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277C3318-1E4C-C6F3-C01D-2BAFC8C4EC61}"/>
              </a:ext>
            </a:extLst>
          </p:cNvPr>
          <p:cNvCxnSpPr>
            <a:cxnSpLocks/>
          </p:cNvCxnSpPr>
          <p:nvPr/>
        </p:nvCxnSpPr>
        <p:spPr>
          <a:xfrm flipV="1">
            <a:off x="3131840" y="5445224"/>
            <a:ext cx="0" cy="3600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E043F2C-F3AA-4240-A80D-B4E7A5628AD9}"/>
              </a:ext>
            </a:extLst>
          </p:cNvPr>
          <p:cNvSpPr txBox="1"/>
          <p:nvPr/>
        </p:nvSpPr>
        <p:spPr>
          <a:xfrm>
            <a:off x="2339752" y="5733256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SCR</a:t>
            </a:r>
            <a:r>
              <a:rPr lang="zh-TW" altLang="en-US" dirty="0"/>
              <a:t> </a:t>
            </a:r>
            <a:r>
              <a:rPr lang="en-US" altLang="zh-TW" dirty="0"/>
              <a:t>control PCB</a:t>
            </a:r>
            <a:endParaRPr lang="en-US" dirty="0"/>
          </a:p>
        </p:txBody>
      </p:sp>
      <p:pic>
        <p:nvPicPr>
          <p:cNvPr id="3" name="圖片 2" descr="一張含有 文字, 字型, 螢幕擷取畫面, 符號 的圖片&#10;&#10;AI 產生的內容可能不正確。">
            <a:extLst>
              <a:ext uri="{FF2B5EF4-FFF2-40B4-BE49-F238E27FC236}">
                <a16:creationId xmlns:a16="http://schemas.microsoft.com/office/drawing/2014/main" id="{55B0D946-166D-DC4C-0C1B-9C0D3C8D9B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253351"/>
            <a:ext cx="2699792" cy="1495194"/>
          </a:xfrm>
          <a:prstGeom prst="rect">
            <a:avLst/>
          </a:prstGeom>
        </p:spPr>
      </p:pic>
      <p:sp>
        <p:nvSpPr>
          <p:cNvPr id="8" name="乘號 7">
            <a:extLst>
              <a:ext uri="{FF2B5EF4-FFF2-40B4-BE49-F238E27FC236}">
                <a16:creationId xmlns:a16="http://schemas.microsoft.com/office/drawing/2014/main" id="{DFA0AAC8-87B1-4BE3-0F76-56B8D79497F6}"/>
              </a:ext>
            </a:extLst>
          </p:cNvPr>
          <p:cNvSpPr/>
          <p:nvPr/>
        </p:nvSpPr>
        <p:spPr>
          <a:xfrm>
            <a:off x="7763434" y="970227"/>
            <a:ext cx="288032" cy="360040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乘號 10">
            <a:extLst>
              <a:ext uri="{FF2B5EF4-FFF2-40B4-BE49-F238E27FC236}">
                <a16:creationId xmlns:a16="http://schemas.microsoft.com/office/drawing/2014/main" id="{CEE82C1C-1855-28FB-BEFB-FBAE009EE8D4}"/>
              </a:ext>
            </a:extLst>
          </p:cNvPr>
          <p:cNvSpPr/>
          <p:nvPr/>
        </p:nvSpPr>
        <p:spPr>
          <a:xfrm>
            <a:off x="7178912" y="1369128"/>
            <a:ext cx="288032" cy="360040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391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字型, 螢幕擷取畫面, 符號 的圖片&#10;&#10;AI 產生的內容可能不正確。">
            <a:extLst>
              <a:ext uri="{FF2B5EF4-FFF2-40B4-BE49-F238E27FC236}">
                <a16:creationId xmlns:a16="http://schemas.microsoft.com/office/drawing/2014/main" id="{AE1CD107-B4CB-89C9-D4AB-ADE8D9E31B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826" y="393325"/>
            <a:ext cx="2507859" cy="1538564"/>
          </a:xfrm>
          <a:prstGeom prst="rect">
            <a:avLst/>
          </a:prstGeom>
        </p:spPr>
      </p:pic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7685" y="1052736"/>
            <a:ext cx="82417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r>
              <a:rPr lang="en-US" altLang="zh-TW" sz="1600" b="1" dirty="0">
                <a:solidFill>
                  <a:srgbClr val="0000FF"/>
                </a:solidFill>
              </a:rPr>
              <a:t>         c) </a:t>
            </a:r>
            <a:r>
              <a:rPr lang="zh-TW" altLang="en-US" sz="1600" b="1" dirty="0">
                <a:solidFill>
                  <a:srgbClr val="0000FF"/>
                </a:solidFill>
              </a:rPr>
              <a:t>真因驗證 </a:t>
            </a:r>
            <a:r>
              <a:rPr lang="en-US" altLang="zh-TW" sz="1600" b="1" dirty="0">
                <a:solidFill>
                  <a:srgbClr val="0000FF"/>
                </a:solidFill>
              </a:rPr>
              <a:t>(Root Cause Verification)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6DDD0B2-0A51-D60D-F0AA-F6F15BF14232}"/>
              </a:ext>
            </a:extLst>
          </p:cNvPr>
          <p:cNvSpPr txBox="1"/>
          <p:nvPr/>
        </p:nvSpPr>
        <p:spPr>
          <a:xfrm>
            <a:off x="323528" y="1694435"/>
            <a:ext cx="8820472" cy="1345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Heater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b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線圈阻抗：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分析：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Measure heater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線圈阻抗約為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1~100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歐姆：非真因。                                                                   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乘號 22">
            <a:extLst>
              <a:ext uri="{FF2B5EF4-FFF2-40B4-BE49-F238E27FC236}">
                <a16:creationId xmlns:a16="http://schemas.microsoft.com/office/drawing/2014/main" id="{84A05BF8-47A2-2DEF-78B5-A7BA2CD9B3CD}"/>
              </a:ext>
            </a:extLst>
          </p:cNvPr>
          <p:cNvSpPr/>
          <p:nvPr/>
        </p:nvSpPr>
        <p:spPr>
          <a:xfrm>
            <a:off x="7863232" y="465610"/>
            <a:ext cx="288032" cy="360040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圖片 1">
            <a:extLst>
              <a:ext uri="{FF2B5EF4-FFF2-40B4-BE49-F238E27FC236}">
                <a16:creationId xmlns:a16="http://schemas.microsoft.com/office/drawing/2014/main" id="{E9878303-DA92-4365-D8B9-127AB0575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640" y="2780928"/>
            <a:ext cx="3951287" cy="3760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圖片 9" descr="一張含有 測量儀器, 數位鐘, 時鐘 的圖片&#10;&#10;AI 產生的內容可能不正確。">
            <a:extLst>
              <a:ext uri="{FF2B5EF4-FFF2-40B4-BE49-F238E27FC236}">
                <a16:creationId xmlns:a16="http://schemas.microsoft.com/office/drawing/2014/main" id="{7F47A284-A80A-7055-A358-8F088EAE96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3208658"/>
            <a:ext cx="2371593" cy="2104862"/>
          </a:xfrm>
          <a:prstGeom prst="rect">
            <a:avLst/>
          </a:prstGeom>
        </p:spPr>
      </p:pic>
      <p:cxnSp>
        <p:nvCxnSpPr>
          <p:cNvPr id="11" name="接點: 弧形 10">
            <a:extLst>
              <a:ext uri="{FF2B5EF4-FFF2-40B4-BE49-F238E27FC236}">
                <a16:creationId xmlns:a16="http://schemas.microsoft.com/office/drawing/2014/main" id="{46B360FE-582C-17D3-C0CF-96CBEFBA86BC}"/>
              </a:ext>
            </a:extLst>
          </p:cNvPr>
          <p:cNvCxnSpPr>
            <a:cxnSpLocks/>
            <a:stCxn id="10" idx="1"/>
          </p:cNvCxnSpPr>
          <p:nvPr/>
        </p:nvCxnSpPr>
        <p:spPr>
          <a:xfrm rot="10800000">
            <a:off x="2627784" y="3406841"/>
            <a:ext cx="3312368" cy="854249"/>
          </a:xfrm>
          <a:prstGeom prst="curvedConnector3">
            <a:avLst>
              <a:gd name="adj1" fmla="val 51408"/>
            </a:avLst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接點: 弧形 14">
            <a:extLst>
              <a:ext uri="{FF2B5EF4-FFF2-40B4-BE49-F238E27FC236}">
                <a16:creationId xmlns:a16="http://schemas.microsoft.com/office/drawing/2014/main" id="{3AB2FE4B-1930-2818-5C34-AD65E6D6A962}"/>
              </a:ext>
            </a:extLst>
          </p:cNvPr>
          <p:cNvCxnSpPr>
            <a:cxnSpLocks/>
          </p:cNvCxnSpPr>
          <p:nvPr/>
        </p:nvCxnSpPr>
        <p:spPr>
          <a:xfrm rot="10800000" flipV="1">
            <a:off x="2483768" y="4509120"/>
            <a:ext cx="3456384" cy="216022"/>
          </a:xfrm>
          <a:prstGeom prst="curvedConnector3">
            <a:avLst>
              <a:gd name="adj1" fmla="val 47570"/>
            </a:avLst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7230C6CD-B056-4F42-AF08-4086D490A714}"/>
              </a:ext>
            </a:extLst>
          </p:cNvPr>
          <p:cNvSpPr txBox="1"/>
          <p:nvPr/>
        </p:nvSpPr>
        <p:spPr>
          <a:xfrm>
            <a:off x="5591039" y="3964917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+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338FEE1-635A-4167-BE7B-A190A2355CD8}"/>
              </a:ext>
            </a:extLst>
          </p:cNvPr>
          <p:cNvSpPr txBox="1"/>
          <p:nvPr/>
        </p:nvSpPr>
        <p:spPr>
          <a:xfrm>
            <a:off x="5591039" y="4421427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-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52590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圖片 1">
            <a:extLst>
              <a:ext uri="{FF2B5EF4-FFF2-40B4-BE49-F238E27FC236}">
                <a16:creationId xmlns:a16="http://schemas.microsoft.com/office/drawing/2014/main" id="{F8AF0C5C-8BFE-9185-86E8-47F44D845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481687"/>
            <a:ext cx="5466617" cy="313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7685" y="1052736"/>
            <a:ext cx="82417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r>
              <a:rPr lang="en-US" altLang="zh-TW" sz="1600" b="1" dirty="0">
                <a:solidFill>
                  <a:srgbClr val="0000FF"/>
                </a:solidFill>
              </a:rPr>
              <a:t>         c) </a:t>
            </a:r>
            <a:r>
              <a:rPr lang="zh-TW" altLang="en-US" sz="1600" b="1" dirty="0">
                <a:solidFill>
                  <a:srgbClr val="0000FF"/>
                </a:solidFill>
              </a:rPr>
              <a:t>真因驗證 </a:t>
            </a:r>
            <a:r>
              <a:rPr lang="en-US" altLang="zh-TW" sz="1600" b="1" dirty="0">
                <a:solidFill>
                  <a:srgbClr val="0000FF"/>
                </a:solidFill>
              </a:rPr>
              <a:t>(Root Cause Verification)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6DDD0B2-0A51-D60D-F0AA-F6F15BF14232}"/>
              </a:ext>
            </a:extLst>
          </p:cNvPr>
          <p:cNvSpPr txBox="1"/>
          <p:nvPr/>
        </p:nvSpPr>
        <p:spPr>
          <a:xfrm>
            <a:off x="114302" y="1694435"/>
            <a:ext cx="8850186" cy="1668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Heater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b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Cable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端子阻抗。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分析：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a. Heater cable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端子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burnout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，使阻抗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show O.L.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：真因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補充：因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cable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端子未鎖緊，則實際導電面積所小，使熱過度集中於某處，則金屬端子過熱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burnout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4CD82FF5-4A0E-5EBF-10D2-B4D05AE7B804}"/>
              </a:ext>
            </a:extLst>
          </p:cNvPr>
          <p:cNvGrpSpPr/>
          <p:nvPr/>
        </p:nvGrpSpPr>
        <p:grpSpPr>
          <a:xfrm>
            <a:off x="6408717" y="343649"/>
            <a:ext cx="2699787" cy="1588240"/>
            <a:chOff x="6408717" y="343649"/>
            <a:chExt cx="2699787" cy="1588240"/>
          </a:xfrm>
        </p:grpSpPr>
        <p:pic>
          <p:nvPicPr>
            <p:cNvPr id="18" name="圖片 17" descr="一張含有 文字, 字型, 螢幕擷取畫面, 符號 的圖片&#10;&#10;AI 產生的內容可能不正確。">
              <a:extLst>
                <a:ext uri="{FF2B5EF4-FFF2-40B4-BE49-F238E27FC236}">
                  <a16:creationId xmlns:a16="http://schemas.microsoft.com/office/drawing/2014/main" id="{1E524DFB-C713-8703-4EDF-F5D98136D8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00645" y="393325"/>
              <a:ext cx="2507859" cy="1538564"/>
            </a:xfrm>
            <a:prstGeom prst="rect">
              <a:avLst/>
            </a:prstGeom>
          </p:spPr>
        </p:pic>
        <p:sp>
          <p:nvSpPr>
            <p:cNvPr id="23" name="乘號 22">
              <a:extLst>
                <a:ext uri="{FF2B5EF4-FFF2-40B4-BE49-F238E27FC236}">
                  <a16:creationId xmlns:a16="http://schemas.microsoft.com/office/drawing/2014/main" id="{94AEB135-4B34-F010-AA39-3324A6C98DBF}"/>
                </a:ext>
              </a:extLst>
            </p:cNvPr>
            <p:cNvSpPr/>
            <p:nvPr/>
          </p:nvSpPr>
          <p:spPr>
            <a:xfrm>
              <a:off x="8085187" y="456666"/>
              <a:ext cx="288032" cy="360040"/>
            </a:xfrm>
            <a:prstGeom prst="mathMultiply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D429D826-DD2C-4219-3771-C7FED0C43664}"/>
                </a:ext>
              </a:extLst>
            </p:cNvPr>
            <p:cNvSpPr/>
            <p:nvPr/>
          </p:nvSpPr>
          <p:spPr>
            <a:xfrm>
              <a:off x="6547348" y="508929"/>
              <a:ext cx="1307226" cy="615553"/>
            </a:xfrm>
            <a:prstGeom prst="ellipse">
              <a:avLst/>
            </a:prstGeom>
            <a:noFill/>
            <a:ln>
              <a:solidFill>
                <a:srgbClr val="FC211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" name="圖形 24" descr="核取記號 以實心填滿">
              <a:extLst>
                <a:ext uri="{FF2B5EF4-FFF2-40B4-BE49-F238E27FC236}">
                  <a16:creationId xmlns:a16="http://schemas.microsoft.com/office/drawing/2014/main" id="{A53BAB08-CA7C-75C9-FB7C-8B9C1E8E2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408717" y="343649"/>
              <a:ext cx="330559" cy="3305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81709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1EEF7-22DB-2345-1040-2166AF242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BF1CDC34-3698-D7B1-BB25-2D12DFAB0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9BA1CB-04F4-81F5-E3F3-DBD775CEBE91}"/>
              </a:ext>
            </a:extLst>
          </p:cNvPr>
          <p:cNvSpPr/>
          <p:nvPr/>
        </p:nvSpPr>
        <p:spPr>
          <a:xfrm>
            <a:off x="357685" y="1052736"/>
            <a:ext cx="824172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r>
              <a:rPr lang="en-US" altLang="zh-TW" sz="1600" dirty="0"/>
              <a:t>         </a:t>
            </a:r>
            <a:r>
              <a:rPr lang="en-US" altLang="zh-TW" sz="1600" b="1" dirty="0">
                <a:solidFill>
                  <a:srgbClr val="0000FF"/>
                </a:solidFill>
              </a:rPr>
              <a:t>b) </a:t>
            </a:r>
            <a:r>
              <a:rPr lang="zh-TW" altLang="en-US" sz="1600" b="1" dirty="0">
                <a:solidFill>
                  <a:srgbClr val="0000FF"/>
                </a:solidFill>
              </a:rPr>
              <a:t>列出所有可能的原因 </a:t>
            </a:r>
            <a:r>
              <a:rPr lang="en-US" altLang="zh-TW" sz="1600" b="1" dirty="0">
                <a:solidFill>
                  <a:srgbClr val="0000FF"/>
                </a:solidFill>
              </a:rPr>
              <a:t>(Probable Causes/Factors): </a:t>
            </a:r>
            <a:r>
              <a:rPr lang="en-US" altLang="zh-TW" sz="1600" b="1" dirty="0">
                <a:solidFill>
                  <a:srgbClr val="FF0000"/>
                </a:solidFill>
              </a:rPr>
              <a:t>Non-conformance</a:t>
            </a:r>
          </a:p>
          <a:p>
            <a:pPr lvl="1"/>
            <a:r>
              <a:rPr lang="zh-TW" altLang="en-US" sz="1200" b="1" dirty="0">
                <a:solidFill>
                  <a:srgbClr val="0000FF"/>
                </a:solidFill>
              </a:rPr>
              <a:t>工具 </a:t>
            </a:r>
            <a:r>
              <a:rPr lang="en-US" altLang="zh-TW" sz="1200" b="1" dirty="0">
                <a:solidFill>
                  <a:srgbClr val="0000FF"/>
                </a:solidFill>
              </a:rPr>
              <a:t>(Tools): </a:t>
            </a:r>
            <a:r>
              <a:rPr lang="zh-TW" altLang="en-US" sz="1200" b="1" dirty="0">
                <a:solidFill>
                  <a:srgbClr val="0000FF"/>
                </a:solidFill>
              </a:rPr>
              <a:t>故障樹分析 </a:t>
            </a:r>
            <a:r>
              <a:rPr lang="en-US" altLang="zh-TW" sz="1200" b="1" dirty="0">
                <a:solidFill>
                  <a:srgbClr val="0000FF"/>
                </a:solidFill>
              </a:rPr>
              <a:t>(Fault Tree Analysis)</a:t>
            </a:r>
            <a:r>
              <a:rPr lang="zh-TW" altLang="en-US" sz="1200" b="1" dirty="0">
                <a:solidFill>
                  <a:srgbClr val="0000FF"/>
                </a:solidFill>
              </a:rPr>
              <a:t>、魚骨圖 </a:t>
            </a:r>
            <a:r>
              <a:rPr lang="en-US" altLang="zh-TW" sz="1200" b="1" dirty="0">
                <a:solidFill>
                  <a:srgbClr val="0000FF"/>
                </a:solidFill>
              </a:rPr>
              <a:t>(Fishbone)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847760B-290A-4E71-6706-352153C5D878}"/>
              </a:ext>
            </a:extLst>
          </p:cNvPr>
          <p:cNvGrpSpPr/>
          <p:nvPr/>
        </p:nvGrpSpPr>
        <p:grpSpPr>
          <a:xfrm>
            <a:off x="966562" y="2626218"/>
            <a:ext cx="7632848" cy="2665854"/>
            <a:chOff x="730980" y="2259654"/>
            <a:chExt cx="7785223" cy="3264135"/>
          </a:xfrm>
        </p:grpSpPr>
        <p:grpSp>
          <p:nvGrpSpPr>
            <p:cNvPr id="3" name="Group 90">
              <a:extLst>
                <a:ext uri="{FF2B5EF4-FFF2-40B4-BE49-F238E27FC236}">
                  <a16:creationId xmlns:a16="http://schemas.microsoft.com/office/drawing/2014/main" id="{AC18703E-BB2A-A12D-D64A-8501A1CC693B}"/>
                </a:ext>
              </a:extLst>
            </p:cNvPr>
            <p:cNvGrpSpPr/>
            <p:nvPr/>
          </p:nvGrpSpPr>
          <p:grpSpPr>
            <a:xfrm>
              <a:off x="730980" y="2259654"/>
              <a:ext cx="7785223" cy="3264135"/>
              <a:chOff x="730980" y="2259654"/>
              <a:chExt cx="7785223" cy="3264135"/>
            </a:xfrm>
          </p:grpSpPr>
          <p:cxnSp>
            <p:nvCxnSpPr>
              <p:cNvPr id="15" name="Straight Connector 40">
                <a:extLst>
                  <a:ext uri="{FF2B5EF4-FFF2-40B4-BE49-F238E27FC236}">
                    <a16:creationId xmlns:a16="http://schemas.microsoft.com/office/drawing/2014/main" id="{42CB5A4A-2A39-2838-D7EB-088CC730C7F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69177" y="2343800"/>
                <a:ext cx="588922" cy="1421338"/>
              </a:xfrm>
              <a:prstGeom prst="line">
                <a:avLst/>
              </a:prstGeom>
              <a:noFill/>
              <a:ln w="76200" cap="rnd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11" name="Straight Connector 27">
                <a:extLst>
                  <a:ext uri="{FF2B5EF4-FFF2-40B4-BE49-F238E27FC236}">
                    <a16:creationId xmlns:a16="http://schemas.microsoft.com/office/drawing/2014/main" id="{AF79F936-E72B-0D54-4B68-C7974B1DA1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6537" y="2714174"/>
                <a:ext cx="604930" cy="0"/>
              </a:xfrm>
              <a:prstGeom prst="line">
                <a:avLst/>
              </a:prstGeom>
              <a:noFill/>
              <a:ln w="76200" cap="rnd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12" name="Straight Connector 39">
                <a:extLst>
                  <a:ext uri="{FF2B5EF4-FFF2-40B4-BE49-F238E27FC236}">
                    <a16:creationId xmlns:a16="http://schemas.microsoft.com/office/drawing/2014/main" id="{01F97277-9745-04EB-DDFF-EE51C8FF552A}"/>
                  </a:ext>
                </a:extLst>
              </p:cNvPr>
              <p:cNvCxnSpPr/>
              <p:nvPr/>
            </p:nvCxnSpPr>
            <p:spPr>
              <a:xfrm flipV="1">
                <a:off x="3918281" y="3987964"/>
                <a:ext cx="609600" cy="1535825"/>
              </a:xfrm>
              <a:prstGeom prst="line">
                <a:avLst/>
              </a:prstGeom>
              <a:noFill/>
              <a:ln w="76200" cap="rnd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sp>
            <p:nvSpPr>
              <p:cNvPr id="14" name="Freeform 7">
                <a:extLst>
                  <a:ext uri="{FF2B5EF4-FFF2-40B4-BE49-F238E27FC236}">
                    <a16:creationId xmlns:a16="http://schemas.microsoft.com/office/drawing/2014/main" id="{1F851406-F4C5-B08D-AA3F-362F78600A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980" y="2259654"/>
                <a:ext cx="7785223" cy="2960610"/>
              </a:xfrm>
              <a:custGeom>
                <a:avLst/>
                <a:gdLst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704061 w 7785223"/>
                  <a:gd name="connsiteY9" fmla="*/ 1488530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97534 w 7785223"/>
                  <a:gd name="connsiteY18" fmla="*/ 1718745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801983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704061 w 7785223"/>
                  <a:gd name="connsiteY9" fmla="*/ 1488530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97534 w 7785223"/>
                  <a:gd name="connsiteY18" fmla="*/ 1718745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801983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704061 w 7785223"/>
                  <a:gd name="connsiteY9" fmla="*/ 1488530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97534 w 7785223"/>
                  <a:gd name="connsiteY18" fmla="*/ 1718745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766472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704061 w 7785223"/>
                  <a:gd name="connsiteY9" fmla="*/ 1488530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97534 w 7785223"/>
                  <a:gd name="connsiteY18" fmla="*/ 1718745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766472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704061 w 7785223"/>
                  <a:gd name="connsiteY9" fmla="*/ 1488530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97534 w 7785223"/>
                  <a:gd name="connsiteY18" fmla="*/ 1718745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766472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663118 w 7785223"/>
                  <a:gd name="connsiteY9" fmla="*/ 1447586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97534 w 7785223"/>
                  <a:gd name="connsiteY18" fmla="*/ 1718745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766472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663118 w 7785223"/>
                  <a:gd name="connsiteY9" fmla="*/ 1447586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97534 w 7785223"/>
                  <a:gd name="connsiteY18" fmla="*/ 1718745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766472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663118 w 7785223"/>
                  <a:gd name="connsiteY9" fmla="*/ 1447586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97534 w 7785223"/>
                  <a:gd name="connsiteY18" fmla="*/ 1718745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766472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663118 w 7785223"/>
                  <a:gd name="connsiteY9" fmla="*/ 1447586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97534 w 7785223"/>
                  <a:gd name="connsiteY18" fmla="*/ 1718745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766472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  <a:gd name="connsiteX0" fmla="*/ 6458167 w 7785223"/>
                  <a:gd name="connsiteY0" fmla="*/ 833882 h 2960610"/>
                  <a:gd name="connsiteX1" fmla="*/ 6206458 w 7785223"/>
                  <a:gd name="connsiteY1" fmla="*/ 1085591 h 2960610"/>
                  <a:gd name="connsiteX2" fmla="*/ 6458167 w 7785223"/>
                  <a:gd name="connsiteY2" fmla="*/ 1337300 h 2960610"/>
                  <a:gd name="connsiteX3" fmla="*/ 6709876 w 7785223"/>
                  <a:gd name="connsiteY3" fmla="*/ 1085591 h 2960610"/>
                  <a:gd name="connsiteX4" fmla="*/ 6458167 w 7785223"/>
                  <a:gd name="connsiteY4" fmla="*/ 833882 h 2960610"/>
                  <a:gd name="connsiteX5" fmla="*/ 124054 w 7785223"/>
                  <a:gd name="connsiteY5" fmla="*/ 0 h 2960610"/>
                  <a:gd name="connsiteX6" fmla="*/ 881802 w 7785223"/>
                  <a:gd name="connsiteY6" fmla="*/ 766777 h 2960610"/>
                  <a:gd name="connsiteX7" fmla="*/ 1232618 w 7785223"/>
                  <a:gd name="connsiteY7" fmla="*/ 1485722 h 2960610"/>
                  <a:gd name="connsiteX8" fmla="*/ 2569785 w 7785223"/>
                  <a:gd name="connsiteY8" fmla="*/ 1533897 h 2960610"/>
                  <a:gd name="connsiteX9" fmla="*/ 5663118 w 7785223"/>
                  <a:gd name="connsiteY9" fmla="*/ 1447586 h 2960610"/>
                  <a:gd name="connsiteX10" fmla="*/ 6184373 w 7785223"/>
                  <a:gd name="connsiteY10" fmla="*/ 217410 h 2960610"/>
                  <a:gd name="connsiteX11" fmla="*/ 7585117 w 7785223"/>
                  <a:gd name="connsiteY11" fmla="*/ 1247424 h 2960610"/>
                  <a:gd name="connsiteX12" fmla="*/ 7785223 w 7785223"/>
                  <a:gd name="connsiteY12" fmla="*/ 1625797 h 2960610"/>
                  <a:gd name="connsiteX13" fmla="*/ 7506128 w 7785223"/>
                  <a:gd name="connsiteY13" fmla="*/ 2067231 h 2960610"/>
                  <a:gd name="connsiteX14" fmla="*/ 7074320 w 7785223"/>
                  <a:gd name="connsiteY14" fmla="*/ 2519175 h 2960610"/>
                  <a:gd name="connsiteX15" fmla="*/ 6737299 w 7785223"/>
                  <a:gd name="connsiteY15" fmla="*/ 2324735 h 2960610"/>
                  <a:gd name="connsiteX16" fmla="*/ 6911075 w 7785223"/>
                  <a:gd name="connsiteY16" fmla="*/ 2629534 h 2960610"/>
                  <a:gd name="connsiteX17" fmla="*/ 6173841 w 7785223"/>
                  <a:gd name="connsiteY17" fmla="*/ 2960610 h 2960610"/>
                  <a:gd name="connsiteX18" fmla="*/ 5683886 w 7785223"/>
                  <a:gd name="connsiteY18" fmla="*/ 1786984 h 2960610"/>
                  <a:gd name="connsiteX19" fmla="*/ 4260900 w 7785223"/>
                  <a:gd name="connsiteY19" fmla="*/ 1707212 h 2960610"/>
                  <a:gd name="connsiteX20" fmla="*/ 1262370 w 7785223"/>
                  <a:gd name="connsiteY20" fmla="*/ 1766472 h 2960610"/>
                  <a:gd name="connsiteX21" fmla="*/ 907344 w 7785223"/>
                  <a:gd name="connsiteY21" fmla="*/ 2381268 h 2960610"/>
                  <a:gd name="connsiteX22" fmla="*/ 192166 w 7785223"/>
                  <a:gd name="connsiteY22" fmla="*/ 2960610 h 2960610"/>
                  <a:gd name="connsiteX23" fmla="*/ 149596 w 7785223"/>
                  <a:gd name="connsiteY23" fmla="*/ 2142715 h 2960610"/>
                  <a:gd name="connsiteX24" fmla="*/ 515699 w 7785223"/>
                  <a:gd name="connsiteY24" fmla="*/ 1640050 h 2960610"/>
                  <a:gd name="connsiteX25" fmla="*/ 4858 w 7785223"/>
                  <a:gd name="connsiteY25" fmla="*/ 958471 h 2960610"/>
                  <a:gd name="connsiteX26" fmla="*/ 124054 w 7785223"/>
                  <a:gd name="connsiteY26" fmla="*/ 0 h 2960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7785223" h="2960610">
                    <a:moveTo>
                      <a:pt x="6458167" y="833882"/>
                    </a:moveTo>
                    <a:cubicBezTo>
                      <a:pt x="6319152" y="833882"/>
                      <a:pt x="6206458" y="946576"/>
                      <a:pt x="6206458" y="1085591"/>
                    </a:cubicBezTo>
                    <a:cubicBezTo>
                      <a:pt x="6206458" y="1224606"/>
                      <a:pt x="6319152" y="1337300"/>
                      <a:pt x="6458167" y="1337300"/>
                    </a:cubicBezTo>
                    <a:cubicBezTo>
                      <a:pt x="6597182" y="1337300"/>
                      <a:pt x="6709876" y="1224606"/>
                      <a:pt x="6709876" y="1085591"/>
                    </a:cubicBezTo>
                    <a:cubicBezTo>
                      <a:pt x="6709876" y="946576"/>
                      <a:pt x="6597182" y="833882"/>
                      <a:pt x="6458167" y="833882"/>
                    </a:cubicBezTo>
                    <a:close/>
                    <a:moveTo>
                      <a:pt x="124054" y="0"/>
                    </a:moveTo>
                    <a:cubicBezTo>
                      <a:pt x="124054" y="0"/>
                      <a:pt x="694494" y="17040"/>
                      <a:pt x="881802" y="766777"/>
                    </a:cubicBezTo>
                    <a:cubicBezTo>
                      <a:pt x="975349" y="1143344"/>
                      <a:pt x="1108255" y="1399114"/>
                      <a:pt x="1232618" y="1485722"/>
                    </a:cubicBezTo>
                    <a:cubicBezTo>
                      <a:pt x="1356981" y="1572330"/>
                      <a:pt x="1831368" y="1540253"/>
                      <a:pt x="2569785" y="1533897"/>
                    </a:cubicBezTo>
                    <a:cubicBezTo>
                      <a:pt x="3308202" y="1527541"/>
                      <a:pt x="4961056" y="1460173"/>
                      <a:pt x="5663118" y="1447586"/>
                    </a:cubicBezTo>
                    <a:cubicBezTo>
                      <a:pt x="5764083" y="633577"/>
                      <a:pt x="6000518" y="305361"/>
                      <a:pt x="6184373" y="217410"/>
                    </a:cubicBezTo>
                    <a:cubicBezTo>
                      <a:pt x="6504706" y="184050"/>
                      <a:pt x="7316553" y="874307"/>
                      <a:pt x="7585117" y="1247424"/>
                    </a:cubicBezTo>
                    <a:cubicBezTo>
                      <a:pt x="7737800" y="1452337"/>
                      <a:pt x="7785205" y="1625731"/>
                      <a:pt x="7785223" y="1625797"/>
                    </a:cubicBezTo>
                    <a:cubicBezTo>
                      <a:pt x="7785158" y="1625937"/>
                      <a:pt x="7690374" y="1830829"/>
                      <a:pt x="7506128" y="2067231"/>
                    </a:cubicBezTo>
                    <a:cubicBezTo>
                      <a:pt x="7395543" y="2209120"/>
                      <a:pt x="7263894" y="2377287"/>
                      <a:pt x="7074320" y="2519175"/>
                    </a:cubicBezTo>
                    <a:cubicBezTo>
                      <a:pt x="6895320" y="2340543"/>
                      <a:pt x="6737376" y="2324743"/>
                      <a:pt x="6737299" y="2324735"/>
                    </a:cubicBezTo>
                    <a:cubicBezTo>
                      <a:pt x="6737317" y="2324764"/>
                      <a:pt x="6868950" y="2545458"/>
                      <a:pt x="6911075" y="2629534"/>
                    </a:cubicBezTo>
                    <a:cubicBezTo>
                      <a:pt x="6705703" y="2760914"/>
                      <a:pt x="6463469" y="2876528"/>
                      <a:pt x="6173841" y="2960610"/>
                    </a:cubicBezTo>
                    <a:cubicBezTo>
                      <a:pt x="6173686" y="2960472"/>
                      <a:pt x="5712200" y="2625849"/>
                      <a:pt x="5683886" y="1786984"/>
                    </a:cubicBezTo>
                    <a:cubicBezTo>
                      <a:pt x="5351100" y="1778601"/>
                      <a:pt x="4997819" y="1710631"/>
                      <a:pt x="4260900" y="1707212"/>
                    </a:cubicBezTo>
                    <a:cubicBezTo>
                      <a:pt x="3523981" y="1703793"/>
                      <a:pt x="1406504" y="1698533"/>
                      <a:pt x="1262370" y="1766472"/>
                    </a:cubicBezTo>
                    <a:cubicBezTo>
                      <a:pt x="1118236" y="1834411"/>
                      <a:pt x="1130100" y="2066835"/>
                      <a:pt x="907344" y="2381268"/>
                    </a:cubicBezTo>
                    <a:cubicBezTo>
                      <a:pt x="684588" y="2695701"/>
                      <a:pt x="192167" y="2960610"/>
                      <a:pt x="192166" y="2960610"/>
                    </a:cubicBezTo>
                    <a:cubicBezTo>
                      <a:pt x="243251" y="2474985"/>
                      <a:pt x="136825" y="2313110"/>
                      <a:pt x="149596" y="2142715"/>
                    </a:cubicBezTo>
                    <a:cubicBezTo>
                      <a:pt x="175137" y="1836023"/>
                      <a:pt x="515658" y="1640074"/>
                      <a:pt x="515699" y="1640050"/>
                    </a:cubicBezTo>
                    <a:cubicBezTo>
                      <a:pt x="515699" y="1640050"/>
                      <a:pt x="68713" y="1431317"/>
                      <a:pt x="4858" y="958471"/>
                    </a:cubicBezTo>
                    <a:cubicBezTo>
                      <a:pt x="-41969" y="604902"/>
                      <a:pt x="268793" y="481366"/>
                      <a:pt x="124054" y="0"/>
                    </a:cubicBezTo>
                    <a:close/>
                  </a:path>
                </a:pathLst>
              </a:custGeom>
              <a:ln>
                <a:headEnd/>
                <a:tailEnd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8E1A12E-0E71-9B76-32C6-2F84D48B63C2}"/>
                </a:ext>
              </a:extLst>
            </p:cNvPr>
            <p:cNvSpPr/>
            <p:nvPr/>
          </p:nvSpPr>
          <p:spPr>
            <a:xfrm>
              <a:off x="7164000" y="3348000"/>
              <a:ext cx="36000" cy="36000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spcFirstLastPara="1" wrap="none" numCol="1">
              <a:prstTxWarp prst="textCircle">
                <a:avLst/>
              </a:prstTxWarp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TW" sz="300" b="1" spc="-1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http://home.rapidbbs.cn/?fromuid=22138</a:t>
              </a:r>
              <a:endParaRPr lang="zh-TW" altLang="en-US" sz="300" b="1" spc="-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cxnSp>
        <p:nvCxnSpPr>
          <p:cNvPr id="16" name="Straight Connector 39">
            <a:extLst>
              <a:ext uri="{FF2B5EF4-FFF2-40B4-BE49-F238E27FC236}">
                <a16:creationId xmlns:a16="http://schemas.microsoft.com/office/drawing/2014/main" id="{DE83191B-0B37-B789-8FC9-A33C62B7D150}"/>
              </a:ext>
            </a:extLst>
          </p:cNvPr>
          <p:cNvCxnSpPr>
            <a:cxnSpLocks/>
          </p:cNvCxnSpPr>
          <p:nvPr/>
        </p:nvCxnSpPr>
        <p:spPr>
          <a:xfrm flipH="1">
            <a:off x="3651166" y="4952968"/>
            <a:ext cx="577395" cy="0"/>
          </a:xfrm>
          <a:prstGeom prst="line">
            <a:avLst/>
          </a:prstGeom>
          <a:noFill/>
          <a:ln w="76200" cap="rnd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</p:cxnSp>
      <p:cxnSp>
        <p:nvCxnSpPr>
          <p:cNvPr id="18" name="Straight Connector 39">
            <a:extLst>
              <a:ext uri="{FF2B5EF4-FFF2-40B4-BE49-F238E27FC236}">
                <a16:creationId xmlns:a16="http://schemas.microsoft.com/office/drawing/2014/main" id="{9EA5DAAE-2556-B4D8-0FF4-639227D530AC}"/>
              </a:ext>
            </a:extLst>
          </p:cNvPr>
          <p:cNvCxnSpPr>
            <a:cxnSpLocks/>
          </p:cNvCxnSpPr>
          <p:nvPr/>
        </p:nvCxnSpPr>
        <p:spPr>
          <a:xfrm flipH="1">
            <a:off x="4528793" y="4473552"/>
            <a:ext cx="547263" cy="0"/>
          </a:xfrm>
          <a:prstGeom prst="line">
            <a:avLst/>
          </a:prstGeom>
          <a:noFill/>
          <a:ln w="76200" cap="rnd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449BE9DA-F05C-1F73-5E18-EB9BEEE5B591}"/>
              </a:ext>
            </a:extLst>
          </p:cNvPr>
          <p:cNvSpPr/>
          <p:nvPr/>
        </p:nvSpPr>
        <p:spPr>
          <a:xfrm>
            <a:off x="6539780" y="3831028"/>
            <a:ext cx="166726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TEMP.5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abort 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原因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02738488-95DA-ACD7-3F4A-6EF4F433F04A}"/>
              </a:ext>
            </a:extLst>
          </p:cNvPr>
          <p:cNvSpPr txBox="1"/>
          <p:nvPr/>
        </p:nvSpPr>
        <p:spPr>
          <a:xfrm>
            <a:off x="2881696" y="4351504"/>
            <a:ext cx="1086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Cable </a:t>
            </a:r>
          </a:p>
          <a:p>
            <a:pPr algn="ctr"/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端子阻抗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C041ED0A-A0AA-F6A9-579B-33C51B91FCC4}"/>
              </a:ext>
            </a:extLst>
          </p:cNvPr>
          <p:cNvSpPr txBox="1"/>
          <p:nvPr/>
        </p:nvSpPr>
        <p:spPr>
          <a:xfrm>
            <a:off x="4775135" y="2665239"/>
            <a:ext cx="1624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Spike thermocouple</a:t>
            </a:r>
            <a:endPara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46CA74F0-1A1F-7D5B-DD20-F4A6BC639ED2}"/>
              </a:ext>
            </a:extLst>
          </p:cNvPr>
          <p:cNvSpPr txBox="1"/>
          <p:nvPr/>
        </p:nvSpPr>
        <p:spPr>
          <a:xfrm>
            <a:off x="2135362" y="3067793"/>
            <a:ext cx="21150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SCR control PCB</a:t>
            </a:r>
            <a:endPara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Rounded Rectangle 43">
            <a:extLst>
              <a:ext uri="{FF2B5EF4-FFF2-40B4-BE49-F238E27FC236}">
                <a16:creationId xmlns:a16="http://schemas.microsoft.com/office/drawing/2014/main" id="{F59E4BB8-E181-21F9-4C46-73EC06B89D23}"/>
              </a:ext>
            </a:extLst>
          </p:cNvPr>
          <p:cNvSpPr/>
          <p:nvPr/>
        </p:nvSpPr>
        <p:spPr>
          <a:xfrm>
            <a:off x="3222916" y="5413153"/>
            <a:ext cx="1656184" cy="546166"/>
          </a:xfrm>
          <a:prstGeom prst="roundRect">
            <a:avLst>
              <a:gd name="adj" fmla="val 4267"/>
            </a:avLst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b="1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Heater</a:t>
            </a:r>
            <a:endParaRPr kumimoji="0" lang="en-US" b="1" kern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DE48EF0-83DA-870A-1351-60CA6C10AF20}"/>
              </a:ext>
            </a:extLst>
          </p:cNvPr>
          <p:cNvSpPr txBox="1"/>
          <p:nvPr/>
        </p:nvSpPr>
        <p:spPr>
          <a:xfrm>
            <a:off x="4702469" y="4104579"/>
            <a:ext cx="14251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線圈阻抗</a:t>
            </a:r>
          </a:p>
        </p:txBody>
      </p:sp>
      <p:sp>
        <p:nvSpPr>
          <p:cNvPr id="7" name="Rounded Rectangle 43">
            <a:extLst>
              <a:ext uri="{FF2B5EF4-FFF2-40B4-BE49-F238E27FC236}">
                <a16:creationId xmlns:a16="http://schemas.microsoft.com/office/drawing/2014/main" id="{8BCB9671-7284-2CFE-8EDC-28A58DCDEFBD}"/>
              </a:ext>
            </a:extLst>
          </p:cNvPr>
          <p:cNvSpPr/>
          <p:nvPr/>
        </p:nvSpPr>
        <p:spPr>
          <a:xfrm>
            <a:off x="3400469" y="1988840"/>
            <a:ext cx="1656184" cy="546166"/>
          </a:xfrm>
          <a:prstGeom prst="roundRect">
            <a:avLst>
              <a:gd name="adj" fmla="val 4267"/>
            </a:avLst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b="1" kern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TEMP.</a:t>
            </a:r>
            <a:endParaRPr kumimoji="0" lang="en-US" b="1" kern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1" name="Straight Connector 27">
            <a:extLst>
              <a:ext uri="{FF2B5EF4-FFF2-40B4-BE49-F238E27FC236}">
                <a16:creationId xmlns:a16="http://schemas.microsoft.com/office/drawing/2014/main" id="{B1026F23-748D-1C48-120F-CE983AA48467}"/>
              </a:ext>
            </a:extLst>
          </p:cNvPr>
          <p:cNvCxnSpPr>
            <a:cxnSpLocks/>
          </p:cNvCxnSpPr>
          <p:nvPr/>
        </p:nvCxnSpPr>
        <p:spPr>
          <a:xfrm>
            <a:off x="3192899" y="3515082"/>
            <a:ext cx="593090" cy="0"/>
          </a:xfrm>
          <a:prstGeom prst="line">
            <a:avLst/>
          </a:prstGeom>
          <a:noFill/>
          <a:ln w="76200" cap="rnd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</p:cxnSp>
      <p:sp>
        <p:nvSpPr>
          <p:cNvPr id="9" name="橢圓 8">
            <a:extLst>
              <a:ext uri="{FF2B5EF4-FFF2-40B4-BE49-F238E27FC236}">
                <a16:creationId xmlns:a16="http://schemas.microsoft.com/office/drawing/2014/main" id="{2B961FFB-07A3-8952-B577-C4ACC7707855}"/>
              </a:ext>
            </a:extLst>
          </p:cNvPr>
          <p:cNvSpPr/>
          <p:nvPr/>
        </p:nvSpPr>
        <p:spPr>
          <a:xfrm>
            <a:off x="2746856" y="4373984"/>
            <a:ext cx="1307226" cy="615553"/>
          </a:xfrm>
          <a:prstGeom prst="ellipse">
            <a:avLst/>
          </a:prstGeom>
          <a:noFill/>
          <a:ln>
            <a:solidFill>
              <a:srgbClr val="FC211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圖形 9" descr="核取記號 以實心填滿">
            <a:extLst>
              <a:ext uri="{FF2B5EF4-FFF2-40B4-BE49-F238E27FC236}">
                <a16:creationId xmlns:a16="http://schemas.microsoft.com/office/drawing/2014/main" id="{0E9AD93C-337D-919B-00E9-4BD8345527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08225" y="4208704"/>
            <a:ext cx="330559" cy="330559"/>
          </a:xfrm>
          <a:prstGeom prst="rect">
            <a:avLst/>
          </a:prstGeom>
        </p:spPr>
      </p:pic>
      <p:sp>
        <p:nvSpPr>
          <p:cNvPr id="17" name="乘號 16">
            <a:extLst>
              <a:ext uri="{FF2B5EF4-FFF2-40B4-BE49-F238E27FC236}">
                <a16:creationId xmlns:a16="http://schemas.microsoft.com/office/drawing/2014/main" id="{8CC27C6D-F572-B596-8344-6514799A3523}"/>
              </a:ext>
            </a:extLst>
          </p:cNvPr>
          <p:cNvSpPr/>
          <p:nvPr/>
        </p:nvSpPr>
        <p:spPr>
          <a:xfrm>
            <a:off x="4658408" y="4294768"/>
            <a:ext cx="288032" cy="360040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乘號 18">
            <a:extLst>
              <a:ext uri="{FF2B5EF4-FFF2-40B4-BE49-F238E27FC236}">
                <a16:creationId xmlns:a16="http://schemas.microsoft.com/office/drawing/2014/main" id="{D0AFC47B-29A0-0B5A-C3B4-E3CE60C48EFB}"/>
              </a:ext>
            </a:extLst>
          </p:cNvPr>
          <p:cNvSpPr/>
          <p:nvPr/>
        </p:nvSpPr>
        <p:spPr>
          <a:xfrm>
            <a:off x="3341099" y="3338865"/>
            <a:ext cx="288032" cy="360040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乘號 19">
            <a:extLst>
              <a:ext uri="{FF2B5EF4-FFF2-40B4-BE49-F238E27FC236}">
                <a16:creationId xmlns:a16="http://schemas.microsoft.com/office/drawing/2014/main" id="{93ADF023-2484-FBD9-F3ED-2E5C1FF6BE0A}"/>
              </a:ext>
            </a:extLst>
          </p:cNvPr>
          <p:cNvSpPr/>
          <p:nvPr/>
        </p:nvSpPr>
        <p:spPr>
          <a:xfrm>
            <a:off x="4309416" y="2806366"/>
            <a:ext cx="288032" cy="360040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9A1CE37C-C643-804A-9F09-8F25502A164A}"/>
              </a:ext>
            </a:extLst>
          </p:cNvPr>
          <p:cNvSpPr txBox="1"/>
          <p:nvPr/>
        </p:nvSpPr>
        <p:spPr>
          <a:xfrm>
            <a:off x="1202183" y="5984294"/>
            <a:ext cx="6552728" cy="591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Conclusion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Heater cable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端子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burnout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，則阻抗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show O.L.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，為真因。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2681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8B41A2B8-BDDB-5E06-7474-AE2E70414C24}"/>
              </a:ext>
            </a:extLst>
          </p:cNvPr>
          <p:cNvSpPr txBox="1"/>
          <p:nvPr/>
        </p:nvSpPr>
        <p:spPr>
          <a:xfrm>
            <a:off x="821354" y="1628800"/>
            <a:ext cx="8100973" cy="3284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Why machine execute TEMP.5 abort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？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因為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TEMP.5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實際值低於設定值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</a:t>
            </a:r>
            <a:r>
              <a: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°C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且持續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60sec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，則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TEMP.5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abort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 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Why TEMP.5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會低於設定值？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因為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TEMP.5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的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SCR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電流為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0A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無輸出，造成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無法升溫。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Why TEMP.5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的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SCR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電流為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0A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？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因為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Heater TEMP.5 cable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端子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burnout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Why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heater TEMP.5 cable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端子會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burnout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？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因為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heater TEMP.5 cable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端子過熱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Why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heater TEMP.5 cable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端子會過熱？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因為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TEMP.5 cable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端子無確實被壓緊鎖緊。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n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n-lt"/>
              <a:ea typeface="新細明體" pitchFamily="18" charset="-12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57685" y="1011507"/>
            <a:ext cx="752668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4.1 Non-conformance root cause (</a:t>
            </a:r>
            <a:r>
              <a:rPr lang="en-US" altLang="zh-TW" sz="1600" b="1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sz="1600" b="1" dirty="0">
                <a:solidFill>
                  <a:srgbClr val="0000FF"/>
                </a:solidFill>
              </a:rPr>
              <a:t>): </a:t>
            </a:r>
          </a:p>
          <a:p>
            <a:pPr lvl="1"/>
            <a:r>
              <a:rPr lang="en-US" altLang="zh-TW" sz="1600" b="1" dirty="0">
                <a:solidFill>
                  <a:srgbClr val="0000FF"/>
                </a:solidFill>
              </a:rPr>
              <a:t>a) 5-Why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1354" y="5558500"/>
            <a:ext cx="760836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b) Conclusion :</a:t>
            </a:r>
            <a:endParaRPr lang="en-US" altLang="zh-TW" sz="16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3987DEA-E665-497C-B35F-5CF1B9EEE88E}"/>
              </a:ext>
            </a:extLst>
          </p:cNvPr>
          <p:cNvSpPr txBox="1"/>
          <p:nvPr/>
        </p:nvSpPr>
        <p:spPr>
          <a:xfrm>
            <a:off x="821354" y="5897054"/>
            <a:ext cx="7608360" cy="375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因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TEMP.5 cable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端子無確實被壓緊鎖緊</a:t>
            </a:r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，使端子 </a:t>
            </a:r>
            <a:r>
              <a:rPr lang="en-US" altLang="zh-TW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burnout</a:t>
            </a:r>
            <a:r>
              <a:rPr lang="zh-TW" altLang="en-US" sz="14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。</a:t>
            </a:r>
            <a:endParaRPr lang="en-US" altLang="zh-TW" sz="14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917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251520" y="395954"/>
            <a:ext cx="834789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4.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定義及驗證真因 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(Identify the Root Cause)</a:t>
            </a:r>
          </a:p>
          <a:p>
            <a:pPr>
              <a:defRPr/>
            </a:pPr>
            <a:r>
              <a:rPr lang="en-US" altLang="zh-TW" sz="1400" b="1" dirty="0">
                <a:latin typeface="+mj-lt"/>
                <a:ea typeface="新細明體" pitchFamily="18" charset="-120"/>
              </a:rPr>
              <a:t>(Identify all potential causes which could explain why the problem occurred)</a:t>
            </a:r>
            <a:endParaRPr lang="zh-TW" altLang="en-US" sz="1400" b="1" dirty="0">
              <a:latin typeface="+mj-lt"/>
              <a:ea typeface="新細明體" pitchFamily="18" charset="-12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555" y="1102975"/>
            <a:ext cx="850594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4.2 </a:t>
            </a:r>
            <a:r>
              <a:rPr lang="en-US" altLang="zh-TW" sz="1600" b="1" dirty="0">
                <a:solidFill>
                  <a:srgbClr val="FF0000"/>
                </a:solidFill>
              </a:rPr>
              <a:t>Non-detection / escape root cause </a:t>
            </a:r>
            <a:r>
              <a:rPr lang="en-US" altLang="zh-TW" sz="1600" b="1" i="1" dirty="0">
                <a:solidFill>
                  <a:srgbClr val="0000FF"/>
                </a:solidFill>
              </a:rPr>
              <a:t>(Provide reason to why the current system failed to detect)</a:t>
            </a:r>
            <a:endParaRPr lang="en-US" altLang="zh-TW" sz="1600" b="1" dirty="0">
              <a:solidFill>
                <a:srgbClr val="0000FF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57790" y="2820800"/>
            <a:ext cx="24367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b) Conclusion</a:t>
            </a:r>
            <a:endParaRPr lang="zh-TW" altLang="en-US" sz="1200" b="1" dirty="0">
              <a:solidFill>
                <a:srgbClr val="0000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7544" y="1357834"/>
            <a:ext cx="148418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1600" b="1" dirty="0">
                <a:solidFill>
                  <a:srgbClr val="0000FF"/>
                </a:solidFill>
              </a:rPr>
              <a:t> a) 5-why: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6E4EFE2-65DA-7FAF-4AAC-0D5FFF2F922E}"/>
              </a:ext>
            </a:extLst>
          </p:cNvPr>
          <p:cNvSpPr txBox="1"/>
          <p:nvPr/>
        </p:nvSpPr>
        <p:spPr>
          <a:xfrm>
            <a:off x="957790" y="1620063"/>
            <a:ext cx="8038623" cy="699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為何鎖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heater cable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時，無明確規範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因為鎖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heater cable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未明確指定需使用扭力板手鎖其端子。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96F4259-9702-51BB-D981-9FE10EC6703D}"/>
              </a:ext>
            </a:extLst>
          </p:cNvPr>
          <p:cNvSpPr txBox="1"/>
          <p:nvPr/>
        </p:nvSpPr>
        <p:spPr>
          <a:xfrm>
            <a:off x="957790" y="3159354"/>
            <a:ext cx="7538826" cy="375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於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PM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table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中新增，使用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28Nm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扭力板手檢查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heater cable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端子鬆緊狀態。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50602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12025-0CFA-DAA4-B515-C3B43D7B9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1243F15-9799-8AC6-7710-955D64D6C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633" y="253234"/>
            <a:ext cx="864096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5.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擬定及驗證永久改善對策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Choose and verify permanent corrective action (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列出各項執行之對策並檢核其對策有效性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)</a:t>
            </a:r>
            <a:endParaRPr lang="zh-TW" altLang="en-US" sz="2000" b="1" dirty="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新細明體" pitchFamily="18" charset="-12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6AA487-7238-5DD1-27E5-EBC0E4D59D24}"/>
              </a:ext>
            </a:extLst>
          </p:cNvPr>
          <p:cNvSpPr/>
          <p:nvPr/>
        </p:nvSpPr>
        <p:spPr>
          <a:xfrm>
            <a:off x="364908" y="995673"/>
            <a:ext cx="8370930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5.1 What was the chosen corrective action to correct the root cause? (Add photo or diagram where applicable.)</a:t>
            </a:r>
          </a:p>
          <a:p>
            <a:pPr lvl="1"/>
            <a:endParaRPr lang="en-US" altLang="zh-TW" sz="1400" b="1" dirty="0"/>
          </a:p>
          <a:p>
            <a:pPr lvl="1"/>
            <a:endParaRPr lang="zh-TW" altLang="en-US" sz="16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5480B82-EEE6-4C42-ACE0-0A0B682A8F3D}"/>
              </a:ext>
            </a:extLst>
          </p:cNvPr>
          <p:cNvSpPr txBox="1"/>
          <p:nvPr/>
        </p:nvSpPr>
        <p:spPr>
          <a:xfrm>
            <a:off x="308442" y="1556383"/>
            <a:ext cx="8813817" cy="3607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指定鎖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heater cable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端子時，使用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28Nm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扭力板手。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7E99AC4E-D6C6-0DBB-4680-9874F3905C0A}"/>
              </a:ext>
            </a:extLst>
          </p:cNvPr>
          <p:cNvGrpSpPr/>
          <p:nvPr/>
        </p:nvGrpSpPr>
        <p:grpSpPr>
          <a:xfrm>
            <a:off x="827520" y="2394546"/>
            <a:ext cx="7445706" cy="2907071"/>
            <a:chOff x="1043608" y="2466145"/>
            <a:chExt cx="7445706" cy="2907071"/>
          </a:xfrm>
        </p:grpSpPr>
        <p:pic>
          <p:nvPicPr>
            <p:cNvPr id="10" name="圖片 9" descr="一張含有 文字, 電池, 室內 的圖片&#10;&#10;AI 產生的內容可能不正確。">
              <a:extLst>
                <a:ext uri="{FF2B5EF4-FFF2-40B4-BE49-F238E27FC236}">
                  <a16:creationId xmlns:a16="http://schemas.microsoft.com/office/drawing/2014/main" id="{FAC50670-A5D5-0830-DEAE-864E175FE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3608" y="2466145"/>
              <a:ext cx="1409784" cy="2907071"/>
            </a:xfrm>
            <a:prstGeom prst="rect">
              <a:avLst/>
            </a:prstGeom>
          </p:spPr>
        </p:pic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3458171A-AFA7-3698-4455-2320EFEEC2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79712" y="3861048"/>
              <a:ext cx="1036364" cy="504056"/>
            </a:xfrm>
            <a:prstGeom prst="straightConnector1">
              <a:avLst/>
            </a:prstGeom>
            <a:ln w="1905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14AEDBA8-00FF-787A-0C76-805F304DCFF2}"/>
                </a:ext>
              </a:extLst>
            </p:cNvPr>
            <p:cNvSpPr txBox="1"/>
            <p:nvPr/>
          </p:nvSpPr>
          <p:spPr>
            <a:xfrm>
              <a:off x="2627784" y="3500224"/>
              <a:ext cx="9361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</a:rPr>
                <a:t>28Nm</a:t>
              </a:r>
            </a:p>
          </p:txBody>
        </p:sp>
        <p:pic>
          <p:nvPicPr>
            <p:cNvPr id="14" name="圖片 13" descr="一張含有 工具 的圖片&#10;&#10;AI 產生的內容可能不正確。">
              <a:extLst>
                <a:ext uri="{FF2B5EF4-FFF2-40B4-BE49-F238E27FC236}">
                  <a16:creationId xmlns:a16="http://schemas.microsoft.com/office/drawing/2014/main" id="{C8F9F9F9-A3E0-A919-1CB4-4FAACB09AD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1695" y="2470649"/>
              <a:ext cx="5277619" cy="29025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841324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19</a:t>
            </a:fld>
            <a:endParaRPr lang="zh-TW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96525" y="344850"/>
            <a:ext cx="864096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5.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擬定及驗證永久改善對策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Choose and verify permanent corrective action (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列出各項執行之對策並檢核其對策有效性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)</a:t>
            </a:r>
            <a:endParaRPr lang="zh-TW" altLang="en-US" sz="2000" b="1" dirty="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新細明體" pitchFamily="18" charset="-12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78650" y="1074222"/>
            <a:ext cx="351269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5.2 Verification of actions effectiveness</a:t>
            </a:r>
            <a:endParaRPr lang="zh-TW" altLang="en-US" sz="1600" b="1" dirty="0">
              <a:solidFill>
                <a:srgbClr val="0000FF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77DA42D-EA9A-C181-0467-433665B0EA09}"/>
              </a:ext>
            </a:extLst>
          </p:cNvPr>
          <p:cNvSpPr txBox="1"/>
          <p:nvPr/>
        </p:nvSpPr>
        <p:spPr>
          <a:xfrm>
            <a:off x="330183" y="1412776"/>
            <a:ext cx="8604448" cy="1022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28Nm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扭力板手，可將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heater cable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端子確實鎖緊。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使用熱影像檢測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heater cable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接點溫度，均無出現溫度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&gt;90</a:t>
            </a:r>
            <a:r>
              <a: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°C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 證實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28Nm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是合理的，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如下圖，為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TEMP.1~TEMP.5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熱影像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</p:txBody>
      </p:sp>
      <p:pic>
        <p:nvPicPr>
          <p:cNvPr id="6" name="圖片 5" descr="一張含有 文字, 電子產品, 電子裝置, 小工具 的圖片&#10;&#10;AI 產生的內容可能不正確。">
            <a:extLst>
              <a:ext uri="{FF2B5EF4-FFF2-40B4-BE49-F238E27FC236}">
                <a16:creationId xmlns:a16="http://schemas.microsoft.com/office/drawing/2014/main" id="{FD9D3DD2-8E93-A44D-D5D3-54E0873275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10396" y="2204096"/>
            <a:ext cx="2106581" cy="2856380"/>
          </a:xfrm>
          <a:prstGeom prst="rect">
            <a:avLst/>
          </a:prstGeom>
        </p:spPr>
      </p:pic>
      <p:pic>
        <p:nvPicPr>
          <p:cNvPr id="8" name="圖片 7" descr="一張含有 小工具, 多媒體, 電子裝置, 電子產品 的圖片&#10;&#10;AI 產生的內容可能不正確。">
            <a:extLst>
              <a:ext uri="{FF2B5EF4-FFF2-40B4-BE49-F238E27FC236}">
                <a16:creationId xmlns:a16="http://schemas.microsoft.com/office/drawing/2014/main" id="{D58A9B0F-DB7C-42F9-5246-8BC914813A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429345" y="2155284"/>
            <a:ext cx="2123816" cy="2952849"/>
          </a:xfrm>
          <a:prstGeom prst="rect">
            <a:avLst/>
          </a:prstGeom>
        </p:spPr>
      </p:pic>
      <p:pic>
        <p:nvPicPr>
          <p:cNvPr id="11" name="圖片 10" descr="一張含有 文字, 多媒體, 小工具, 電子裝置 的圖片&#10;&#10;AI 產生的內容可能不正確。">
            <a:extLst>
              <a:ext uri="{FF2B5EF4-FFF2-40B4-BE49-F238E27FC236}">
                <a16:creationId xmlns:a16="http://schemas.microsoft.com/office/drawing/2014/main" id="{4689DC01-11FD-5A62-EC90-ACEEF31C49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534403" y="2135223"/>
            <a:ext cx="2106582" cy="2994126"/>
          </a:xfrm>
          <a:prstGeom prst="rect">
            <a:avLst/>
          </a:prstGeom>
        </p:spPr>
      </p:pic>
      <p:pic>
        <p:nvPicPr>
          <p:cNvPr id="13" name="圖片 12" descr="一張含有 小工具, 電子裝置, 多媒體, 文字 的圖片&#10;&#10;AI 產生的內容可能不正確。">
            <a:extLst>
              <a:ext uri="{FF2B5EF4-FFF2-40B4-BE49-F238E27FC236}">
                <a16:creationId xmlns:a16="http://schemas.microsoft.com/office/drawing/2014/main" id="{999188FD-2D20-852D-4269-AA15462D16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38449" y="4359336"/>
            <a:ext cx="2050473" cy="2856381"/>
          </a:xfrm>
          <a:prstGeom prst="rect">
            <a:avLst/>
          </a:prstGeom>
        </p:spPr>
      </p:pic>
      <p:pic>
        <p:nvPicPr>
          <p:cNvPr id="15" name="圖片 14" descr="一張含有 電子裝置, 小工具, 電子產品, 文字 的圖片&#10;&#10;AI 產生的內容可能不正確。">
            <a:extLst>
              <a:ext uri="{FF2B5EF4-FFF2-40B4-BE49-F238E27FC236}">
                <a16:creationId xmlns:a16="http://schemas.microsoft.com/office/drawing/2014/main" id="{01CE3919-8BAE-942B-7A51-7A274A9664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452676" y="4297759"/>
            <a:ext cx="2077156" cy="2952852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06FDF504-D5D2-9823-4910-44D42D26FCD2}"/>
              </a:ext>
            </a:extLst>
          </p:cNvPr>
          <p:cNvSpPr txBox="1"/>
          <p:nvPr/>
        </p:nvSpPr>
        <p:spPr>
          <a:xfrm>
            <a:off x="1043608" y="2716177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TEMP.1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8E1937C1-36D5-F725-4679-F91C45AF2439}"/>
              </a:ext>
            </a:extLst>
          </p:cNvPr>
          <p:cNvSpPr txBox="1"/>
          <p:nvPr/>
        </p:nvSpPr>
        <p:spPr>
          <a:xfrm>
            <a:off x="4164355" y="2693553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TEMP.2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38E6DB1-F76B-0E1D-31DA-8D664B39EB9A}"/>
              </a:ext>
            </a:extLst>
          </p:cNvPr>
          <p:cNvSpPr txBox="1"/>
          <p:nvPr/>
        </p:nvSpPr>
        <p:spPr>
          <a:xfrm>
            <a:off x="7117205" y="2716177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TEMP.3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5AB4724-798C-0574-9C41-BFD982DF2771}"/>
              </a:ext>
            </a:extLst>
          </p:cNvPr>
          <p:cNvSpPr txBox="1"/>
          <p:nvPr/>
        </p:nvSpPr>
        <p:spPr>
          <a:xfrm>
            <a:off x="1175877" y="4931613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TEMP.4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BC571E1-787C-5A1F-1658-CDD65238314E}"/>
              </a:ext>
            </a:extLst>
          </p:cNvPr>
          <p:cNvSpPr txBox="1"/>
          <p:nvPr/>
        </p:nvSpPr>
        <p:spPr>
          <a:xfrm>
            <a:off x="4164355" y="4957352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TEMP.5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0152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一張含有 文字, 工具 的圖片&#10;&#10;AI 產生的內容可能不正確。">
            <a:extLst>
              <a:ext uri="{FF2B5EF4-FFF2-40B4-BE49-F238E27FC236}">
                <a16:creationId xmlns:a16="http://schemas.microsoft.com/office/drawing/2014/main" id="{F3AB51EA-B4B3-9E8D-8B7D-8428FF7878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2818" y="2112141"/>
            <a:ext cx="6207534" cy="4337795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477DA42D-EA9A-C181-0467-433665B0EA09}"/>
              </a:ext>
            </a:extLst>
          </p:cNvPr>
          <p:cNvSpPr txBox="1"/>
          <p:nvPr/>
        </p:nvSpPr>
        <p:spPr>
          <a:xfrm>
            <a:off x="399951" y="1360522"/>
            <a:ext cx="8604448" cy="699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修改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TEL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OXIDE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爐管降溫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PM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O.I.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程序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&amp;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PM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table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保養紀錄表，新增需要檢查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Heater cable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端子鬆緊狀態，如下圖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放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OI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20</a:t>
            </a:fld>
            <a:endParaRPr lang="zh-TW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96525" y="245385"/>
            <a:ext cx="864096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5.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擬定及驗證永久改善對策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Choose and verify permanent corrective action (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列出各項執行之對策並檢核其對策有效性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)</a:t>
            </a:r>
            <a:endParaRPr lang="zh-TW" altLang="en-US" sz="2000" b="1" dirty="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新細明體" pitchFamily="18" charset="-12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9951" y="1021968"/>
            <a:ext cx="351269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5.2 Verification of actions effectiveness</a:t>
            </a:r>
            <a:endParaRPr lang="zh-TW" altLang="en-US" sz="1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73658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4C495-15BA-AFA4-B00A-9DDEC17E9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9D67C1F7-981A-4D6C-C746-1E5B5756138F}"/>
              </a:ext>
            </a:extLst>
          </p:cNvPr>
          <p:cNvSpPr txBox="1"/>
          <p:nvPr/>
        </p:nvSpPr>
        <p:spPr>
          <a:xfrm>
            <a:off x="399951" y="1360522"/>
            <a:ext cx="8604448" cy="699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修改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TEL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OXIDE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爐管降溫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PM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O.I.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程序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&amp;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PM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table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保養紀錄表，新增需要檢查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Heater cable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端子鬆緊狀態，如下圖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放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OI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7BD905-FC73-A48B-A6FE-FA0C2A7FB4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21</a:t>
            </a:fld>
            <a:endParaRPr lang="zh-TW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EC88A62-6C38-3A3D-E09C-157D18DEB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525" y="245385"/>
            <a:ext cx="864096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5.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擬定及驗證永久改善對策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Choose and verify permanent corrective action (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列出各項執行之對策並檢核其對策有效性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)</a:t>
            </a:r>
            <a:endParaRPr lang="zh-TW" altLang="en-US" sz="2000" b="1" dirty="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新細明體" pitchFamily="18" charset="-12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5905AE-5731-8984-7B95-1A5605BE525B}"/>
              </a:ext>
            </a:extLst>
          </p:cNvPr>
          <p:cNvSpPr/>
          <p:nvPr/>
        </p:nvSpPr>
        <p:spPr>
          <a:xfrm>
            <a:off x="399951" y="1021968"/>
            <a:ext cx="351269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b="1" dirty="0">
                <a:solidFill>
                  <a:srgbClr val="0000FF"/>
                </a:solidFill>
              </a:rPr>
              <a:t>5.2 Verification of actions effectiveness</a:t>
            </a:r>
            <a:endParaRPr lang="zh-TW" altLang="en-US" sz="1600" b="1" dirty="0">
              <a:solidFill>
                <a:srgbClr val="0000FF"/>
              </a:solidFill>
            </a:endParaRPr>
          </a:p>
        </p:txBody>
      </p:sp>
      <p:pic>
        <p:nvPicPr>
          <p:cNvPr id="6" name="圖片 5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74CE97D7-7464-AD64-3A13-A307F18A7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845" y="2132042"/>
            <a:ext cx="8287907" cy="352920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F4D0394-2ED0-A36B-A451-8EFD71415021}"/>
              </a:ext>
            </a:extLst>
          </p:cNvPr>
          <p:cNvSpPr/>
          <p:nvPr/>
        </p:nvSpPr>
        <p:spPr>
          <a:xfrm>
            <a:off x="1979712" y="5445224"/>
            <a:ext cx="6680040" cy="216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8088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296525" y="432538"/>
            <a:ext cx="8347890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6.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實施認永久改善對策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Corrective Actions Implementation</a:t>
            </a:r>
            <a:endParaRPr lang="zh-TW" altLang="en-US" sz="2000" b="1" dirty="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新細明體" pitchFamily="18" charset="-12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76545" y="1223755"/>
            <a:ext cx="80558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6.1 For non-conformance root cause (</a:t>
            </a:r>
            <a:r>
              <a:rPr lang="en-US" altLang="zh-TW" dirty="0">
                <a:solidFill>
                  <a:srgbClr val="FF0000"/>
                </a:solidFill>
              </a:rPr>
              <a:t>defect nature / technical root cause</a:t>
            </a:r>
            <a:r>
              <a:rPr lang="en-US" altLang="zh-TW" dirty="0"/>
              <a:t>): 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93809"/>
              </p:ext>
            </p:extLst>
          </p:nvPr>
        </p:nvGraphicFramePr>
        <p:xfrm>
          <a:off x="570939" y="1662756"/>
          <a:ext cx="8382502" cy="1037527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98750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2579232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954081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1155362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  <a:gridCol w="3095077">
                  <a:extLst>
                    <a:ext uri="{9D8B030D-6E8A-4147-A177-3AD203B41FA5}">
                      <a16:colId xmlns:a16="http://schemas.microsoft.com/office/drawing/2014/main" val="23316225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Nbr</a:t>
                      </a:r>
                      <a:r>
                        <a:rPr lang="en-US" sz="1200" dirty="0">
                          <a:effectLst/>
                        </a:rPr>
                        <a:t>. 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Actions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Who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When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Remarks / Evidence</a:t>
                      </a:r>
                      <a:endParaRPr lang="zh-TW" sz="1200" dirty="0">
                        <a:effectLst/>
                      </a:endParaRPr>
                    </a:p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(Document/Spec/Chart #)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使用 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28Nm 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扭力板手重鎖接點</a:t>
                      </a:r>
                      <a:endParaRPr lang="en-US" altLang="zh-TW" sz="14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S220</a:t>
                      </a:r>
                      <a:endParaRPr lang="zh-TW" altLang="en-US" sz="14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2026/01/25</a:t>
                      </a:r>
                      <a:endParaRPr lang="zh-TW" altLang="en-US" sz="14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Test run check 5 zone TEMP. stable</a:t>
                      </a:r>
                      <a:r>
                        <a:rPr lang="zh-TW" altLang="en-US" sz="14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4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&amp;</a:t>
                      </a:r>
                      <a:r>
                        <a:rPr lang="zh-TW" altLang="en-US" sz="14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4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Test run data in SPEC.</a:t>
                      </a:r>
                      <a:endParaRPr lang="zh-TW" altLang="en-US" sz="14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47498" y="3158970"/>
            <a:ext cx="85059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6.2 For </a:t>
            </a:r>
            <a:r>
              <a:rPr lang="en-US" altLang="zh-TW" dirty="0">
                <a:solidFill>
                  <a:srgbClr val="FF0000"/>
                </a:solidFill>
              </a:rPr>
              <a:t>non-detection / escape root cause</a:t>
            </a:r>
            <a:endParaRPr lang="en-US" altLang="zh-TW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60583"/>
              </p:ext>
            </p:extLst>
          </p:nvPr>
        </p:nvGraphicFramePr>
        <p:xfrm>
          <a:off x="552991" y="3603133"/>
          <a:ext cx="8400450" cy="1982407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76696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2608090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956123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1176241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  <a:gridCol w="3083300">
                  <a:extLst>
                    <a:ext uri="{9D8B030D-6E8A-4147-A177-3AD203B41FA5}">
                      <a16:colId xmlns:a16="http://schemas.microsoft.com/office/drawing/2014/main" val="23316225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Nbr</a:t>
                      </a:r>
                      <a:r>
                        <a:rPr lang="en-US" sz="1200" dirty="0">
                          <a:effectLst/>
                        </a:rPr>
                        <a:t>. 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Actions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Who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When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Remarks / Evidence</a:t>
                      </a:r>
                      <a:endParaRPr lang="zh-TW" sz="1200" dirty="0">
                        <a:effectLst/>
                      </a:endParaRPr>
                    </a:p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(Document/Spec/Chart #)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平行展開 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Drive in 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機組，</a:t>
                      </a:r>
                      <a:endParaRPr lang="en-US" altLang="zh-TW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用 </a:t>
                      </a:r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28Nm 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扭力板手檢查 </a:t>
                      </a:r>
                      <a:endParaRPr lang="en-US" altLang="zh-TW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heater cable </a:t>
                      </a:r>
                      <a:r>
                        <a:rPr lang="zh-TW" alt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鬆緊程度</a:t>
                      </a:r>
                      <a:endParaRPr lang="en-US" altLang="zh-TW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S220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2026/03/04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400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  <a:tr h="51855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2</a:t>
                      </a:r>
                      <a:endParaRPr lang="zh-TW" altLang="en-US" sz="1400" dirty="0"/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zh-TW" altLang="en-US" sz="14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 </a:t>
                      </a:r>
                      <a:r>
                        <a:rPr lang="en-US" altLang="zh-TW" sz="14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28Nm </a:t>
                      </a:r>
                      <a:r>
                        <a:rPr lang="zh-TW" altLang="en-US" sz="14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扭力板手鎖 </a:t>
                      </a:r>
                      <a:r>
                        <a:rPr lang="en-US" altLang="zh-TW" sz="14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heater cable </a:t>
                      </a:r>
                      <a:r>
                        <a:rPr lang="zh-TW" altLang="en-US" sz="14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端子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S220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2026/04/21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zh-TW" altLang="en-US" sz="14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 </a:t>
                      </a: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28Nm </a:t>
                      </a:r>
                      <a:r>
                        <a:rPr lang="zh-TW" altLang="en-US" sz="14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扭力板手後，搭配熱影像檢測接點溫度均無</a:t>
                      </a: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&gt;90</a:t>
                      </a:r>
                      <a:r>
                        <a:rPr lang="en-US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°C</a:t>
                      </a:r>
                      <a:r>
                        <a:rPr lang="zh-TW" altLang="en-US" sz="14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，證實可將 </a:t>
                      </a: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heater cable </a:t>
                      </a:r>
                      <a:r>
                        <a:rPr lang="zh-TW" altLang="en-US" sz="14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端子確實鎖緊。</a:t>
                      </a:r>
                      <a:endParaRPr lang="en-US" altLang="zh-TW" sz="14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218226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85176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ACA2641-C4C9-A5B3-805E-5C5D62D2D4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A3647F-B5CB-4C0D-A009-B847CBF56DA1}" type="slidenum">
              <a:rPr lang="zh-TW" altLang="en-US" smtClean="0"/>
              <a:pPr/>
              <a:t>23</a:t>
            </a:fld>
            <a:endParaRPr lang="zh-TW" alt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EAE487D-56E5-35CE-00E7-8F88B9B59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052" y="397933"/>
            <a:ext cx="8347890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Discipline 6.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實施認永久改善對策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Corrective Actions Implementation</a:t>
            </a:r>
            <a:endParaRPr lang="zh-TW" altLang="en-US" sz="2000" b="1" dirty="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新細明體" pitchFamily="18" charset="-120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14D719D0-3C48-896A-424B-5EF497064F99}"/>
              </a:ext>
            </a:extLst>
          </p:cNvPr>
          <p:cNvSpPr txBox="1"/>
          <p:nvPr/>
        </p:nvSpPr>
        <p:spPr>
          <a:xfrm>
            <a:off x="630814" y="798043"/>
            <a:ext cx="6094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平行展開</a:t>
            </a:r>
            <a:endParaRPr lang="en-US" sz="2000" b="1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9E45D16-84E7-B813-6176-F9075B6ADA8F}"/>
              </a:ext>
            </a:extLst>
          </p:cNvPr>
          <p:cNvSpPr txBox="1"/>
          <p:nvPr/>
        </p:nvSpPr>
        <p:spPr>
          <a:xfrm>
            <a:off x="628352" y="1145608"/>
            <a:ext cx="8347890" cy="1155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用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28Nm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扭力板手，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check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Drive in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機組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heater cable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端子鬆緊程度。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使用熱影像檢測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Drive in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機組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heater cable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接點溫度。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2026/03/04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Drive in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機組均完成檢查作業。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3967D75-33F8-894D-9684-D3E8B48A72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964522"/>
              </p:ext>
            </p:extLst>
          </p:nvPr>
        </p:nvGraphicFramePr>
        <p:xfrm>
          <a:off x="1083996" y="2300668"/>
          <a:ext cx="3488004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4002">
                  <a:extLst>
                    <a:ext uri="{9D8B030D-6E8A-4147-A177-3AD203B41FA5}">
                      <a16:colId xmlns:a16="http://schemas.microsoft.com/office/drawing/2014/main" val="1561392175"/>
                    </a:ext>
                  </a:extLst>
                </a:gridCol>
                <a:gridCol w="1744002">
                  <a:extLst>
                    <a:ext uri="{9D8B030D-6E8A-4147-A177-3AD203B41FA5}">
                      <a16:colId xmlns:a16="http://schemas.microsoft.com/office/drawing/2014/main" val="2455899586"/>
                    </a:ext>
                  </a:extLst>
                </a:gridCol>
              </a:tblGrid>
              <a:tr h="293665">
                <a:tc>
                  <a:txBody>
                    <a:bodyPr/>
                    <a:lstStyle/>
                    <a:p>
                      <a:r>
                        <a:rPr lang="zh-TW" altLang="en-US" dirty="0"/>
                        <a:t>機台</a:t>
                      </a:r>
                      <a:r>
                        <a:rPr lang="en-US" altLang="zh-TW" dirty="0"/>
                        <a:t>(Drive in)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完成日期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230587"/>
                  </a:ext>
                </a:extLst>
              </a:tr>
              <a:tr h="293665">
                <a:tc>
                  <a:txBody>
                    <a:bodyPr/>
                    <a:lstStyle/>
                    <a:p>
                      <a:r>
                        <a:rPr lang="en-US" dirty="0"/>
                        <a:t>F02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2026/03/04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494665"/>
                  </a:ext>
                </a:extLst>
              </a:tr>
              <a:tr h="293665">
                <a:tc>
                  <a:txBody>
                    <a:bodyPr/>
                    <a:lstStyle/>
                    <a:p>
                      <a:r>
                        <a:rPr lang="en-US" dirty="0"/>
                        <a:t>F04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2026/02/04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1507954"/>
                  </a:ext>
                </a:extLst>
              </a:tr>
              <a:tr h="293665">
                <a:tc>
                  <a:txBody>
                    <a:bodyPr/>
                    <a:lstStyle/>
                    <a:p>
                      <a:r>
                        <a:rPr lang="en-US" altLang="zh-TW" dirty="0"/>
                        <a:t>F05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2026/03/04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003958"/>
                  </a:ext>
                </a:extLst>
              </a:tr>
              <a:tr h="2936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F08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2026/03/04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397033"/>
                  </a:ext>
                </a:extLst>
              </a:tr>
              <a:tr h="2936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F09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2026/02/02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522213"/>
                  </a:ext>
                </a:extLst>
              </a:tr>
              <a:tr h="2936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F10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2026/03/04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241185"/>
                  </a:ext>
                </a:extLst>
              </a:tr>
              <a:tr h="2936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F11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2026/02/02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786353"/>
                  </a:ext>
                </a:extLst>
              </a:tr>
              <a:tr h="293665">
                <a:tc>
                  <a:txBody>
                    <a:bodyPr/>
                    <a:lstStyle/>
                    <a:p>
                      <a:r>
                        <a:rPr lang="en-US" dirty="0"/>
                        <a:t>F15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2026/03/04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604560"/>
                  </a:ext>
                </a:extLst>
              </a:tr>
              <a:tr h="293665">
                <a:tc>
                  <a:txBody>
                    <a:bodyPr/>
                    <a:lstStyle/>
                    <a:p>
                      <a:r>
                        <a:rPr lang="en-US" dirty="0"/>
                        <a:t>F24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2026/02/05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837392"/>
                  </a:ext>
                </a:extLst>
              </a:tr>
              <a:tr h="293665">
                <a:tc>
                  <a:txBody>
                    <a:bodyPr/>
                    <a:lstStyle/>
                    <a:p>
                      <a:r>
                        <a:rPr lang="en-US" dirty="0"/>
                        <a:t>F33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2026/03/04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940657"/>
                  </a:ext>
                </a:extLst>
              </a:tr>
              <a:tr h="293665">
                <a:tc>
                  <a:txBody>
                    <a:bodyPr/>
                    <a:lstStyle/>
                    <a:p>
                      <a:r>
                        <a:rPr lang="en-US" dirty="0"/>
                        <a:t>F42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2026/03/04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4200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22147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422942" y="470482"/>
            <a:ext cx="880247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7.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避免再發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Prevent Recurrence (Modify System / Document)</a:t>
            </a:r>
            <a:endParaRPr lang="zh-TW" altLang="en-US" sz="2000" b="1" dirty="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新細明體" pitchFamily="18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2942" y="1022730"/>
            <a:ext cx="237763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7.1 Systemic Actions:</a:t>
            </a:r>
            <a:endParaRPr lang="zh-TW" altLang="zh-TW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443917"/>
              </p:ext>
            </p:extLst>
          </p:nvPr>
        </p:nvGraphicFramePr>
        <p:xfrm>
          <a:off x="179512" y="1429771"/>
          <a:ext cx="8856984" cy="454946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10827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2505597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979037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  <a:gridCol w="3413451">
                  <a:extLst>
                    <a:ext uri="{9D8B030D-6E8A-4147-A177-3AD203B41FA5}">
                      <a16:colId xmlns:a16="http://schemas.microsoft.com/office/drawing/2014/main" val="2331622569"/>
                    </a:ext>
                  </a:extLst>
                </a:gridCol>
              </a:tblGrid>
              <a:tr h="638388"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Factor</a:t>
                      </a:r>
                      <a:endParaRPr lang="zh-TW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Actions</a:t>
                      </a:r>
                      <a:endParaRPr lang="zh-TW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Who</a:t>
                      </a:r>
                      <a:endParaRPr lang="zh-TW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When</a:t>
                      </a:r>
                      <a:endParaRPr lang="zh-TW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Remarks / Evidence</a:t>
                      </a:r>
                      <a:endParaRPr lang="zh-TW" sz="1400" dirty="0">
                        <a:effectLst/>
                      </a:endParaRPr>
                    </a:p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(Document/Spec/Chart #)</a:t>
                      </a:r>
                      <a:endParaRPr lang="zh-TW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525501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Practices/ Training</a:t>
                      </a:r>
                      <a:endParaRPr lang="zh-TW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Updated O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.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I. 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與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PM TABLE 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上線通知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S220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2026/02/05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  <a:tr h="674451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Work Instruction</a:t>
                      </a:r>
                      <a:endParaRPr lang="zh-TW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zh-TW" altLang="en-US" sz="12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使用 </a:t>
                      </a:r>
                      <a:r>
                        <a:rPr lang="en-US" altLang="zh-TW" sz="12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28Nm </a:t>
                      </a:r>
                      <a:r>
                        <a:rPr lang="zh-TW" altLang="en-US" sz="12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扭力板手鎖 </a:t>
                      </a:r>
                      <a:r>
                        <a:rPr lang="en-US" altLang="zh-TW" sz="12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heater cable </a:t>
                      </a:r>
                      <a:r>
                        <a:rPr lang="zh-TW" altLang="en-US" sz="12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端子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。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S220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2026/04/21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證實可將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heater cable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端子鎖緊，防止再次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burnout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。</a:t>
                      </a:r>
                      <a:endParaRPr lang="zh-TW" altLang="en-US" sz="12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895611976"/>
                  </a:ext>
                </a:extLst>
              </a:tr>
              <a:tr h="674451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</a:rPr>
                        <a:t>Specification</a:t>
                      </a:r>
                      <a:endParaRPr lang="zh-TW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1.Updated G3343-0102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TEL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OXIDE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爐管保養紀錄表</a:t>
                      </a:r>
                      <a:endParaRPr lang="en-US" altLang="zh-TW" sz="12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2. Updated G3336-0102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TEL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OXIDE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爐管 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PM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Procedure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S220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2026/04/21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修改 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G3343-0102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TEL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OXIDE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爐管保養紀錄表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(AG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版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)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。</a:t>
                      </a:r>
                      <a:endParaRPr lang="en-US" altLang="zh-TW" sz="12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2.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修改 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G3363-0102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TEL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OXIDE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爐管降溫 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PM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程序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(AI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版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)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。</a:t>
                      </a:r>
                      <a:endParaRPr lang="en-US" altLang="zh-TW" sz="12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662515981"/>
                  </a:ext>
                </a:extLst>
              </a:tr>
              <a:tr h="674451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</a:rPr>
                        <a:t>Control Plan</a:t>
                      </a:r>
                      <a:endParaRPr lang="zh-TW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於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PM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table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中新增，需使用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28Nm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扭力板手檢查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heater cable 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端子鬆緊狀態。</a:t>
                      </a:r>
                      <a:endParaRPr 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S220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2026/04/21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藉由 </a:t>
                      </a:r>
                      <a:r>
                        <a:rPr lang="en-US" altLang="zh-TW" sz="12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PM</a:t>
                      </a:r>
                      <a:r>
                        <a:rPr lang="zh-TW" altLang="en-US" sz="12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時，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檢查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heater cable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端子鬆緊狀態，避免再次發生 </a:t>
                      </a: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burnout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。</a:t>
                      </a:r>
                      <a:endParaRPr lang="zh-TW" altLang="en-US" sz="1200" b="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427358401"/>
                  </a:ext>
                </a:extLst>
              </a:tr>
              <a:tr h="390754">
                <a:tc>
                  <a:txBody>
                    <a:bodyPr/>
                    <a:lstStyle/>
                    <a:p>
                      <a:pPr marL="12700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</a:rPr>
                        <a:t>*</a:t>
                      </a:r>
                      <a:r>
                        <a:rPr lang="en-US" sz="1400" dirty="0">
                          <a:effectLst/>
                        </a:rPr>
                        <a:t> FMEA (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</a:rPr>
                        <a:t>must</a:t>
                      </a:r>
                      <a:r>
                        <a:rPr lang="en-US" sz="1400" dirty="0">
                          <a:effectLst/>
                        </a:rPr>
                        <a:t>)</a:t>
                      </a:r>
                      <a:endParaRPr lang="zh-TW" sz="14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N/A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N/A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N/A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N/A</a:t>
                      </a:r>
                      <a:endParaRPr lang="zh-TW" altLang="en-US" sz="12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2231913900"/>
                  </a:ext>
                </a:extLst>
              </a:tr>
              <a:tr h="682132">
                <a:tc>
                  <a:txBody>
                    <a:bodyPr/>
                    <a:lstStyle/>
                    <a:p>
                      <a:pPr marL="12700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</a:rPr>
                        <a:t>Error Proofing</a:t>
                      </a:r>
                      <a:endParaRPr lang="zh-TW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127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於 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PM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table 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中新增 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YPM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時，需用 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28Nm </a:t>
                      </a:r>
                      <a:r>
                        <a:rPr lang="zh-TW" altLang="en-US" sz="12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扭力板手 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check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heater cable 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接點鬆緊狀態 </a:t>
                      </a:r>
                      <a:endParaRPr lang="zh-TW" altLang="en-US" sz="1200" kern="1200" dirty="0">
                        <a:solidFill>
                          <a:schemeClr val="dk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S220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TW" sz="12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2026/04/21</a:t>
                      </a:r>
                      <a:endParaRPr lang="zh-TW" altLang="en-US" sz="12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修改 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G3343-0102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TEL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OXIDE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爐管保養紀錄表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(AG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版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)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。</a:t>
                      </a:r>
                      <a:endParaRPr lang="en-US" altLang="zh-TW" sz="12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2.</a:t>
                      </a:r>
                      <a:r>
                        <a:rPr lang="zh-TW" altLang="en-US" sz="12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修改 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G3363-0102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TEL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OXIDE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爐管降溫 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PM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程序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(AI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版</a:t>
                      </a:r>
                      <a:r>
                        <a:rPr lang="en-US" altLang="zh-TW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)</a:t>
                      </a:r>
                      <a:r>
                        <a:rPr lang="zh-TW" altLang="en-US" sz="12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。</a:t>
                      </a:r>
                      <a:endParaRPr lang="en-US" altLang="zh-TW" sz="1200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422301957"/>
                  </a:ext>
                </a:extLst>
              </a:tr>
            </a:tbl>
          </a:graphicData>
        </a:graphic>
      </p:graphicFrame>
      <p:pic>
        <p:nvPicPr>
          <p:cNvPr id="6" name="圖片 5" descr="一張含有 文字, 螢幕擷取畫面, 字型, 網頁 的圖片&#10;&#10;AI 產生的內容可能不正確。">
            <a:extLst>
              <a:ext uri="{FF2B5EF4-FFF2-40B4-BE49-F238E27FC236}">
                <a16:creationId xmlns:a16="http://schemas.microsoft.com/office/drawing/2014/main" id="{0EAA8557-6458-6F70-82D2-EE934AD1E9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2075996"/>
            <a:ext cx="1312443" cy="48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9317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34395" y="747573"/>
            <a:ext cx="880247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7.</a:t>
            </a:r>
            <a:r>
              <a:rPr lang="zh-TW" altLang="en-US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避免再發</a:t>
            </a:r>
            <a:r>
              <a:rPr lang="en-US" altLang="zh-TW" sz="2000" b="1" dirty="0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Prevent Recurrence (Modify System / Document)</a:t>
            </a:r>
            <a:endParaRPr lang="zh-TW" altLang="en-US" sz="2000" b="1" dirty="0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新細明體" pitchFamily="18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47250" y="1493785"/>
            <a:ext cx="72850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7.2 Corrective Actions Fan-out: (</a:t>
            </a:r>
            <a:r>
              <a:rPr lang="zh-TW" altLang="en-US" dirty="0"/>
              <a:t>水平展開</a:t>
            </a:r>
            <a:r>
              <a:rPr lang="en-US" altLang="zh-TW" dirty="0"/>
              <a:t>):</a:t>
            </a:r>
            <a:endParaRPr lang="zh-TW" altLang="zh-TW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178578"/>
              </p:ext>
            </p:extLst>
          </p:nvPr>
        </p:nvGraphicFramePr>
        <p:xfrm>
          <a:off x="431540" y="1987338"/>
          <a:ext cx="8280919" cy="1005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40204">
                  <a:extLst>
                    <a:ext uri="{9D8B030D-6E8A-4147-A177-3AD203B41FA5}">
                      <a16:colId xmlns:a16="http://schemas.microsoft.com/office/drawing/2014/main" val="346432216"/>
                    </a:ext>
                  </a:extLst>
                </a:gridCol>
                <a:gridCol w="3728462">
                  <a:extLst>
                    <a:ext uri="{9D8B030D-6E8A-4147-A177-3AD203B41FA5}">
                      <a16:colId xmlns:a16="http://schemas.microsoft.com/office/drawing/2014/main" val="1412103406"/>
                    </a:ext>
                  </a:extLst>
                </a:gridCol>
                <a:gridCol w="1347310">
                  <a:extLst>
                    <a:ext uri="{9D8B030D-6E8A-4147-A177-3AD203B41FA5}">
                      <a16:colId xmlns:a16="http://schemas.microsoft.com/office/drawing/2014/main" val="136634019"/>
                    </a:ext>
                  </a:extLst>
                </a:gridCol>
                <a:gridCol w="1364943">
                  <a:extLst>
                    <a:ext uri="{9D8B030D-6E8A-4147-A177-3AD203B41FA5}">
                      <a16:colId xmlns:a16="http://schemas.microsoft.com/office/drawing/2014/main" val="57247258"/>
                    </a:ext>
                  </a:extLst>
                </a:gridCol>
              </a:tblGrid>
              <a:tr h="440758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Machine/ Process/ Product</a:t>
                      </a:r>
                      <a:endParaRPr lang="zh-TW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Actions</a:t>
                      </a:r>
                      <a:endParaRPr lang="zh-TW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TW" sz="1600" dirty="0">
                          <a:effectLst/>
                        </a:rPr>
                        <a:t>Responsible</a:t>
                      </a:r>
                      <a:endParaRPr lang="zh-TW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Due date</a:t>
                      </a:r>
                      <a:endParaRPr lang="zh-TW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5884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TW" sz="14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Drive in</a:t>
                      </a:r>
                      <a:endParaRPr lang="zh-TW" altLang="zh-TW" sz="14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127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於 </a:t>
                      </a:r>
                      <a:r>
                        <a:rPr lang="en-US" altLang="zh-TW" sz="14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PM</a:t>
                      </a:r>
                      <a:r>
                        <a:rPr lang="zh-TW" altLang="en-US" sz="14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altLang="zh-TW" sz="14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table </a:t>
                      </a:r>
                      <a:r>
                        <a:rPr lang="zh-TW" altLang="en-US" sz="14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中新增 </a:t>
                      </a:r>
                      <a:r>
                        <a:rPr lang="en-US" altLang="zh-TW" sz="14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YPM</a:t>
                      </a:r>
                      <a:r>
                        <a:rPr lang="zh-TW" altLang="en-US" sz="14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時，需使用 </a:t>
                      </a:r>
                      <a:r>
                        <a:rPr lang="en-US" altLang="zh-TW" sz="14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28Nm </a:t>
                      </a:r>
                      <a:r>
                        <a:rPr lang="zh-TW" altLang="en-US" sz="14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扭力板手</a:t>
                      </a:r>
                      <a:r>
                        <a:rPr lang="en-US" altLang="zh-TW" sz="14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check </a:t>
                      </a:r>
                      <a:r>
                        <a:rPr lang="en-US" altLang="zh-TW" sz="14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heater cable </a:t>
                      </a:r>
                      <a:r>
                        <a:rPr lang="zh-TW" altLang="en-US" sz="1400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接點鬆緊狀態 </a:t>
                      </a:r>
                      <a:endParaRPr lang="zh-TW" altLang="en-US" sz="1400" kern="1200" dirty="0">
                        <a:solidFill>
                          <a:schemeClr val="dk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S220</a:t>
                      </a:r>
                      <a:endParaRPr lang="zh-TW" altLang="en-US" sz="14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TW" sz="14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2026/04/21</a:t>
                      </a:r>
                      <a:endParaRPr lang="zh-TW" altLang="en-US" sz="14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011847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93825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407988" y="439837"/>
            <a:ext cx="7607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zh-TW" sz="2000" b="1">
                <a:solidFill>
                  <a:srgbClr val="4D4D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新細明體" pitchFamily="18" charset="-120"/>
              </a:rPr>
              <a:t>Discipline 8. Congratulate the Team</a:t>
            </a:r>
            <a:endParaRPr lang="zh-TW" altLang="en-US" sz="2000" b="1">
              <a:solidFill>
                <a:srgbClr val="4D4D4D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新細明體" pitchFamily="18" charset="-120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611188" y="998538"/>
            <a:ext cx="7607300" cy="401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zh-TW" sz="2000">
                <a:solidFill>
                  <a:srgbClr val="0000FF"/>
                </a:solidFill>
                <a:latin typeface="+mn-lt"/>
                <a:ea typeface="新細明體" pitchFamily="18" charset="-120"/>
              </a:rPr>
              <a:t>Thanks for every member helped in this case.</a:t>
            </a:r>
            <a:endParaRPr lang="zh-TW" altLang="en-US" sz="2000">
              <a:solidFill>
                <a:srgbClr val="0000FF"/>
              </a:solidFill>
              <a:latin typeface="+mn-lt"/>
              <a:ea typeface="新細明體" pitchFamily="18" charset="-12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7151" y="1853825"/>
            <a:ext cx="2989986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0">
              <a:lnSpc>
                <a:spcPct val="150000"/>
              </a:lnSpc>
              <a:spcAft>
                <a:spcPts val="0"/>
              </a:spcAft>
            </a:pPr>
            <a:r>
              <a:rPr lang="en-US" altLang="zh-TW" b="1" dirty="0">
                <a:latin typeface="Calibri" panose="020F0502020204030204" pitchFamily="34" charset="0"/>
                <a:ea typeface="SimSun" panose="02010600030101010101" pitchFamily="2" charset="-122"/>
              </a:rPr>
              <a:t>Reviewed and Approved by:</a:t>
            </a:r>
            <a:endParaRPr lang="zh-TW" altLang="zh-TW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42AC9BC-FE3E-4A72-9792-D6A247D334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150853"/>
              </p:ext>
            </p:extLst>
          </p:nvPr>
        </p:nvGraphicFramePr>
        <p:xfrm>
          <a:off x="611188" y="2570018"/>
          <a:ext cx="8274194" cy="1099439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758065">
                  <a:extLst>
                    <a:ext uri="{9D8B030D-6E8A-4147-A177-3AD203B41FA5}">
                      <a16:colId xmlns:a16="http://schemas.microsoft.com/office/drawing/2014/main" val="2544424706"/>
                    </a:ext>
                  </a:extLst>
                </a:gridCol>
                <a:gridCol w="3118739">
                  <a:extLst>
                    <a:ext uri="{9D8B030D-6E8A-4147-A177-3AD203B41FA5}">
                      <a16:colId xmlns:a16="http://schemas.microsoft.com/office/drawing/2014/main" val="3506626886"/>
                    </a:ext>
                  </a:extLst>
                </a:gridCol>
                <a:gridCol w="2397390">
                  <a:extLst>
                    <a:ext uri="{9D8B030D-6E8A-4147-A177-3AD203B41FA5}">
                      <a16:colId xmlns:a16="http://schemas.microsoft.com/office/drawing/2014/main" val="3777056495"/>
                    </a:ext>
                  </a:extLst>
                </a:gridCol>
              </a:tblGrid>
              <a:tr h="139040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228600" algn="l"/>
                        </a:tabLst>
                      </a:pPr>
                      <a:r>
                        <a:rPr lang="en-US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Name</a:t>
                      </a:r>
                      <a:endParaRPr lang="zh-TW" sz="16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18415" marB="18415" anchor="ctr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en-US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 Position</a:t>
                      </a:r>
                      <a:endParaRPr lang="zh-TW" sz="16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18415" marB="18415" anchor="ctr"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+mj-lt"/>
                        <a:buNone/>
                        <a:tabLst>
                          <a:tab pos="228600" algn="l"/>
                        </a:tabLst>
                      </a:pPr>
                      <a:r>
                        <a:rPr lang="en-US" sz="16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3. Date</a:t>
                      </a:r>
                      <a:endParaRPr lang="zh-TW" sz="1600" dirty="0"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18415" marB="18415" anchor="ctr"/>
                </a:tc>
                <a:extLst>
                  <a:ext uri="{0D108BD9-81ED-4DB2-BD59-A6C34878D82A}">
                    <a16:rowId xmlns:a16="http://schemas.microsoft.com/office/drawing/2014/main" val="2485645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S220 </a:t>
                      </a: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邱尊護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SECTION MANAGER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2026/04/21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679969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S200 </a:t>
                      </a:r>
                      <a:r>
                        <a:rPr lang="zh-TW" altLang="en-US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李明驥</a:t>
                      </a: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DEPARTMENT MANAGER</a:t>
                      </a:r>
                      <a:endParaRPr lang="zh-TW" altLang="en-US" sz="16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TW" sz="1600" b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2026/04/21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2917294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4857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7B72A579B9B74C8B60CD9DA12CE965" ma:contentTypeVersion="0" ma:contentTypeDescription="Create a new document." ma:contentTypeScope="" ma:versionID="7bfc160474e469b017f2f82ca208a82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84B34AF-550D-4C92-BB3A-AE8B9AB4904C}">
  <ds:schemaRefs>
    <ds:schemaRef ds:uri="http://purl.org/dc/elements/1.1/"/>
    <ds:schemaRef ds:uri="http://www.w3.org/XML/1998/namespace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1F41721-8BA7-426A-8F1E-0C7B8587C63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4439154-81CD-4E1E-A26E-08A94ECF54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NTC_A</Template>
  <TotalTime>95005</TotalTime>
  <Words>3252</Words>
  <Application>Microsoft Office PowerPoint</Application>
  <PresentationFormat>如螢幕大小 (4:3)</PresentationFormat>
  <Paragraphs>929</Paragraphs>
  <Slides>27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5" baseType="lpstr">
      <vt:lpstr>細明體</vt:lpstr>
      <vt:lpstr>微軟正黑體</vt:lpstr>
      <vt:lpstr>標楷體</vt:lpstr>
      <vt:lpstr>Arial</vt:lpstr>
      <vt:lpstr>Calibri</vt:lpstr>
      <vt:lpstr>Times New Roman</vt:lpstr>
      <vt:lpstr>Wingdings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nuvoton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AD10 YHChang8</dc:creator>
  <cp:lastModifiedBy>S220 ZYWu</cp:lastModifiedBy>
  <cp:revision>246</cp:revision>
  <cp:lastPrinted>2020-06-01T03:58:51Z</cp:lastPrinted>
  <dcterms:created xsi:type="dcterms:W3CDTF">2012-03-21T02:57:47Z</dcterms:created>
  <dcterms:modified xsi:type="dcterms:W3CDTF">2026-04-23T10:09:21Z</dcterms:modified>
</cp:coreProperties>
</file>