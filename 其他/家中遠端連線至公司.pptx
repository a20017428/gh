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69" r:id="rId3"/>
    <p:sldId id="270" r:id="rId4"/>
    <p:sldId id="280" r:id="rId5"/>
    <p:sldId id="286" r:id="rId6"/>
    <p:sldId id="288" r:id="rId7"/>
    <p:sldId id="283" r:id="rId8"/>
    <p:sldId id="278" r:id="rId9"/>
    <p:sldId id="284" r:id="rId10"/>
    <p:sldId id="285" r:id="rId11"/>
    <p:sldId id="274" r:id="rId12"/>
    <p:sldId id="277" r:id="rId13"/>
    <p:sldId id="282" r:id="rId14"/>
    <p:sldId id="263" r:id="rId15"/>
    <p:sldId id="257" r:id="rId16"/>
    <p:sldId id="273" r:id="rId17"/>
    <p:sldId id="258" r:id="rId18"/>
    <p:sldId id="259" r:id="rId19"/>
    <p:sldId id="260" r:id="rId20"/>
    <p:sldId id="272" r:id="rId2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F24EA4-971B-626D-28E9-33B396DC01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6AAE6DE-9CFC-EB68-5C99-DA399705A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A35A911-08E2-6211-042B-3520238C8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7AA5E-ACAD-43E5-A584-35521C4B65F3}" type="datetimeFigureOut">
              <a:rPr lang="zh-TW" altLang="en-US" smtClean="0"/>
              <a:t>2025/9/18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02F497F-8B59-745F-F879-E8947FFB6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4CA10D-82AE-210E-56C4-28090F9DC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497B9-BE00-4E19-8DF4-2EA769ACB4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5808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17F252-F002-9513-4A9C-3DE1A1246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6F7DF7-4D12-DF8A-A873-8775366180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E255D6A-F322-2FE7-C215-7ECDBB502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7AA5E-ACAD-43E5-A584-35521C4B65F3}" type="datetimeFigureOut">
              <a:rPr lang="zh-TW" altLang="en-US" smtClean="0"/>
              <a:t>2025/9/18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0216F77-2BFB-9D58-4DD1-31FB36192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7D2CBB6-65D6-7D98-4DA0-55413ABEB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497B9-BE00-4E19-8DF4-2EA769ACB4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4087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9D907F-D62A-22FE-F53D-CA403B116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A0F809F-0038-2B5F-6D95-1CC858CA2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9B0961D-8A72-C3A6-DD96-706EC8971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7AA5E-ACAD-43E5-A584-35521C4B65F3}" type="datetimeFigureOut">
              <a:rPr lang="zh-TW" altLang="en-US" smtClean="0"/>
              <a:t>2025/9/18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FD70928-45CA-69D1-D940-7DEC9CB3F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B70D32E-6431-2ADE-5FF8-31638BC94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497B9-BE00-4E19-8DF4-2EA769ACB4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4017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47EF2F-5128-BD09-0939-E90DC932D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F46C881-390C-FABC-022C-2FB645B745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A4387A5-4EA6-D4F7-68D5-8DF246EE68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9ECC39F-08E9-F938-187D-E4B79F35E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7AA5E-ACAD-43E5-A584-35521C4B65F3}" type="datetimeFigureOut">
              <a:rPr lang="zh-TW" altLang="en-US" smtClean="0"/>
              <a:t>2025/9/18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83FC220-81F6-6110-0595-CB84CD192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983B2C1-D415-F543-D824-8BCA7F590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497B9-BE00-4E19-8DF4-2EA769ACB4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0308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C583A7-FFB2-2620-BD09-74A5BDD13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FFCEC74-D35F-3E8E-1C58-C975BA147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640E9D9-1044-B537-2CB4-863D18C05F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1F2F62B-125D-FEE5-0A26-195F5C1674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E3FB082-6EEA-53A3-4378-D5F4578A78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50A6B6F-678B-5FA9-BE22-4A8E97396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7AA5E-ACAD-43E5-A584-35521C4B65F3}" type="datetimeFigureOut">
              <a:rPr lang="zh-TW" altLang="en-US" smtClean="0"/>
              <a:t>2025/9/18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C9696EB-2836-34CA-4A6A-CB94A99C9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8490BFB-FBAA-FE0E-2F3E-31531A41C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497B9-BE00-4E19-8DF4-2EA769ACB4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0419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82BEFD-A938-041E-A7C4-C792A9431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2B6BDFC-DDAC-6B0E-C4EA-A33127FF9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7AA5E-ACAD-43E5-A584-35521C4B65F3}" type="datetimeFigureOut">
              <a:rPr lang="zh-TW" altLang="en-US" smtClean="0"/>
              <a:t>2025/9/18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D742DE9-CC3B-B69C-5E9D-38702A4E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EFBE3AE-42B4-0B02-EA4A-9A65A8EDB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497B9-BE00-4E19-8DF4-2EA769ACB4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4080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EA6C3FA-4B67-67D6-C083-44E723094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7AA5E-ACAD-43E5-A584-35521C4B65F3}" type="datetimeFigureOut">
              <a:rPr lang="zh-TW" altLang="en-US" smtClean="0"/>
              <a:t>2025/9/18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379FA26-D14C-24CA-2941-F9684728B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AA542E4-2A78-08E7-7DA4-D66117F80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497B9-BE00-4E19-8DF4-2EA769ACB4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9902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6D6B7A-4E26-3578-2689-7AF5F9496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706718B-EE00-03D5-AB75-60851BB0A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74862BE-C72D-18D4-A519-C8D75371A8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DB77D2A-3B55-D66B-CAC5-38D00E4EA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7AA5E-ACAD-43E5-A584-35521C4B65F3}" type="datetimeFigureOut">
              <a:rPr lang="zh-TW" altLang="en-US" smtClean="0"/>
              <a:t>2025/9/18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2962D45-5ABC-BC15-C09C-901C703EF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2A5152E-1B60-F822-4B6F-BA17B1685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497B9-BE00-4E19-8DF4-2EA769ACB4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9334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A4CD96-1DFB-AED7-7695-6A6CA2473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853C2BD-B214-26F6-18D2-92FBB70857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3987EB4-60C6-7656-7C0A-A6071CB7F0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21C3CA4-B8C7-22D5-A9B1-BAC547763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7AA5E-ACAD-43E5-A584-35521C4B65F3}" type="datetimeFigureOut">
              <a:rPr lang="zh-TW" altLang="en-US" smtClean="0"/>
              <a:t>2025/9/18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4B372F8-45CD-9237-834B-2F09174BC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30EC269-D8B9-A5C2-A3E3-BFE6F98E2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497B9-BE00-4E19-8DF4-2EA769ACB4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629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FFD21D-E64D-7264-2FFC-BA1C48670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36E790F-C111-B108-2927-FA090C016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CF43396-422B-8B7D-C82F-6084D0D13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7AA5E-ACAD-43E5-A584-35521C4B65F3}" type="datetimeFigureOut">
              <a:rPr lang="zh-TW" altLang="en-US" smtClean="0"/>
              <a:t>2025/9/18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2978AAE-B18D-8C1E-7817-1EA097839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B097D81-0352-479B-8983-AF6078775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497B9-BE00-4E19-8DF4-2EA769ACB4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6537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4CB2D02F-456D-1A5E-9134-C452C5A219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021E39F-7130-E760-5225-B59A31B7ED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3931C6A-2B9F-A43F-C935-F34C731E2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7AA5E-ACAD-43E5-A584-35521C4B65F3}" type="datetimeFigureOut">
              <a:rPr lang="zh-TW" altLang="en-US" smtClean="0"/>
              <a:t>2025/9/18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3B3AD79-D2F5-9D07-B478-4C1EA0CF5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0145124-F184-6E5B-B284-BF848DF09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497B9-BE00-4E19-8DF4-2EA769ACB4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036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182708F-4EDD-BF1F-7587-E98DBAEBD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EADCDBF-4545-B511-F6E8-0B7460D9CF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C819381-5F75-7676-3FC2-4DB00F3EC7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F7AA5E-ACAD-43E5-A584-35521C4B65F3}" type="datetimeFigureOut">
              <a:rPr lang="zh-TW" altLang="en-US" smtClean="0"/>
              <a:t>2025/9/18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E80E5A4-9462-784B-3EB8-6DD9D2A662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AAA46B6-A9A9-3C89-9D57-48B6572263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4497B9-BE00-4E19-8DF4-2EA769ACB4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64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BA6B874B-A74D-F052-4AD5-82D9D21FD46F}"/>
              </a:ext>
            </a:extLst>
          </p:cNvPr>
          <p:cNvSpPr txBox="1"/>
          <p:nvPr/>
        </p:nvSpPr>
        <p:spPr>
          <a:xfrm>
            <a:off x="4601840" y="3105834"/>
            <a:ext cx="29883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VPN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權限申請</a:t>
            </a:r>
            <a:endParaRPr lang="en-US"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92972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群組 8">
            <a:extLst>
              <a:ext uri="{FF2B5EF4-FFF2-40B4-BE49-F238E27FC236}">
                <a16:creationId xmlns:a16="http://schemas.microsoft.com/office/drawing/2014/main" id="{120371D0-4B67-6051-BCF4-1C4FD7159F2D}"/>
              </a:ext>
            </a:extLst>
          </p:cNvPr>
          <p:cNvGrpSpPr/>
          <p:nvPr/>
        </p:nvGrpSpPr>
        <p:grpSpPr>
          <a:xfrm>
            <a:off x="2584018" y="656610"/>
            <a:ext cx="7023964" cy="4511218"/>
            <a:chOff x="2073854" y="653927"/>
            <a:chExt cx="8044291" cy="5166534"/>
          </a:xfrm>
        </p:grpSpPr>
        <p:pic>
          <p:nvPicPr>
            <p:cNvPr id="10" name="圖片 9" descr="一張含有 文字, 螢幕擷取畫面, 數字, 字型 的圖片&#10;&#10;AI 產生的內容可能不正確。">
              <a:extLst>
                <a:ext uri="{FF2B5EF4-FFF2-40B4-BE49-F238E27FC236}">
                  <a16:creationId xmlns:a16="http://schemas.microsoft.com/office/drawing/2014/main" id="{C40F0CA6-60F8-B5ED-634D-1B7DCA0E17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73855" y="653927"/>
              <a:ext cx="8044290" cy="3899269"/>
            </a:xfrm>
            <a:prstGeom prst="rect">
              <a:avLst/>
            </a:prstGeom>
          </p:spPr>
        </p:pic>
        <p:pic>
          <p:nvPicPr>
            <p:cNvPr id="11" name="圖片 10" descr="一張含有 文字, 字型, 螢幕擷取畫面 的圖片&#10;&#10;AI 產生的內容可能不正確。">
              <a:extLst>
                <a:ext uri="{FF2B5EF4-FFF2-40B4-BE49-F238E27FC236}">
                  <a16:creationId xmlns:a16="http://schemas.microsoft.com/office/drawing/2014/main" id="{B744740C-B79A-D7CB-56E1-6CCCFFD994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73854" y="4661121"/>
              <a:ext cx="8044290" cy="1159340"/>
            </a:xfrm>
            <a:prstGeom prst="rect">
              <a:avLst/>
            </a:prstGeom>
          </p:spPr>
        </p:pic>
      </p:grpSp>
      <p:sp>
        <p:nvSpPr>
          <p:cNvPr id="5" name="文字方塊 4">
            <a:extLst>
              <a:ext uri="{FF2B5EF4-FFF2-40B4-BE49-F238E27FC236}">
                <a16:creationId xmlns:a16="http://schemas.microsoft.com/office/drawing/2014/main" id="{D9A38466-C785-BC51-E489-49EFC40A135F}"/>
              </a:ext>
            </a:extLst>
          </p:cNvPr>
          <p:cNvSpPr txBox="1"/>
          <p:nvPr/>
        </p:nvSpPr>
        <p:spPr>
          <a:xfrm>
            <a:off x="130478" y="38719"/>
            <a:ext cx="11959922" cy="5232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https://a00a.atlassian.net/wiki/spaces/NTCITH/pages/132448907/VPN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613EB6B-C2B2-E5D0-0012-80F235F1D720}"/>
              </a:ext>
            </a:extLst>
          </p:cNvPr>
          <p:cNvSpPr/>
          <p:nvPr/>
        </p:nvSpPr>
        <p:spPr>
          <a:xfrm>
            <a:off x="6110439" y="1431636"/>
            <a:ext cx="1056980" cy="1570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  <p:pic>
        <p:nvPicPr>
          <p:cNvPr id="12" name="圖片 11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1B53FCC2-6AD4-7C61-CE60-91B76D8D74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3883" y="5398202"/>
            <a:ext cx="2004231" cy="1421079"/>
          </a:xfrm>
          <a:prstGeom prst="rect">
            <a:avLst/>
          </a:prstGeom>
        </p:spPr>
      </p:pic>
      <p:sp>
        <p:nvSpPr>
          <p:cNvPr id="14" name="箭號: 向右 13">
            <a:extLst>
              <a:ext uri="{FF2B5EF4-FFF2-40B4-BE49-F238E27FC236}">
                <a16:creationId xmlns:a16="http://schemas.microsoft.com/office/drawing/2014/main" id="{0D09C369-C42C-9791-EB11-15598BFBFA06}"/>
              </a:ext>
            </a:extLst>
          </p:cNvPr>
          <p:cNvSpPr/>
          <p:nvPr/>
        </p:nvSpPr>
        <p:spPr>
          <a:xfrm>
            <a:off x="4707005" y="5651306"/>
            <a:ext cx="386878" cy="32327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箭號: 向右 14">
            <a:extLst>
              <a:ext uri="{FF2B5EF4-FFF2-40B4-BE49-F238E27FC236}">
                <a16:creationId xmlns:a16="http://schemas.microsoft.com/office/drawing/2014/main" id="{DB99211E-7E98-6D1B-5EC1-B52C38D87ABC}"/>
              </a:ext>
            </a:extLst>
          </p:cNvPr>
          <p:cNvSpPr/>
          <p:nvPr/>
        </p:nvSpPr>
        <p:spPr>
          <a:xfrm>
            <a:off x="4707005" y="6449068"/>
            <a:ext cx="386878" cy="32327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FEE7F85-9E75-5AD6-4C39-1756A52A3722}"/>
              </a:ext>
            </a:extLst>
          </p:cNvPr>
          <p:cNvSpPr txBox="1"/>
          <p:nvPr/>
        </p:nvSpPr>
        <p:spPr>
          <a:xfrm>
            <a:off x="3188256" y="5623782"/>
            <a:ext cx="1519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VPN</a:t>
            </a:r>
            <a:r>
              <a:rPr lang="zh-TW" altLang="en-US" b="1" dirty="0">
                <a:solidFill>
                  <a:srgbClr val="FF0000"/>
                </a:solidFill>
              </a:rPr>
              <a:t>下載教學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4C23EC02-8C84-EAB2-63B9-84EDE8456FD0}"/>
              </a:ext>
            </a:extLst>
          </p:cNvPr>
          <p:cNvSpPr txBox="1"/>
          <p:nvPr/>
        </p:nvSpPr>
        <p:spPr>
          <a:xfrm>
            <a:off x="3636949" y="6426038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VPN</a:t>
            </a:r>
            <a:r>
              <a:rPr lang="zh-TW" altLang="en-US" b="1" dirty="0">
                <a:solidFill>
                  <a:srgbClr val="FF0000"/>
                </a:solidFill>
              </a:rPr>
              <a:t>下載</a:t>
            </a:r>
          </a:p>
        </p:txBody>
      </p:sp>
      <p:sp>
        <p:nvSpPr>
          <p:cNvPr id="4" name="箭號: 向下 3">
            <a:extLst>
              <a:ext uri="{FF2B5EF4-FFF2-40B4-BE49-F238E27FC236}">
                <a16:creationId xmlns:a16="http://schemas.microsoft.com/office/drawing/2014/main" id="{DA440939-685C-D96B-BB59-4DAB2C46D34C}"/>
              </a:ext>
            </a:extLst>
          </p:cNvPr>
          <p:cNvSpPr/>
          <p:nvPr/>
        </p:nvSpPr>
        <p:spPr>
          <a:xfrm>
            <a:off x="5868085" y="5137204"/>
            <a:ext cx="455825" cy="270356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32E8B7A-82A8-C405-1CA0-CDAFDE137BAF}"/>
              </a:ext>
            </a:extLst>
          </p:cNvPr>
          <p:cNvSpPr/>
          <p:nvPr/>
        </p:nvSpPr>
        <p:spPr>
          <a:xfrm>
            <a:off x="5106855" y="5651306"/>
            <a:ext cx="1991259" cy="3418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DAFBDAA-FBAD-A14E-CA4A-2216D7C440D3}"/>
              </a:ext>
            </a:extLst>
          </p:cNvPr>
          <p:cNvSpPr/>
          <p:nvPr/>
        </p:nvSpPr>
        <p:spPr>
          <a:xfrm>
            <a:off x="5106855" y="6439800"/>
            <a:ext cx="1991259" cy="3418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633401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群組 4">
            <a:extLst>
              <a:ext uri="{FF2B5EF4-FFF2-40B4-BE49-F238E27FC236}">
                <a16:creationId xmlns:a16="http://schemas.microsoft.com/office/drawing/2014/main" id="{EEF43ED9-07AE-F772-7463-2807B274FA79}"/>
              </a:ext>
            </a:extLst>
          </p:cNvPr>
          <p:cNvGrpSpPr/>
          <p:nvPr/>
        </p:nvGrpSpPr>
        <p:grpSpPr>
          <a:xfrm>
            <a:off x="2584018" y="656610"/>
            <a:ext cx="7023964" cy="4511218"/>
            <a:chOff x="2073854" y="653927"/>
            <a:chExt cx="8044291" cy="5166534"/>
          </a:xfrm>
        </p:grpSpPr>
        <p:pic>
          <p:nvPicPr>
            <p:cNvPr id="2" name="圖片 1" descr="一張含有 文字, 螢幕擷取畫面, 數字, 字型 的圖片&#10;&#10;AI 產生的內容可能不正確。">
              <a:extLst>
                <a:ext uri="{FF2B5EF4-FFF2-40B4-BE49-F238E27FC236}">
                  <a16:creationId xmlns:a16="http://schemas.microsoft.com/office/drawing/2014/main" id="{98CD30ED-F54F-8657-D965-23EB7EEE3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73855" y="653927"/>
              <a:ext cx="8044290" cy="3899269"/>
            </a:xfrm>
            <a:prstGeom prst="rect">
              <a:avLst/>
            </a:prstGeom>
          </p:spPr>
        </p:pic>
        <p:pic>
          <p:nvPicPr>
            <p:cNvPr id="19" name="圖片 18" descr="一張含有 文字, 字型, 螢幕擷取畫面 的圖片&#10;&#10;AI 產生的內容可能不正確。">
              <a:extLst>
                <a:ext uri="{FF2B5EF4-FFF2-40B4-BE49-F238E27FC236}">
                  <a16:creationId xmlns:a16="http://schemas.microsoft.com/office/drawing/2014/main" id="{A1C62712-1027-5641-404F-E3D9625B0B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73854" y="4661121"/>
              <a:ext cx="8044290" cy="1159340"/>
            </a:xfrm>
            <a:prstGeom prst="rect">
              <a:avLst/>
            </a:prstGeom>
          </p:spPr>
        </p:pic>
      </p:grp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8B1CB77C-855A-C56A-AD3F-23630443D192}"/>
              </a:ext>
            </a:extLst>
          </p:cNvPr>
          <p:cNvSpPr txBox="1"/>
          <p:nvPr/>
        </p:nvSpPr>
        <p:spPr>
          <a:xfrm>
            <a:off x="7041845" y="6062904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</a:rPr>
              <a:t>填寫權限申請表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FD3BE04-0C01-ED71-50A5-028EAE58AD84}"/>
              </a:ext>
            </a:extLst>
          </p:cNvPr>
          <p:cNvSpPr/>
          <p:nvPr/>
        </p:nvSpPr>
        <p:spPr>
          <a:xfrm>
            <a:off x="2584018" y="4818097"/>
            <a:ext cx="7023963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2009F61-076B-3F35-EFF7-B6282437EDBB}"/>
              </a:ext>
            </a:extLst>
          </p:cNvPr>
          <p:cNvSpPr txBox="1"/>
          <p:nvPr/>
        </p:nvSpPr>
        <p:spPr>
          <a:xfrm>
            <a:off x="130478" y="38719"/>
            <a:ext cx="11959922" cy="5232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https://a00a.atlassian.net/wiki/spaces/NTCITH/pages/132448907/VPN</a:t>
            </a:r>
          </a:p>
        </p:txBody>
      </p:sp>
      <p:sp>
        <p:nvSpPr>
          <p:cNvPr id="6" name="箭號: 向下 5">
            <a:extLst>
              <a:ext uri="{FF2B5EF4-FFF2-40B4-BE49-F238E27FC236}">
                <a16:creationId xmlns:a16="http://schemas.microsoft.com/office/drawing/2014/main" id="{3C04F07B-6AF1-0B4F-7B54-BBAA3EC25856}"/>
              </a:ext>
            </a:extLst>
          </p:cNvPr>
          <p:cNvSpPr/>
          <p:nvPr/>
        </p:nvSpPr>
        <p:spPr>
          <a:xfrm>
            <a:off x="5868085" y="5137204"/>
            <a:ext cx="455825" cy="270356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5E7E66A7-17A4-DD9A-00FB-E15A6E225B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4015" y="5515906"/>
            <a:ext cx="7023963" cy="43532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DCE05380-CE6C-905E-EF3B-AD88C3E06015}"/>
              </a:ext>
            </a:extLst>
          </p:cNvPr>
          <p:cNvSpPr/>
          <p:nvPr/>
        </p:nvSpPr>
        <p:spPr>
          <a:xfrm>
            <a:off x="6110440" y="5772847"/>
            <a:ext cx="3319888" cy="2405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586423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 descr="一張含有 文字, 螢幕擷取畫面, 行, 數字 的圖片&#10;&#10;AI 產生的內容可能不正確。">
            <a:extLst>
              <a:ext uri="{FF2B5EF4-FFF2-40B4-BE49-F238E27FC236}">
                <a16:creationId xmlns:a16="http://schemas.microsoft.com/office/drawing/2014/main" id="{438A67DD-1998-9B75-8639-2593BF1FDB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46" b="5798"/>
          <a:stretch/>
        </p:blipFill>
        <p:spPr>
          <a:xfrm>
            <a:off x="1025236" y="0"/>
            <a:ext cx="10141528" cy="4221018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6FF48A95-8945-71BC-BA14-FCEC608DBB16}"/>
              </a:ext>
            </a:extLst>
          </p:cNvPr>
          <p:cNvSpPr txBox="1"/>
          <p:nvPr/>
        </p:nvSpPr>
        <p:spPr>
          <a:xfrm>
            <a:off x="6560289" y="4304064"/>
            <a:ext cx="2526037" cy="24929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/>
              <a:t>1. </a:t>
            </a:r>
            <a:r>
              <a:rPr lang="en-US" sz="1200" dirty="0" err="1"/>
              <a:t>申請項目：一般VPN連線</a:t>
            </a:r>
            <a:r>
              <a:rPr lang="en-US" sz="1200" dirty="0"/>
              <a:t> </a:t>
            </a:r>
          </a:p>
          <a:p>
            <a:endParaRPr lang="en-US" sz="1200" dirty="0"/>
          </a:p>
          <a:p>
            <a:r>
              <a:rPr lang="en-US" sz="1200" dirty="0"/>
              <a:t>2. </a:t>
            </a:r>
            <a:r>
              <a:rPr lang="en-US" sz="1200" dirty="0" err="1"/>
              <a:t>部門</a:t>
            </a:r>
            <a:r>
              <a:rPr lang="en-US" sz="1200" dirty="0"/>
              <a:t>： S220</a:t>
            </a:r>
          </a:p>
          <a:p>
            <a:endParaRPr lang="en-US" sz="1200" dirty="0"/>
          </a:p>
          <a:p>
            <a:r>
              <a:rPr lang="en-US" sz="1200" dirty="0"/>
              <a:t>3. Alias： JYLin</a:t>
            </a:r>
          </a:p>
          <a:p>
            <a:endParaRPr lang="en-US" sz="1200" dirty="0"/>
          </a:p>
          <a:p>
            <a:r>
              <a:rPr lang="en-US" sz="1200" dirty="0"/>
              <a:t>4. </a:t>
            </a:r>
            <a:r>
              <a:rPr lang="en-US" sz="1200" dirty="0" err="1"/>
              <a:t>電腦名稱</a:t>
            </a:r>
            <a:r>
              <a:rPr lang="en-US" sz="1200" dirty="0"/>
              <a:t> ：OAPCD03789</a:t>
            </a:r>
          </a:p>
          <a:p>
            <a:endParaRPr lang="en-US" sz="1200" dirty="0"/>
          </a:p>
          <a:p>
            <a:r>
              <a:rPr lang="en-US" sz="1200" dirty="0"/>
              <a:t>5. MAC Address： </a:t>
            </a:r>
          </a:p>
          <a:p>
            <a:r>
              <a:rPr lang="en-US" sz="1200" dirty="0" err="1"/>
              <a:t>乙太</a:t>
            </a:r>
            <a:r>
              <a:rPr lang="en-US" sz="1200" dirty="0"/>
              <a:t>： xx-xx-xx-xx-xx-xx</a:t>
            </a:r>
          </a:p>
          <a:p>
            <a:r>
              <a:rPr lang="en-US" sz="1200" dirty="0" err="1"/>
              <a:t>WIFI：xx-xx-xx-xx-xx-xx</a:t>
            </a:r>
            <a:r>
              <a:rPr lang="en-US" sz="1200" dirty="0"/>
              <a:t>  </a:t>
            </a:r>
            <a:r>
              <a:rPr lang="en-US" altLang="zh-TW" sz="1200" dirty="0">
                <a:solidFill>
                  <a:srgbClr val="FF0000"/>
                </a:solidFill>
              </a:rPr>
              <a:t>(</a:t>
            </a:r>
            <a:r>
              <a:rPr lang="zh-TW" altLang="en-US" sz="1200" dirty="0">
                <a:solidFill>
                  <a:srgbClr val="FF0000"/>
                </a:solidFill>
              </a:rPr>
              <a:t>選填</a:t>
            </a:r>
            <a:r>
              <a:rPr lang="en-US" altLang="zh-TW" sz="1200" dirty="0">
                <a:solidFill>
                  <a:srgbClr val="FF0000"/>
                </a:solidFill>
              </a:rPr>
              <a:t>)</a:t>
            </a:r>
            <a:endParaRPr lang="en-US" sz="1200" dirty="0">
              <a:solidFill>
                <a:srgbClr val="FF0000"/>
              </a:solidFill>
            </a:endParaRPr>
          </a:p>
          <a:p>
            <a:endParaRPr lang="en-US" sz="1200" dirty="0"/>
          </a:p>
          <a:p>
            <a:r>
              <a:rPr lang="en-US" sz="1200" dirty="0"/>
              <a:t>6. </a:t>
            </a:r>
            <a:r>
              <a:rPr lang="en-US" sz="1200" dirty="0" err="1"/>
              <a:t>電話</a:t>
            </a:r>
            <a:r>
              <a:rPr lang="en-US" sz="1200" dirty="0"/>
              <a:t>(</a:t>
            </a:r>
            <a:r>
              <a:rPr lang="en-US" sz="1200" dirty="0" err="1"/>
              <a:t>收簡訊驗證用</a:t>
            </a:r>
            <a:r>
              <a:rPr lang="en-US" sz="1200" dirty="0"/>
              <a:t>)： </a:t>
            </a:r>
            <a:r>
              <a:rPr lang="en-US" sz="1200" dirty="0" err="1"/>
              <a:t>xxxxxxxxxx</a:t>
            </a:r>
            <a:endParaRPr lang="en-US" sz="12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329CFE5-0457-5338-BE83-AEAE33A3FBCE}"/>
              </a:ext>
            </a:extLst>
          </p:cNvPr>
          <p:cNvSpPr txBox="1"/>
          <p:nvPr/>
        </p:nvSpPr>
        <p:spPr>
          <a:xfrm>
            <a:off x="3105675" y="4396397"/>
            <a:ext cx="2526037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200" dirty="0"/>
              <a:t>1.</a:t>
            </a:r>
            <a:r>
              <a:rPr lang="zh-TW" altLang="en-US" sz="1200" dirty="0"/>
              <a:t> </a:t>
            </a:r>
            <a:r>
              <a:rPr lang="en-US" sz="1200" dirty="0" err="1"/>
              <a:t>申請項目</a:t>
            </a:r>
            <a:r>
              <a:rPr lang="en-US" sz="1200" dirty="0"/>
              <a:t>： </a:t>
            </a:r>
            <a:r>
              <a:rPr lang="en-US" sz="1200" dirty="0" err="1"/>
              <a:t>一般VPN連線</a:t>
            </a:r>
            <a:r>
              <a:rPr lang="en-US" sz="1200" dirty="0"/>
              <a:t> </a:t>
            </a:r>
          </a:p>
          <a:p>
            <a:endParaRPr lang="en-US" sz="1200" dirty="0"/>
          </a:p>
          <a:p>
            <a:r>
              <a:rPr lang="en-US" sz="1200" dirty="0"/>
              <a:t>2. </a:t>
            </a:r>
            <a:r>
              <a:rPr lang="en-US" sz="1200" dirty="0" err="1"/>
              <a:t>部門</a:t>
            </a:r>
            <a:r>
              <a:rPr lang="en-US" sz="1200" dirty="0"/>
              <a:t>：</a:t>
            </a:r>
            <a:r>
              <a:rPr lang="zh-TW" altLang="en-US" sz="1200" dirty="0"/>
              <a:t> 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3. Alias：</a:t>
            </a:r>
            <a:r>
              <a:rPr lang="zh-TW" altLang="en-US" sz="1200" dirty="0"/>
              <a:t> 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4. </a:t>
            </a:r>
            <a:r>
              <a:rPr lang="en-US" sz="1200" dirty="0" err="1"/>
              <a:t>電腦名稱</a:t>
            </a:r>
            <a:r>
              <a:rPr lang="en-US" sz="1200" dirty="0"/>
              <a:t> ：</a:t>
            </a:r>
            <a:r>
              <a:rPr lang="zh-TW" altLang="en-US" sz="1200" dirty="0"/>
              <a:t> 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5. MAC Address： </a:t>
            </a:r>
            <a:r>
              <a:rPr lang="zh-TW" altLang="en-US" sz="1200" dirty="0"/>
              <a:t> </a:t>
            </a:r>
            <a:endParaRPr lang="en-US" sz="1200" dirty="0"/>
          </a:p>
          <a:p>
            <a:r>
              <a:rPr lang="en-US" sz="1200" dirty="0" err="1"/>
              <a:t>乙太</a:t>
            </a:r>
            <a:r>
              <a:rPr lang="en-US" sz="1200" dirty="0"/>
              <a:t>：</a:t>
            </a:r>
            <a:r>
              <a:rPr lang="zh-TW" altLang="en-US" sz="1200" dirty="0"/>
              <a:t> </a:t>
            </a:r>
            <a:br>
              <a:rPr lang="en-US" sz="1200" dirty="0"/>
            </a:br>
            <a:endParaRPr lang="en-US" sz="1200" dirty="0"/>
          </a:p>
          <a:p>
            <a:r>
              <a:rPr lang="en-US" sz="1200" dirty="0"/>
              <a:t>6. </a:t>
            </a:r>
            <a:r>
              <a:rPr lang="en-US" sz="1200" dirty="0" err="1"/>
              <a:t>電話</a:t>
            </a:r>
            <a:r>
              <a:rPr lang="en-US" sz="1200" dirty="0"/>
              <a:t>(</a:t>
            </a:r>
            <a:r>
              <a:rPr lang="en-US" sz="1200" dirty="0" err="1"/>
              <a:t>收簡訊驗證用</a:t>
            </a:r>
            <a:r>
              <a:rPr lang="en-US" sz="1200" dirty="0"/>
              <a:t>)：</a:t>
            </a:r>
            <a:r>
              <a:rPr lang="zh-TW" altLang="en-US" sz="1200" dirty="0"/>
              <a:t> </a:t>
            </a:r>
            <a:endParaRPr lang="en-US" sz="12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4C95F38-A2D9-1A4F-1FE3-62B58E63A2FD}"/>
              </a:ext>
            </a:extLst>
          </p:cNvPr>
          <p:cNvSpPr/>
          <p:nvPr/>
        </p:nvSpPr>
        <p:spPr>
          <a:xfrm>
            <a:off x="1025236" y="-1"/>
            <a:ext cx="7398328" cy="6927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C09C0D5-9D7A-6416-BF09-699B7727874A}"/>
              </a:ext>
            </a:extLst>
          </p:cNvPr>
          <p:cNvSpPr/>
          <p:nvPr/>
        </p:nvSpPr>
        <p:spPr>
          <a:xfrm>
            <a:off x="1025235" y="3429000"/>
            <a:ext cx="10141527" cy="7920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135786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圖片 14" descr="一張含有 文字, 螢幕擷取畫面, 數字, 軟體 的圖片&#10;&#10;AI 產生的內容可能不正確。">
            <a:extLst>
              <a:ext uri="{FF2B5EF4-FFF2-40B4-BE49-F238E27FC236}">
                <a16:creationId xmlns:a16="http://schemas.microsoft.com/office/drawing/2014/main" id="{C4F46051-4AD9-38D1-7AE3-4077531A57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446" y="1687883"/>
            <a:ext cx="5637554" cy="349956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BE868DBD-34EF-6BD5-F5CD-A3082057C3F9}"/>
              </a:ext>
            </a:extLst>
          </p:cNvPr>
          <p:cNvSpPr txBox="1"/>
          <p:nvPr/>
        </p:nvSpPr>
        <p:spPr>
          <a:xfrm>
            <a:off x="5316010" y="157019"/>
            <a:ext cx="2191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MAC</a:t>
            </a:r>
            <a:r>
              <a:rPr lang="zh-TW" altLang="en-US" dirty="0"/>
              <a:t>位址查詢示範 </a:t>
            </a:r>
            <a:r>
              <a:rPr lang="en-US" altLang="zh-TW" dirty="0"/>
              <a:t>1</a:t>
            </a:r>
            <a:endParaRPr lang="en-US" dirty="0"/>
          </a:p>
        </p:txBody>
      </p:sp>
      <p:pic>
        <p:nvPicPr>
          <p:cNvPr id="6" name="圖片 5" descr="一張含有 文字, 螢幕擷取畫面, 軟體, 數字 的圖片&#10;&#10;AI 產生的內容可能不正確。">
            <a:extLst>
              <a:ext uri="{FF2B5EF4-FFF2-40B4-BE49-F238E27FC236}">
                <a16:creationId xmlns:a16="http://schemas.microsoft.com/office/drawing/2014/main" id="{4B644728-7F3B-A243-7F31-F79B8B666B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00728"/>
            <a:ext cx="6243457" cy="4856544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A750548F-1308-4279-AA28-CD14620A8483}"/>
              </a:ext>
            </a:extLst>
          </p:cNvPr>
          <p:cNvSpPr/>
          <p:nvPr/>
        </p:nvSpPr>
        <p:spPr>
          <a:xfrm>
            <a:off x="5177468" y="5412510"/>
            <a:ext cx="853881" cy="14778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DF7D164-33B5-1E87-FD9A-19676831DFD2}"/>
              </a:ext>
            </a:extLst>
          </p:cNvPr>
          <p:cNvSpPr/>
          <p:nvPr/>
        </p:nvSpPr>
        <p:spPr>
          <a:xfrm>
            <a:off x="106704" y="1893456"/>
            <a:ext cx="4696205" cy="29556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9" name="箭號: 向下 8">
            <a:extLst>
              <a:ext uri="{FF2B5EF4-FFF2-40B4-BE49-F238E27FC236}">
                <a16:creationId xmlns:a16="http://schemas.microsoft.com/office/drawing/2014/main" id="{9B933EB7-8E8F-B576-380C-AFC0C783F741}"/>
              </a:ext>
            </a:extLst>
          </p:cNvPr>
          <p:cNvSpPr/>
          <p:nvPr/>
        </p:nvSpPr>
        <p:spPr>
          <a:xfrm flipV="1">
            <a:off x="5523345" y="5794035"/>
            <a:ext cx="138546" cy="218838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3295D2D-BB5A-CB01-15BF-BA99262B78DB}"/>
              </a:ext>
            </a:extLst>
          </p:cNvPr>
          <p:cNvSpPr txBox="1"/>
          <p:nvPr/>
        </p:nvSpPr>
        <p:spPr>
          <a:xfrm>
            <a:off x="5128538" y="5985021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dirty="0"/>
              <a:t>滑鼠右鍵</a:t>
            </a:r>
            <a:endParaRPr lang="en-US" sz="1400" dirty="0"/>
          </a:p>
        </p:txBody>
      </p:sp>
      <p:sp>
        <p:nvSpPr>
          <p:cNvPr id="13" name="箭號: 向下 12">
            <a:extLst>
              <a:ext uri="{FF2B5EF4-FFF2-40B4-BE49-F238E27FC236}">
                <a16:creationId xmlns:a16="http://schemas.microsoft.com/office/drawing/2014/main" id="{FA1C9419-5620-13C9-75D6-435ADF044896}"/>
              </a:ext>
            </a:extLst>
          </p:cNvPr>
          <p:cNvSpPr/>
          <p:nvPr/>
        </p:nvSpPr>
        <p:spPr>
          <a:xfrm rot="16200000">
            <a:off x="6135937" y="3276890"/>
            <a:ext cx="455825" cy="270356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EB6DF5A5-D995-5A0D-33D6-669CD4FF7DC4}"/>
              </a:ext>
            </a:extLst>
          </p:cNvPr>
          <p:cNvCxnSpPr>
            <a:cxnSpLocks/>
          </p:cNvCxnSpPr>
          <p:nvPr/>
        </p:nvCxnSpPr>
        <p:spPr>
          <a:xfrm>
            <a:off x="7767782" y="5098472"/>
            <a:ext cx="70196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458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D5429-9661-0A1F-156B-71579F864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73958309-0D0E-5239-6893-D35EED47139C}"/>
              </a:ext>
            </a:extLst>
          </p:cNvPr>
          <p:cNvSpPr txBox="1"/>
          <p:nvPr/>
        </p:nvSpPr>
        <p:spPr>
          <a:xfrm>
            <a:off x="5316010" y="157019"/>
            <a:ext cx="2191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MAC</a:t>
            </a:r>
            <a:r>
              <a:rPr lang="zh-TW" altLang="en-US" dirty="0"/>
              <a:t>位址查詢示範 </a:t>
            </a:r>
            <a:r>
              <a:rPr lang="en-US" altLang="zh-TW" dirty="0"/>
              <a:t>2</a:t>
            </a:r>
            <a:endParaRPr lang="en-US" dirty="0"/>
          </a:p>
        </p:txBody>
      </p:sp>
      <p:pic>
        <p:nvPicPr>
          <p:cNvPr id="3" name="圖片 2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AC071066-C4F3-4F0C-50C2-A5D5219432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467" y="2481130"/>
            <a:ext cx="3772426" cy="189574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ED30AFDA-23A1-61E5-1F22-B909CA709AC5}"/>
              </a:ext>
            </a:extLst>
          </p:cNvPr>
          <p:cNvSpPr txBox="1"/>
          <p:nvPr/>
        </p:nvSpPr>
        <p:spPr>
          <a:xfrm>
            <a:off x="2482643" y="4488730"/>
            <a:ext cx="29458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dirty="0"/>
              <a:t>鍵盤案 </a:t>
            </a:r>
            <a:r>
              <a:rPr lang="en-US" altLang="zh-TW" sz="1400" dirty="0"/>
              <a:t>“</a:t>
            </a:r>
            <a:r>
              <a:rPr lang="en-US" sz="1400" dirty="0"/>
              <a:t>Win</a:t>
            </a:r>
            <a:r>
              <a:rPr lang="en-US" altLang="zh-TW" sz="1400" dirty="0"/>
              <a:t>“ </a:t>
            </a:r>
            <a:r>
              <a:rPr lang="en-US" sz="1400" dirty="0"/>
              <a:t>+ </a:t>
            </a:r>
            <a:r>
              <a:rPr lang="en-US" altLang="zh-TW" sz="1400" dirty="0"/>
              <a:t>“</a:t>
            </a:r>
            <a:r>
              <a:rPr lang="en-US" sz="1400" dirty="0"/>
              <a:t>R</a:t>
            </a:r>
            <a:r>
              <a:rPr lang="en-US" altLang="zh-TW" sz="1400" dirty="0"/>
              <a:t>”</a:t>
            </a:r>
            <a:r>
              <a:rPr lang="zh-TW" altLang="en-US" sz="1400" dirty="0"/>
              <a:t>，開啟執行功能</a:t>
            </a:r>
            <a:endParaRPr lang="en-US" altLang="zh-TW" sz="1400" dirty="0"/>
          </a:p>
          <a:p>
            <a:r>
              <a:rPr lang="zh-TW" altLang="en-US" sz="1400" dirty="0"/>
              <a:t>輸入 </a:t>
            </a:r>
            <a:r>
              <a:rPr lang="en-US" altLang="zh-TW" sz="1400" dirty="0"/>
              <a:t>“CMD”</a:t>
            </a:r>
            <a:r>
              <a:rPr lang="zh-TW" altLang="en-US" sz="1400" dirty="0"/>
              <a:t>，開啟</a:t>
            </a:r>
            <a:r>
              <a:rPr lang="zh-TW" altLang="en-US" sz="1400" b="0" i="0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命令提示字元</a:t>
            </a:r>
            <a:endParaRPr lang="en-US" sz="1400" dirty="0"/>
          </a:p>
        </p:txBody>
      </p:sp>
      <p:pic>
        <p:nvPicPr>
          <p:cNvPr id="14" name="圖片 13" descr="一張含有 文字, 螢幕擷取畫面, 黑與白 的圖片&#10;&#10;AI 產生的內容可能不正確。">
            <a:extLst>
              <a:ext uri="{FF2B5EF4-FFF2-40B4-BE49-F238E27FC236}">
                <a16:creationId xmlns:a16="http://schemas.microsoft.com/office/drawing/2014/main" id="{21E55F01-1E22-B991-F44C-C2A16CE149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3108" y="1077107"/>
            <a:ext cx="5040747" cy="4284249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DFE022FA-2598-2899-C508-627EA2A3A7D8}"/>
              </a:ext>
            </a:extLst>
          </p:cNvPr>
          <p:cNvSpPr txBox="1"/>
          <p:nvPr/>
        </p:nvSpPr>
        <p:spPr>
          <a:xfrm>
            <a:off x="7598887" y="5361356"/>
            <a:ext cx="26491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dirty="0"/>
              <a:t>輸入 </a:t>
            </a:r>
            <a:r>
              <a:rPr lang="en-US" altLang="zh-TW" sz="1400" dirty="0"/>
              <a:t>“ipconfig –all”</a:t>
            </a:r>
            <a:r>
              <a:rPr lang="zh-TW" altLang="en-US" sz="1400" dirty="0"/>
              <a:t>，查詢</a:t>
            </a:r>
            <a:r>
              <a:rPr lang="en-US" altLang="zh-TW" sz="1400" dirty="0"/>
              <a:t>IP</a:t>
            </a:r>
            <a:r>
              <a:rPr lang="zh-TW" altLang="en-US" sz="1400" dirty="0"/>
              <a:t>資訊</a:t>
            </a:r>
            <a:endParaRPr lang="en-US" sz="1400" dirty="0"/>
          </a:p>
        </p:txBody>
      </p: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BC15D569-1A49-0E15-959F-2154DFDCC47B}"/>
              </a:ext>
            </a:extLst>
          </p:cNvPr>
          <p:cNvCxnSpPr>
            <a:cxnSpLocks/>
          </p:cNvCxnSpPr>
          <p:nvPr/>
        </p:nvCxnSpPr>
        <p:spPr>
          <a:xfrm>
            <a:off x="8811491" y="3112654"/>
            <a:ext cx="108065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1811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F1899-1C34-6C87-1B84-AA7D6CB10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>
            <a:extLst>
              <a:ext uri="{FF2B5EF4-FFF2-40B4-BE49-F238E27FC236}">
                <a16:creationId xmlns:a16="http://schemas.microsoft.com/office/drawing/2014/main" id="{8378B42D-185C-F8D8-B9AF-3DFAB7A909E8}"/>
              </a:ext>
            </a:extLst>
          </p:cNvPr>
          <p:cNvSpPr txBox="1"/>
          <p:nvPr/>
        </p:nvSpPr>
        <p:spPr>
          <a:xfrm>
            <a:off x="2606904" y="269256"/>
            <a:ext cx="67714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</a:rPr>
              <a:t>申請完成後，點擊最左上</a:t>
            </a:r>
            <a:r>
              <a:rPr lang="en-US" altLang="zh-TW" b="1" dirty="0">
                <a:solidFill>
                  <a:srgbClr val="FF0000"/>
                </a:solidFill>
              </a:rPr>
              <a:t>/</a:t>
            </a:r>
            <a:r>
              <a:rPr lang="zh-TW" altLang="en-US" b="1" dirty="0">
                <a:solidFill>
                  <a:srgbClr val="FF0000"/>
                </a:solidFill>
              </a:rPr>
              <a:t>下方的搜尋功能，尋找自己的申請紀錄</a:t>
            </a:r>
            <a:endParaRPr lang="en-US" altLang="zh-TW" b="1" dirty="0">
              <a:solidFill>
                <a:srgbClr val="FF0000"/>
              </a:solidFill>
            </a:endParaRPr>
          </a:p>
          <a:p>
            <a:r>
              <a:rPr lang="zh-TW" altLang="en-US" b="1" dirty="0">
                <a:solidFill>
                  <a:srgbClr val="FF0000"/>
                </a:solidFill>
              </a:rPr>
              <a:t>並點擊 </a:t>
            </a:r>
            <a:r>
              <a:rPr lang="en-US" altLang="zh-TW" b="1" dirty="0">
                <a:solidFill>
                  <a:srgbClr val="FF0000"/>
                </a:solidFill>
              </a:rPr>
              <a:t>“Generate an application mail for approval” </a:t>
            </a:r>
            <a:r>
              <a:rPr lang="zh-TW" altLang="en-US" b="1" dirty="0">
                <a:solidFill>
                  <a:srgbClr val="FF0000"/>
                </a:solidFill>
              </a:rPr>
              <a:t>下載生成的信件</a:t>
            </a:r>
          </a:p>
        </p:txBody>
      </p:sp>
      <p:pic>
        <p:nvPicPr>
          <p:cNvPr id="4" name="圖片 3" descr="一張含有 文字, 行, 字型, 數字 的圖片&#10;&#10;AI 產生的內容可能不正確。">
            <a:extLst>
              <a:ext uri="{FF2B5EF4-FFF2-40B4-BE49-F238E27FC236}">
                <a16:creationId xmlns:a16="http://schemas.microsoft.com/office/drawing/2014/main" id="{60CB0F82-0EF0-4911-FD36-5992CA2468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05187"/>
            <a:ext cx="12192000" cy="288355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BE7925B8-EF50-4AFE-2186-6BE0B6F330D6}"/>
              </a:ext>
            </a:extLst>
          </p:cNvPr>
          <p:cNvSpPr/>
          <p:nvPr/>
        </p:nvSpPr>
        <p:spPr>
          <a:xfrm>
            <a:off x="10076873" y="5326330"/>
            <a:ext cx="2022763" cy="1962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  <p:pic>
        <p:nvPicPr>
          <p:cNvPr id="12" name="圖片 11" descr="一張含有 文字, 螢幕擷取畫面, 字型, 行 的圖片&#10;&#10;AI 產生的內容可能不正確。">
            <a:extLst>
              <a:ext uri="{FF2B5EF4-FFF2-40B4-BE49-F238E27FC236}">
                <a16:creationId xmlns:a16="http://schemas.microsoft.com/office/drawing/2014/main" id="{CFDC95ED-3CBE-D2F3-1F85-A87B4411BA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7680" y="1276126"/>
            <a:ext cx="5296639" cy="1876687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096ED103-F1C8-4CC3-DCA8-95825BA66EC5}"/>
              </a:ext>
            </a:extLst>
          </p:cNvPr>
          <p:cNvSpPr/>
          <p:nvPr/>
        </p:nvSpPr>
        <p:spPr>
          <a:xfrm>
            <a:off x="3895583" y="1276126"/>
            <a:ext cx="463982" cy="2693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14" name="箭號: 向下 13">
            <a:extLst>
              <a:ext uri="{FF2B5EF4-FFF2-40B4-BE49-F238E27FC236}">
                <a16:creationId xmlns:a16="http://schemas.microsoft.com/office/drawing/2014/main" id="{956EE29F-B69E-795C-5D2D-4AF452BE3902}"/>
              </a:ext>
            </a:extLst>
          </p:cNvPr>
          <p:cNvSpPr/>
          <p:nvPr/>
        </p:nvSpPr>
        <p:spPr>
          <a:xfrm>
            <a:off x="5868086" y="3276890"/>
            <a:ext cx="455825" cy="270356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336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E6D5A-1E1C-491B-BD66-4C58E1243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字方塊 20">
            <a:extLst>
              <a:ext uri="{FF2B5EF4-FFF2-40B4-BE49-F238E27FC236}">
                <a16:creationId xmlns:a16="http://schemas.microsoft.com/office/drawing/2014/main" id="{99EAEF90-DDA9-4DD6-CF0C-84F0690544F4}"/>
              </a:ext>
            </a:extLst>
          </p:cNvPr>
          <p:cNvSpPr txBox="1"/>
          <p:nvPr/>
        </p:nvSpPr>
        <p:spPr>
          <a:xfrm>
            <a:off x="4041591" y="87546"/>
            <a:ext cx="41556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</a:rPr>
              <a:t>如果信打不開，要更改預設的開啟方式</a:t>
            </a:r>
            <a:br>
              <a:rPr lang="en-US" altLang="zh-TW" b="1" dirty="0">
                <a:solidFill>
                  <a:srgbClr val="FF0000"/>
                </a:solidFill>
              </a:rPr>
            </a:br>
            <a:r>
              <a:rPr lang="zh-TW" altLang="en-US" b="1" dirty="0">
                <a:solidFill>
                  <a:srgbClr val="FF0000"/>
                </a:solidFill>
              </a:rPr>
              <a:t>改成使用</a:t>
            </a:r>
            <a:r>
              <a:rPr lang="en-US" altLang="zh-TW" b="1" dirty="0">
                <a:solidFill>
                  <a:srgbClr val="FF0000"/>
                </a:solidFill>
              </a:rPr>
              <a:t>outlook</a:t>
            </a:r>
            <a:r>
              <a:rPr lang="zh-TW" altLang="en-US" b="1" dirty="0">
                <a:solidFill>
                  <a:srgbClr val="FF0000"/>
                </a:solidFill>
              </a:rPr>
              <a:t>開啟</a:t>
            </a:r>
          </a:p>
        </p:txBody>
      </p:sp>
      <p:pic>
        <p:nvPicPr>
          <p:cNvPr id="3" name="圖片 2" descr="一張含有 文字, 螢幕擷取畫面, 軟體, 數字 的圖片&#10;&#10;AI 產生的內容可能不正確。">
            <a:extLst>
              <a:ext uri="{FF2B5EF4-FFF2-40B4-BE49-F238E27FC236}">
                <a16:creationId xmlns:a16="http://schemas.microsoft.com/office/drawing/2014/main" id="{C60CF450-71C4-460A-5BBE-907D9EAFFC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477" y="761582"/>
            <a:ext cx="10239046" cy="4270768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C30BB448-DE7C-226E-922D-179FF9142469}"/>
              </a:ext>
            </a:extLst>
          </p:cNvPr>
          <p:cNvSpPr/>
          <p:nvPr/>
        </p:nvSpPr>
        <p:spPr>
          <a:xfrm>
            <a:off x="3463636" y="1574802"/>
            <a:ext cx="461819" cy="4756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589B1E4-0265-9CB8-5041-B743F4338A92}"/>
              </a:ext>
            </a:extLst>
          </p:cNvPr>
          <p:cNvSpPr/>
          <p:nvPr/>
        </p:nvSpPr>
        <p:spPr>
          <a:xfrm>
            <a:off x="6786418" y="2318329"/>
            <a:ext cx="1969655" cy="3694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  <p:pic>
        <p:nvPicPr>
          <p:cNvPr id="8" name="圖片 7" descr="一張含有 文字, 字型, 行, 螢幕擷取畫面 的圖片&#10;&#10;AI 產生的內容可能不正確。">
            <a:extLst>
              <a:ext uri="{FF2B5EF4-FFF2-40B4-BE49-F238E27FC236}">
                <a16:creationId xmlns:a16="http://schemas.microsoft.com/office/drawing/2014/main" id="{EB640A0A-DDE4-3B8F-009A-10E29C6BD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1423" y="5187734"/>
            <a:ext cx="9149154" cy="152038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90736A8D-8174-7FD0-D24D-5324D4C02C6A}"/>
              </a:ext>
            </a:extLst>
          </p:cNvPr>
          <p:cNvSpPr/>
          <p:nvPr/>
        </p:nvSpPr>
        <p:spPr>
          <a:xfrm>
            <a:off x="1521423" y="5578473"/>
            <a:ext cx="2718068" cy="3694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2E9CA18-8087-0F6D-9266-9FFB744388E1}"/>
              </a:ext>
            </a:extLst>
          </p:cNvPr>
          <p:cNvSpPr/>
          <p:nvPr/>
        </p:nvSpPr>
        <p:spPr>
          <a:xfrm>
            <a:off x="4821380" y="2830948"/>
            <a:ext cx="1136076" cy="2909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  <p:cxnSp>
        <p:nvCxnSpPr>
          <p:cNvPr id="7" name="接點: 肘形 6">
            <a:extLst>
              <a:ext uri="{FF2B5EF4-FFF2-40B4-BE49-F238E27FC236}">
                <a16:creationId xmlns:a16="http://schemas.microsoft.com/office/drawing/2014/main" id="{25B98DAA-EFE1-BEE4-47C3-D8519A7673D5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 flipV="1">
            <a:off x="5957456" y="2503056"/>
            <a:ext cx="828962" cy="473364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接點: 肘形 18">
            <a:extLst>
              <a:ext uri="{FF2B5EF4-FFF2-40B4-BE49-F238E27FC236}">
                <a16:creationId xmlns:a16="http://schemas.microsoft.com/office/drawing/2014/main" id="{84310115-1A38-DF64-90B8-B12A5958A008}"/>
              </a:ext>
            </a:extLst>
          </p:cNvPr>
          <p:cNvCxnSpPr>
            <a:cxnSpLocks/>
            <a:stCxn id="4" idx="3"/>
            <a:endCxn id="2" idx="1"/>
          </p:cNvCxnSpPr>
          <p:nvPr/>
        </p:nvCxnSpPr>
        <p:spPr>
          <a:xfrm>
            <a:off x="3925455" y="1812638"/>
            <a:ext cx="895925" cy="1163782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箭號: 向右 22">
            <a:extLst>
              <a:ext uri="{FF2B5EF4-FFF2-40B4-BE49-F238E27FC236}">
                <a16:creationId xmlns:a16="http://schemas.microsoft.com/office/drawing/2014/main" id="{1E4841A0-DDAA-8C1E-EFFD-C71BEA43AAD0}"/>
              </a:ext>
            </a:extLst>
          </p:cNvPr>
          <p:cNvSpPr/>
          <p:nvPr/>
        </p:nvSpPr>
        <p:spPr>
          <a:xfrm>
            <a:off x="1463428" y="6162884"/>
            <a:ext cx="286327" cy="24938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481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F42F1-14CE-8DA5-564F-D04FBA9C3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數字, 字型, 軟體 的圖片&#10;&#10;AI 產生的內容可能不正確。">
            <a:extLst>
              <a:ext uri="{FF2B5EF4-FFF2-40B4-BE49-F238E27FC236}">
                <a16:creationId xmlns:a16="http://schemas.microsoft.com/office/drawing/2014/main" id="{05264265-AD71-86F3-C422-C510B5012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782" y="83124"/>
            <a:ext cx="8340436" cy="38087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6B0B20E4-8858-5D4F-B5CF-D59E5928D022}"/>
              </a:ext>
            </a:extLst>
          </p:cNvPr>
          <p:cNvSpPr txBox="1"/>
          <p:nvPr/>
        </p:nvSpPr>
        <p:spPr>
          <a:xfrm>
            <a:off x="3075710" y="516401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</a:rPr>
              <a:t>下載信件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803AEEB-2851-A8DB-E022-4CCE84BBB02D}"/>
              </a:ext>
            </a:extLst>
          </p:cNvPr>
          <p:cNvSpPr/>
          <p:nvPr/>
        </p:nvSpPr>
        <p:spPr>
          <a:xfrm>
            <a:off x="1925782" y="92056"/>
            <a:ext cx="290945" cy="1850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  <p:pic>
        <p:nvPicPr>
          <p:cNvPr id="6" name="圖片 5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8653CA4F-522F-A481-1242-AE5BED21BA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782" y="4205639"/>
            <a:ext cx="1094509" cy="2251119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A70ECCEB-7BA5-F79F-ACFA-6759D2F92FAC}"/>
              </a:ext>
            </a:extLst>
          </p:cNvPr>
          <p:cNvSpPr/>
          <p:nvPr/>
        </p:nvSpPr>
        <p:spPr>
          <a:xfrm>
            <a:off x="1925782" y="5238681"/>
            <a:ext cx="1094509" cy="2200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C667089A-9011-A4C2-68B7-4CDB906E5C35}"/>
              </a:ext>
            </a:extLst>
          </p:cNvPr>
          <p:cNvSpPr/>
          <p:nvPr/>
        </p:nvSpPr>
        <p:spPr>
          <a:xfrm>
            <a:off x="1542473" y="59881"/>
            <a:ext cx="286327" cy="24938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EEBC8E25-3733-B9BD-C83C-EC41AD855147}"/>
              </a:ext>
            </a:extLst>
          </p:cNvPr>
          <p:cNvSpPr/>
          <p:nvPr/>
        </p:nvSpPr>
        <p:spPr>
          <a:xfrm>
            <a:off x="1584036" y="5223994"/>
            <a:ext cx="286327" cy="24938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圖片 3" descr="一張含有 文字, 字型, 螢幕擷取畫面, 數字 的圖片&#10;&#10;AI 產生的內容可能不正確。">
            <a:extLst>
              <a:ext uri="{FF2B5EF4-FFF2-40B4-BE49-F238E27FC236}">
                <a16:creationId xmlns:a16="http://schemas.microsoft.com/office/drawing/2014/main" id="{F9C8DA94-C754-9831-B424-75A2D68DD2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3164" y="4205639"/>
            <a:ext cx="875053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915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C47BE-0872-7DBD-CA16-9B1546E74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一張含有 文字, 字型, 螢幕擷取畫面 的圖片&#10;&#10;AI 產生的內容可能不正確。">
            <a:extLst>
              <a:ext uri="{FF2B5EF4-FFF2-40B4-BE49-F238E27FC236}">
                <a16:creationId xmlns:a16="http://schemas.microsoft.com/office/drawing/2014/main" id="{E3B92E2E-5213-68DD-1492-270A2F458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422" y="5563944"/>
            <a:ext cx="6798034" cy="898914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5" name="群組 4">
            <a:extLst>
              <a:ext uri="{FF2B5EF4-FFF2-40B4-BE49-F238E27FC236}">
                <a16:creationId xmlns:a16="http://schemas.microsoft.com/office/drawing/2014/main" id="{C401CBB3-166A-265C-9C49-E51496EA206E}"/>
              </a:ext>
            </a:extLst>
          </p:cNvPr>
          <p:cNvGrpSpPr/>
          <p:nvPr/>
        </p:nvGrpSpPr>
        <p:grpSpPr>
          <a:xfrm>
            <a:off x="2584018" y="656610"/>
            <a:ext cx="7023964" cy="4511218"/>
            <a:chOff x="2073854" y="653927"/>
            <a:chExt cx="8044291" cy="5166534"/>
          </a:xfrm>
        </p:grpSpPr>
        <p:pic>
          <p:nvPicPr>
            <p:cNvPr id="2" name="圖片 1" descr="一張含有 文字, 螢幕擷取畫面, 數字, 字型 的圖片&#10;&#10;AI 產生的內容可能不正確。">
              <a:extLst>
                <a:ext uri="{FF2B5EF4-FFF2-40B4-BE49-F238E27FC236}">
                  <a16:creationId xmlns:a16="http://schemas.microsoft.com/office/drawing/2014/main" id="{8327EA84-80F4-9889-053F-642A45810A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73855" y="653927"/>
              <a:ext cx="8044290" cy="3899269"/>
            </a:xfrm>
            <a:prstGeom prst="rect">
              <a:avLst/>
            </a:prstGeom>
          </p:spPr>
        </p:pic>
        <p:pic>
          <p:nvPicPr>
            <p:cNvPr id="19" name="圖片 18" descr="一張含有 文字, 字型, 螢幕擷取畫面 的圖片&#10;&#10;AI 產生的內容可能不正確。">
              <a:extLst>
                <a:ext uri="{FF2B5EF4-FFF2-40B4-BE49-F238E27FC236}">
                  <a16:creationId xmlns:a16="http://schemas.microsoft.com/office/drawing/2014/main" id="{455E13A2-B241-6285-2A1F-A8CBC7CFD1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73854" y="4661121"/>
              <a:ext cx="8044290" cy="1159340"/>
            </a:xfrm>
            <a:prstGeom prst="rect">
              <a:avLst/>
            </a:prstGeom>
          </p:spPr>
        </p:pic>
      </p:grp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AABC79DE-8CE8-4E23-A705-5E293AAB6A5E}"/>
              </a:ext>
            </a:extLst>
          </p:cNvPr>
          <p:cNvSpPr txBox="1"/>
          <p:nvPr/>
        </p:nvSpPr>
        <p:spPr>
          <a:xfrm>
            <a:off x="5999318" y="647363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</a:rPr>
              <a:t>填寫申請需求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D448D9-EB2F-0746-1C27-280F7A8B933D}"/>
              </a:ext>
            </a:extLst>
          </p:cNvPr>
          <p:cNvSpPr/>
          <p:nvPr/>
        </p:nvSpPr>
        <p:spPr>
          <a:xfrm>
            <a:off x="3020290" y="2850752"/>
            <a:ext cx="1828801" cy="3357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431E921-7CDB-DCD1-AEA2-8E291A623F30}"/>
              </a:ext>
            </a:extLst>
          </p:cNvPr>
          <p:cNvSpPr txBox="1"/>
          <p:nvPr/>
        </p:nvSpPr>
        <p:spPr>
          <a:xfrm>
            <a:off x="130478" y="38719"/>
            <a:ext cx="11959922" cy="5232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https://a00a.atlassian.net/wiki/spaces/NTCITH/pages/132448907/VPN</a:t>
            </a:r>
          </a:p>
        </p:txBody>
      </p:sp>
      <p:sp>
        <p:nvSpPr>
          <p:cNvPr id="6" name="箭號: 向下 5">
            <a:extLst>
              <a:ext uri="{FF2B5EF4-FFF2-40B4-BE49-F238E27FC236}">
                <a16:creationId xmlns:a16="http://schemas.microsoft.com/office/drawing/2014/main" id="{D9588766-0ED6-7486-46AD-79A13CB6BEA0}"/>
              </a:ext>
            </a:extLst>
          </p:cNvPr>
          <p:cNvSpPr/>
          <p:nvPr/>
        </p:nvSpPr>
        <p:spPr>
          <a:xfrm>
            <a:off x="5868085" y="5137204"/>
            <a:ext cx="455825" cy="270356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3411FDE-0BD0-AF45-3C71-AD5AA9221B3A}"/>
              </a:ext>
            </a:extLst>
          </p:cNvPr>
          <p:cNvSpPr/>
          <p:nvPr/>
        </p:nvSpPr>
        <p:spPr>
          <a:xfrm>
            <a:off x="6323910" y="5772847"/>
            <a:ext cx="640308" cy="1476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830303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16C4D-CE4E-0FB1-861B-888AD24E0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C9CBA5BC-1B94-05D1-8452-90497EAA5F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7087" y="170500"/>
            <a:ext cx="6197825" cy="2763641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E7D1B4D-EBEA-CAEB-BC95-DEF570661A1C}"/>
              </a:ext>
            </a:extLst>
          </p:cNvPr>
          <p:cNvSpPr/>
          <p:nvPr/>
        </p:nvSpPr>
        <p:spPr>
          <a:xfrm>
            <a:off x="3103419" y="2346036"/>
            <a:ext cx="6091493" cy="5264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  <p:pic>
        <p:nvPicPr>
          <p:cNvPr id="2" name="圖片 1" descr="一張含有 文字, 螢幕擷取畫面, 數字, 行 的圖片&#10;&#10;AI 產生的內容可能不正確。">
            <a:extLst>
              <a:ext uri="{FF2B5EF4-FFF2-40B4-BE49-F238E27FC236}">
                <a16:creationId xmlns:a16="http://schemas.microsoft.com/office/drawing/2014/main" id="{B5A204A2-7336-FF12-4B40-D77789AD7F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977" y="3279034"/>
            <a:ext cx="6412043" cy="3510066"/>
          </a:xfrm>
          <a:prstGeom prst="rect">
            <a:avLst/>
          </a:prstGeom>
        </p:spPr>
      </p:pic>
      <p:sp>
        <p:nvSpPr>
          <p:cNvPr id="5" name="箭號: 向下 4">
            <a:extLst>
              <a:ext uri="{FF2B5EF4-FFF2-40B4-BE49-F238E27FC236}">
                <a16:creationId xmlns:a16="http://schemas.microsoft.com/office/drawing/2014/main" id="{3A311B44-CE37-D8BF-2535-B7CA5460CB20}"/>
              </a:ext>
            </a:extLst>
          </p:cNvPr>
          <p:cNvSpPr/>
          <p:nvPr/>
        </p:nvSpPr>
        <p:spPr>
          <a:xfrm>
            <a:off x="5868085" y="3045748"/>
            <a:ext cx="455825" cy="270356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3ED8E8D-F2D6-CDDE-6401-16DF462A0317}"/>
              </a:ext>
            </a:extLst>
          </p:cNvPr>
          <p:cNvSpPr/>
          <p:nvPr/>
        </p:nvSpPr>
        <p:spPr>
          <a:xfrm>
            <a:off x="5384800" y="6345382"/>
            <a:ext cx="1450109" cy="45720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27FA2E6-B954-BCFD-C520-8995262A618B}"/>
              </a:ext>
            </a:extLst>
          </p:cNvPr>
          <p:cNvSpPr txBox="1"/>
          <p:nvPr/>
        </p:nvSpPr>
        <p:spPr>
          <a:xfrm>
            <a:off x="7653189" y="6389317"/>
            <a:ext cx="3006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</a:rPr>
              <a:t>上傳之前生成的 </a:t>
            </a:r>
            <a:r>
              <a:rPr lang="en-US" altLang="zh-TW" b="1" dirty="0">
                <a:solidFill>
                  <a:srgbClr val="FF0000"/>
                </a:solidFill>
              </a:rPr>
              <a:t>“.msg” </a:t>
            </a:r>
            <a:r>
              <a:rPr lang="zh-TW" altLang="en-US" b="1" dirty="0">
                <a:solidFill>
                  <a:srgbClr val="FF0000"/>
                </a:solidFill>
              </a:rPr>
              <a:t>信件</a:t>
            </a:r>
          </a:p>
        </p:txBody>
      </p:sp>
      <p:pic>
        <p:nvPicPr>
          <p:cNvPr id="6" name="圖片 5" descr="一張含有 文字, 字型, 設計 的圖片&#10;&#10;AI 產生的內容可能不正確。">
            <a:extLst>
              <a:ext uri="{FF2B5EF4-FFF2-40B4-BE49-F238E27FC236}">
                <a16:creationId xmlns:a16="http://schemas.microsoft.com/office/drawing/2014/main" id="{C3E87E3F-3954-D411-A954-9535CBFAE2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801" y="6252648"/>
            <a:ext cx="535640" cy="595994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81A7D0FA-763D-EEAF-2251-579C79C5D09A}"/>
              </a:ext>
            </a:extLst>
          </p:cNvPr>
          <p:cNvSpPr txBox="1"/>
          <p:nvPr/>
        </p:nvSpPr>
        <p:spPr>
          <a:xfrm>
            <a:off x="3288145" y="5373317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>
                <a:solidFill>
                  <a:srgbClr val="FF0000"/>
                </a:solidFill>
              </a:rPr>
              <a:t>簡單說明需求</a:t>
            </a:r>
          </a:p>
        </p:txBody>
      </p:sp>
    </p:spTree>
    <p:extLst>
      <p:ext uri="{BB962C8B-B14F-4D97-AF65-F5344CB8AC3E}">
        <p14:creationId xmlns:p14="http://schemas.microsoft.com/office/powerpoint/2010/main" val="3775983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722A4-6196-14C2-FDB9-10A9BB878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螢幕擷取畫面, 軟體, 網頁 的圖片&#10;&#10;AI 產生的內容可能不正確。">
            <a:extLst>
              <a:ext uri="{FF2B5EF4-FFF2-40B4-BE49-F238E27FC236}">
                <a16:creationId xmlns:a16="http://schemas.microsoft.com/office/drawing/2014/main" id="{63702DAA-E974-D2C9-F8B4-0C007C77E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795" y="868218"/>
            <a:ext cx="6144410" cy="5989782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C282E49A-5838-9501-D3C3-BF187F341820}"/>
              </a:ext>
            </a:extLst>
          </p:cNvPr>
          <p:cNvSpPr txBox="1"/>
          <p:nvPr/>
        </p:nvSpPr>
        <p:spPr>
          <a:xfrm>
            <a:off x="5695890" y="24103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完成</a:t>
            </a:r>
          </a:p>
        </p:txBody>
      </p:sp>
    </p:spTree>
    <p:extLst>
      <p:ext uri="{BB962C8B-B14F-4D97-AF65-F5344CB8AC3E}">
        <p14:creationId xmlns:p14="http://schemas.microsoft.com/office/powerpoint/2010/main" val="787195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86330A0-0707-5576-B5A6-258DF73180BB}"/>
              </a:ext>
            </a:extLst>
          </p:cNvPr>
          <p:cNvSpPr txBox="1"/>
          <p:nvPr/>
        </p:nvSpPr>
        <p:spPr>
          <a:xfrm>
            <a:off x="5080337" y="3105834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遠端連線</a:t>
            </a:r>
            <a:endParaRPr lang="en-US"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92222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88488BB9-3321-2B54-416D-15643A404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7670" y="2762156"/>
            <a:ext cx="1066949" cy="1333686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639EF4ED-E5CF-93A2-FA71-A00816486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2350" y="2552576"/>
            <a:ext cx="3896269" cy="175284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3E7A6D5C-D5AA-5894-F324-02ABAA438BA0}"/>
              </a:ext>
            </a:extLst>
          </p:cNvPr>
          <p:cNvSpPr txBox="1"/>
          <p:nvPr/>
        </p:nvSpPr>
        <p:spPr>
          <a:xfrm>
            <a:off x="4638806" y="1786152"/>
            <a:ext cx="29143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</a:rPr>
              <a:t>打開</a:t>
            </a:r>
            <a:r>
              <a:rPr lang="en-US" altLang="zh-TW" b="1" dirty="0">
                <a:solidFill>
                  <a:srgbClr val="FF0000"/>
                </a:solidFill>
              </a:rPr>
              <a:t>CISCO</a:t>
            </a:r>
            <a:r>
              <a:rPr lang="zh-TW" altLang="en-US" b="1" dirty="0">
                <a:solidFill>
                  <a:srgbClr val="FF0000"/>
                </a:solidFill>
              </a:rPr>
              <a:t> </a:t>
            </a:r>
            <a:r>
              <a:rPr lang="en-US" altLang="zh-TW" b="1" dirty="0">
                <a:solidFill>
                  <a:srgbClr val="FF0000"/>
                </a:solidFill>
              </a:rPr>
              <a:t>VPN</a:t>
            </a:r>
            <a:br>
              <a:rPr lang="en-US" altLang="zh-TW" b="1" dirty="0">
                <a:solidFill>
                  <a:srgbClr val="FF0000"/>
                </a:solidFill>
              </a:rPr>
            </a:br>
            <a:r>
              <a:rPr lang="zh-TW" altLang="en-US" b="1" dirty="0">
                <a:solidFill>
                  <a:srgbClr val="FF0000"/>
                </a:solidFill>
              </a:rPr>
              <a:t>輸入 </a:t>
            </a:r>
            <a:r>
              <a:rPr lang="en-US" altLang="zh-TW" b="1" dirty="0">
                <a:solidFill>
                  <a:srgbClr val="FF0000"/>
                </a:solidFill>
              </a:rPr>
              <a:t>“VPN.NUVOTON.COM”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80001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063DE1F6-C503-0E64-36E8-9117AF331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524" y="2381396"/>
            <a:ext cx="3191320" cy="2095792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E354BEB2-CB38-D947-9E9F-6EF684A73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1049" y="2168335"/>
            <a:ext cx="3086531" cy="254353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4C520B91-2D74-15D6-5444-75AC453D2E51}"/>
              </a:ext>
            </a:extLst>
          </p:cNvPr>
          <p:cNvSpPr txBox="1"/>
          <p:nvPr/>
        </p:nvSpPr>
        <p:spPr>
          <a:xfrm>
            <a:off x="1880025" y="150206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</a:rPr>
              <a:t>確定連線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7FB69B7-1762-958A-9A5A-3754F9724E12}"/>
              </a:ext>
            </a:extLst>
          </p:cNvPr>
          <p:cNvSpPr txBox="1"/>
          <p:nvPr/>
        </p:nvSpPr>
        <p:spPr>
          <a:xfrm>
            <a:off x="6098186" y="150206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</a:rPr>
              <a:t>公司帳密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A17627B-63EF-71FA-798C-5A1C1304C8F2}"/>
              </a:ext>
            </a:extLst>
          </p:cNvPr>
          <p:cNvSpPr txBox="1"/>
          <p:nvPr/>
        </p:nvSpPr>
        <p:spPr>
          <a:xfrm>
            <a:off x="9504896" y="150206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</a:rPr>
              <a:t>手機收驗證碼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9ACCEE04-1928-D4FF-7082-B063B5F084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026" y="2323081"/>
            <a:ext cx="3879971" cy="2634710"/>
          </a:xfrm>
          <a:prstGeom prst="rect">
            <a:avLst/>
          </a:prstGeom>
        </p:spPr>
      </p:pic>
      <p:sp>
        <p:nvSpPr>
          <p:cNvPr id="2" name="箭號: 向下 1">
            <a:extLst>
              <a:ext uri="{FF2B5EF4-FFF2-40B4-BE49-F238E27FC236}">
                <a16:creationId xmlns:a16="http://schemas.microsoft.com/office/drawing/2014/main" id="{6088F960-6448-3C72-B7C7-FA2F623B51B7}"/>
              </a:ext>
            </a:extLst>
          </p:cNvPr>
          <p:cNvSpPr/>
          <p:nvPr/>
        </p:nvSpPr>
        <p:spPr>
          <a:xfrm rot="16200000">
            <a:off x="4438112" y="3277345"/>
            <a:ext cx="455825" cy="270356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箭號: 向下 2">
            <a:extLst>
              <a:ext uri="{FF2B5EF4-FFF2-40B4-BE49-F238E27FC236}">
                <a16:creationId xmlns:a16="http://schemas.microsoft.com/office/drawing/2014/main" id="{7DA7D167-A9AD-C30C-DD20-85923079D253}"/>
              </a:ext>
            </a:extLst>
          </p:cNvPr>
          <p:cNvSpPr/>
          <p:nvPr/>
        </p:nvSpPr>
        <p:spPr>
          <a:xfrm rot="16200000">
            <a:off x="8206534" y="3277344"/>
            <a:ext cx="455825" cy="270356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2807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6B2A9-8528-943F-B0C7-F36548D92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網頁, 軟體 的圖片&#10;&#10;AI 產生的內容可能不正確。">
            <a:extLst>
              <a:ext uri="{FF2B5EF4-FFF2-40B4-BE49-F238E27FC236}">
                <a16:creationId xmlns:a16="http://schemas.microsoft.com/office/drawing/2014/main" id="{42DCB495-A752-27E4-E01A-CA000A1E47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3775" y="812800"/>
            <a:ext cx="5944449" cy="6045200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061FC6CD-3CD6-1B1C-1166-3620B981C510}"/>
              </a:ext>
            </a:extLst>
          </p:cNvPr>
          <p:cNvSpPr txBox="1"/>
          <p:nvPr/>
        </p:nvSpPr>
        <p:spPr>
          <a:xfrm>
            <a:off x="3629073" y="166469"/>
            <a:ext cx="47030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</a:rPr>
              <a:t>若登入後</a:t>
            </a:r>
            <a:r>
              <a:rPr lang="en-US" altLang="zh-TW" b="1" dirty="0">
                <a:solidFill>
                  <a:srgbClr val="FF0000"/>
                </a:solidFill>
              </a:rPr>
              <a:t>login failed</a:t>
            </a:r>
            <a:r>
              <a:rPr lang="zh-TW" altLang="en-US" b="1" dirty="0">
                <a:solidFill>
                  <a:srgbClr val="FF0000"/>
                </a:solidFill>
              </a:rPr>
              <a:t>，代表帳密有誤</a:t>
            </a:r>
            <a:endParaRPr lang="en-US" altLang="zh-TW" b="1" dirty="0">
              <a:solidFill>
                <a:srgbClr val="FF0000"/>
              </a:solidFill>
            </a:endParaRPr>
          </a:p>
          <a:p>
            <a:r>
              <a:rPr lang="zh-TW" altLang="en-US" b="1" dirty="0">
                <a:solidFill>
                  <a:srgbClr val="FF0000"/>
                </a:solidFill>
              </a:rPr>
              <a:t>若接收驗證碼後</a:t>
            </a:r>
            <a:r>
              <a:rPr lang="en-US" altLang="zh-TW" b="1" dirty="0">
                <a:solidFill>
                  <a:srgbClr val="FF0000"/>
                </a:solidFill>
              </a:rPr>
              <a:t>login failed</a:t>
            </a:r>
            <a:r>
              <a:rPr lang="zh-TW" altLang="en-US" b="1" dirty="0">
                <a:solidFill>
                  <a:srgbClr val="FF0000"/>
                </a:solidFill>
              </a:rPr>
              <a:t>，代表申請未通過</a:t>
            </a:r>
            <a:endParaRPr lang="en-US" altLang="zh-TW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040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CF4E190D-8541-DD02-D8A0-E6AAABBB1AB1}"/>
              </a:ext>
            </a:extLst>
          </p:cNvPr>
          <p:cNvSpPr txBox="1"/>
          <p:nvPr/>
        </p:nvSpPr>
        <p:spPr>
          <a:xfrm>
            <a:off x="1825770" y="1449049"/>
            <a:ext cx="1824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</a:rPr>
              <a:t>點擊 </a:t>
            </a:r>
            <a:r>
              <a:rPr lang="en-US" altLang="zh-TW" b="1" dirty="0">
                <a:solidFill>
                  <a:srgbClr val="FF0000"/>
                </a:solidFill>
              </a:rPr>
              <a:t>“</a:t>
            </a:r>
            <a:r>
              <a:rPr lang="zh-TW" altLang="en-US" b="1" dirty="0">
                <a:solidFill>
                  <a:srgbClr val="FF0000"/>
                </a:solidFill>
              </a:rPr>
              <a:t>顯示選項</a:t>
            </a:r>
            <a:r>
              <a:rPr lang="en-US" altLang="zh-TW" b="1" dirty="0">
                <a:solidFill>
                  <a:srgbClr val="FF0000"/>
                </a:solidFill>
              </a:rPr>
              <a:t>”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20F7E33-75A6-3067-B0DF-31EF00A68AFC}"/>
              </a:ext>
            </a:extLst>
          </p:cNvPr>
          <p:cNvSpPr txBox="1"/>
          <p:nvPr/>
        </p:nvSpPr>
        <p:spPr>
          <a:xfrm>
            <a:off x="6213682" y="1310405"/>
            <a:ext cx="52581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</a:rPr>
              <a:t>本機資源 </a:t>
            </a:r>
            <a:r>
              <a:rPr lang="en-US" altLang="zh-TW" b="1" dirty="0">
                <a:solidFill>
                  <a:srgbClr val="FF0000"/>
                </a:solidFill>
              </a:rPr>
              <a:t>-&gt; </a:t>
            </a:r>
            <a:r>
              <a:rPr lang="zh-TW" altLang="en-US" b="1" dirty="0">
                <a:solidFill>
                  <a:srgbClr val="FF0000"/>
                </a:solidFill>
              </a:rPr>
              <a:t>音訊設定 </a:t>
            </a:r>
            <a:r>
              <a:rPr lang="en-US" altLang="zh-TW" b="1" dirty="0">
                <a:solidFill>
                  <a:srgbClr val="FF0000"/>
                </a:solidFill>
              </a:rPr>
              <a:t>-&gt; </a:t>
            </a:r>
            <a:br>
              <a:rPr lang="en-US" altLang="zh-TW" b="1" dirty="0">
                <a:solidFill>
                  <a:srgbClr val="FF0000"/>
                </a:solidFill>
              </a:rPr>
            </a:br>
            <a:r>
              <a:rPr lang="zh-TW" altLang="en-US" b="1" dirty="0">
                <a:solidFill>
                  <a:srgbClr val="FF0000"/>
                </a:solidFill>
              </a:rPr>
              <a:t>確認勾選 </a:t>
            </a:r>
            <a:r>
              <a:rPr lang="en-US" altLang="zh-TW" b="1" dirty="0">
                <a:solidFill>
                  <a:srgbClr val="FF0000"/>
                </a:solidFill>
              </a:rPr>
              <a:t>“</a:t>
            </a:r>
            <a:r>
              <a:rPr lang="zh-TW" altLang="en-US" b="1" dirty="0">
                <a:solidFill>
                  <a:srgbClr val="FF0000"/>
                </a:solidFill>
              </a:rPr>
              <a:t>在這部電腦上撥放</a:t>
            </a:r>
            <a:r>
              <a:rPr lang="en-US" altLang="zh-TW" b="1" dirty="0">
                <a:solidFill>
                  <a:srgbClr val="FF0000"/>
                </a:solidFill>
              </a:rPr>
              <a:t>”</a:t>
            </a:r>
            <a:r>
              <a:rPr lang="zh-TW" altLang="en-US" b="1" dirty="0">
                <a:solidFill>
                  <a:srgbClr val="FF0000"/>
                </a:solidFill>
              </a:rPr>
              <a:t>、</a:t>
            </a:r>
            <a:r>
              <a:rPr lang="en-US" altLang="zh-TW" b="1" dirty="0">
                <a:solidFill>
                  <a:srgbClr val="FF0000"/>
                </a:solidFill>
              </a:rPr>
              <a:t>”</a:t>
            </a:r>
            <a:r>
              <a:rPr lang="zh-TW" altLang="en-US" b="1" dirty="0">
                <a:solidFill>
                  <a:srgbClr val="FF0000"/>
                </a:solidFill>
              </a:rPr>
              <a:t>從這部電腦錄製</a:t>
            </a:r>
            <a:r>
              <a:rPr lang="en-US" altLang="zh-TW" b="1" dirty="0">
                <a:solidFill>
                  <a:srgbClr val="FF0000"/>
                </a:solidFill>
              </a:rPr>
              <a:t>”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756C0E8-EB64-25EB-3079-BBF544005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098" y="2109603"/>
            <a:ext cx="4458322" cy="2638793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4E87620C-7F3B-F7CC-B79A-488F8A60D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6632" y="2109603"/>
            <a:ext cx="3593222" cy="2925798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BA968835-8D83-B2F4-ED72-25606153ED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0333" y="2109603"/>
            <a:ext cx="3070088" cy="3664299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1D9A1ED7-6440-D216-C1EB-A69974DDB741}"/>
              </a:ext>
            </a:extLst>
          </p:cNvPr>
          <p:cNvSpPr txBox="1"/>
          <p:nvPr/>
        </p:nvSpPr>
        <p:spPr>
          <a:xfrm>
            <a:off x="4208303" y="265685"/>
            <a:ext cx="415530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此設定步驟似乎可略過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(?</a:t>
            </a:r>
            <a:endParaRPr lang="en-US" altLang="zh-TW" sz="2800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教學手冊說要做，但沒設定好像也能連線</a:t>
            </a:r>
            <a:endParaRPr lang="en-US" altLang="zh-TW" sz="1400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箭號: 向下 2">
            <a:extLst>
              <a:ext uri="{FF2B5EF4-FFF2-40B4-BE49-F238E27FC236}">
                <a16:creationId xmlns:a16="http://schemas.microsoft.com/office/drawing/2014/main" id="{A2CE3358-FFA1-BB56-DB5D-62CE123CF7E9}"/>
              </a:ext>
            </a:extLst>
          </p:cNvPr>
          <p:cNvSpPr/>
          <p:nvPr/>
        </p:nvSpPr>
        <p:spPr>
          <a:xfrm rot="16200000">
            <a:off x="4905464" y="3293821"/>
            <a:ext cx="455825" cy="270356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4131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7BEF5B7-5AE1-30D5-B76C-1D4358AF5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294" y="2085787"/>
            <a:ext cx="4305901" cy="3915321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47A4EC0C-54E9-4E65-F153-CCE2236A1C29}"/>
              </a:ext>
            </a:extLst>
          </p:cNvPr>
          <p:cNvSpPr txBox="1"/>
          <p:nvPr/>
        </p:nvSpPr>
        <p:spPr>
          <a:xfrm>
            <a:off x="2488962" y="1606243"/>
            <a:ext cx="1994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</a:rPr>
              <a:t>連線 </a:t>
            </a:r>
            <a:r>
              <a:rPr lang="en-US" altLang="zh-TW" b="1" dirty="0">
                <a:solidFill>
                  <a:srgbClr val="FF0000"/>
                </a:solidFill>
              </a:rPr>
              <a:t>“NTHCTERM”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1DEA886-28F2-FE93-AA9E-E48414B23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805" y="2085787"/>
            <a:ext cx="4458322" cy="2686425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71F2A970-601E-083F-BFAD-243E6CFFE1D3}"/>
              </a:ext>
            </a:extLst>
          </p:cNvPr>
          <p:cNvSpPr txBox="1"/>
          <p:nvPr/>
        </p:nvSpPr>
        <p:spPr>
          <a:xfrm>
            <a:off x="8357103" y="160624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</a:rPr>
              <a:t>公司帳密</a:t>
            </a:r>
          </a:p>
        </p:txBody>
      </p:sp>
    </p:spTree>
    <p:extLst>
      <p:ext uri="{BB962C8B-B14F-4D97-AF65-F5344CB8AC3E}">
        <p14:creationId xmlns:p14="http://schemas.microsoft.com/office/powerpoint/2010/main" val="18139450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B2F6D9A4-D607-FCF7-0BEE-AA4CDC6D1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7408" y="1889651"/>
            <a:ext cx="3962953" cy="3715268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F25BC243-F6DF-3D63-CFA4-E2B04CBC38E8}"/>
              </a:ext>
            </a:extLst>
          </p:cNvPr>
          <p:cNvSpPr txBox="1"/>
          <p:nvPr/>
        </p:nvSpPr>
        <p:spPr>
          <a:xfrm>
            <a:off x="2887553" y="1117972"/>
            <a:ext cx="2723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</a:rPr>
              <a:t>進入遠端桌面後</a:t>
            </a:r>
            <a:br>
              <a:rPr lang="en-US" altLang="zh-TW" b="1" dirty="0">
                <a:solidFill>
                  <a:srgbClr val="FF0000"/>
                </a:solidFill>
              </a:rPr>
            </a:br>
            <a:r>
              <a:rPr lang="zh-TW" altLang="en-US" b="1" dirty="0">
                <a:solidFill>
                  <a:srgbClr val="FF0000"/>
                </a:solidFill>
              </a:rPr>
              <a:t>再次開啟裡面的遠端桌面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B7B5F957-E0E9-98D7-AEBE-56B9E5EB6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39" y="1889651"/>
            <a:ext cx="7076108" cy="322074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AACA0B92-47BA-77AD-4619-5A00B9BD1C93}"/>
              </a:ext>
            </a:extLst>
          </p:cNvPr>
          <p:cNvSpPr txBox="1"/>
          <p:nvPr/>
        </p:nvSpPr>
        <p:spPr>
          <a:xfrm>
            <a:off x="9101921" y="126134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</a:rPr>
              <a:t>公司電腦帳密</a:t>
            </a:r>
          </a:p>
        </p:txBody>
      </p:sp>
    </p:spTree>
    <p:extLst>
      <p:ext uri="{BB962C8B-B14F-4D97-AF65-F5344CB8AC3E}">
        <p14:creationId xmlns:p14="http://schemas.microsoft.com/office/powerpoint/2010/main" val="23055502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CCF40-924D-D7F5-5965-C0564E349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8802B2FD-3FD0-6348-2399-C1213FAE9EFB}"/>
              </a:ext>
            </a:extLst>
          </p:cNvPr>
          <p:cNvSpPr txBox="1"/>
          <p:nvPr/>
        </p:nvSpPr>
        <p:spPr>
          <a:xfrm>
            <a:off x="4643519" y="1463276"/>
            <a:ext cx="2904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</a:rPr>
              <a:t>使用完畢後，記得關閉</a:t>
            </a:r>
            <a:r>
              <a:rPr lang="en-US" altLang="zh-TW" b="1" dirty="0">
                <a:solidFill>
                  <a:srgbClr val="FF0000"/>
                </a:solidFill>
              </a:rPr>
              <a:t>VPN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9C09759-30B4-23A5-922F-6272E4EDC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9399" y="1997119"/>
            <a:ext cx="4813201" cy="2823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40763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391</Words>
  <Application>Microsoft Office PowerPoint</Application>
  <PresentationFormat>寬螢幕</PresentationFormat>
  <Paragraphs>61</Paragraphs>
  <Slides>20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5" baseType="lpstr">
      <vt:lpstr>微軟正黑體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S220 JYLin</cp:lastModifiedBy>
  <cp:revision>18</cp:revision>
  <dcterms:created xsi:type="dcterms:W3CDTF">2025-05-13T14:45:41Z</dcterms:created>
  <dcterms:modified xsi:type="dcterms:W3CDTF">2025-09-18T05:22:15Z</dcterms:modified>
</cp:coreProperties>
</file>