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70" r:id="rId4"/>
    <p:sldId id="271" r:id="rId5"/>
    <p:sldId id="27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4" d="100"/>
          <a:sy n="64" d="100"/>
        </p:scale>
        <p:origin x="95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D957E9-4B11-ED21-ECFD-2783ED240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3DB933D-956F-B803-21BE-6CD5C8B55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E20818-4893-DA7C-0D1A-D3956341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75A8C-668F-4EB3-B7A9-C056273A964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53DB44A-0F0E-2364-C0F9-222FB522C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2FDFA04-1D10-B1C5-9286-3422C5882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7CAB-D2BD-4C77-AE42-7EB9A378A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6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F1D71-5D88-878C-EC91-AA5BE5E5A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5A2905-B6C7-05D5-9C20-0EC050D20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5B23D3-772B-B449-F38C-A8056C3D2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75A8C-668F-4EB3-B7A9-C056273A964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11461B-2306-9412-68B9-6F2D29F5E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7B1D86A-2256-3B2C-F7B7-2B8077538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7CAB-D2BD-4C77-AE42-7EB9A378A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44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365A1A-F565-4C6B-68A3-4BC898DBA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115CA51-7269-338F-AD59-5C31529AC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9AFDF4-7895-CD23-4F04-0B6F89D91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75A8C-668F-4EB3-B7A9-C056273A964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A8E3C1-7F33-7796-5F5E-11BA3101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4B5824-46E1-87D9-2FE4-4135A445B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7CAB-D2BD-4C77-AE42-7EB9A378A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32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0B9857-E789-9593-7FF6-BE8224549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2120B46-8707-7CDA-4DF6-B1B436C620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18674CB-624F-D4CE-1641-436D02F3DA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F65E5C8-DE65-7D26-A292-24920FCFF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75A8C-668F-4EB3-B7A9-C056273A964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7008381-2AA4-31F2-5C54-639C196E3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3B5A496-F38F-EBA0-E4DC-8ACEA9075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7CAB-D2BD-4C77-AE42-7EB9A378A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07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FA6EC6-77B3-0BF8-0561-904F31EFE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548BC2-8D9D-FF99-4585-E19032E51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A110803-2E89-ACDD-BE7E-F4F018734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2BF4319-E8DF-B737-F54B-93C94124B9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25F00DD-FC8C-26ED-4CBD-5D648076A5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DF0F8D3-C7FE-2ECD-7569-26B563157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75A8C-668F-4EB3-B7A9-C056273A964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3EA53AD-920A-1FC6-D968-39F39CFB4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F9C5707-5054-D5DA-D19A-19DF7D8DF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7CAB-D2BD-4C77-AE42-7EB9A378A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129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5E7607-0EC4-AB4E-B94C-F91ADE199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BA3308E-D1BF-F80D-7294-3A41E971A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75A8C-668F-4EB3-B7A9-C056273A964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E01D7D7-AE98-9209-FCF0-6C5D965C7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E24449E-32AD-9074-2732-043AFB704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7CAB-D2BD-4C77-AE42-7EB9A378A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45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22CDC53-5E7B-DE40-F10E-FF38C5EFA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75A8C-668F-4EB3-B7A9-C056273A964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C7E6535-19FA-FD86-EF31-1030BB760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C8A452-40C1-8066-4888-DDFCB1B9B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7CAB-D2BD-4C77-AE42-7EB9A378A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231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863B57-74FE-9AB3-65F1-CFAE2779E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1257D0-71EF-A8EF-5192-839E143EF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B933908-6ECF-A2CA-D4DD-2006D4C78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04B6E70-4950-360F-C15C-171D02DBE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75A8C-668F-4EB3-B7A9-C056273A964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6C3EAA1-B2AD-7C63-E923-25A9247B4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7866EB7-1DF9-8717-5AA4-DDBE55C4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7CAB-D2BD-4C77-AE42-7EB9A378A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88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810460-7C4B-D7F5-66F2-B6BDFA6B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AC80BA7-146D-A1DD-DDDB-B617105F4D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A4BD7E4-C904-8633-3E1A-454F91974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F19DA64-C6A5-89EA-CEAD-129DE74DB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75A8C-668F-4EB3-B7A9-C056273A964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BDFEE85-BC33-2F1A-C928-B877907EC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7B7C4EC-1CE4-A2FD-C6E2-8743AA76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7CAB-D2BD-4C77-AE42-7EB9A378A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67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1A198C-45F9-1F57-9813-FA2039A42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94F1B1B-EC56-CBB9-9352-4034DD8CB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8702F0-FD58-6E33-9D43-7EEC072D2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75A8C-668F-4EB3-B7A9-C056273A964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A2D3EB-F9C9-EE52-F410-EB8854597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F3F0532-D80F-53A7-8DE3-D3314F80B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7CAB-D2BD-4C77-AE42-7EB9A378A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249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89BA142-4E2B-84C0-8FC3-FC04DF2B6F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EBF7866-7236-44D2-F26C-397607232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23DC80-759D-A39E-782B-3F6972375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75A8C-668F-4EB3-B7A9-C056273A964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186DFA-19D0-0165-4A40-BD09A03EE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11C59B-03D9-B5ED-B7AC-A53D0DF15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7CAB-D2BD-4C77-AE42-7EB9A378A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55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087DE83-678A-0A8A-7E7B-4435DC894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E9836F8-99B0-1A2C-8160-C9CD4F543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794A14-19FB-E623-8498-CAED86700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D75A8C-668F-4EB3-B7A9-C056273A964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0B6133F-351C-7C25-1677-1F2D4B76A8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7CD513B-2488-F390-8433-126BBBD94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C87CAB-D2BD-4C77-AE42-7EB9A378A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134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8D5D5E9-AF6C-157A-5D23-79CC99C23D23}"/>
              </a:ext>
            </a:extLst>
          </p:cNvPr>
          <p:cNvSpPr txBox="1"/>
          <p:nvPr/>
        </p:nvSpPr>
        <p:spPr>
          <a:xfrm>
            <a:off x="5449829" y="3136612"/>
            <a:ext cx="12923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M120</a:t>
            </a:r>
            <a:endParaRPr 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57830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FE8F9-D367-DE1A-6977-38C41EAFD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A808709-4817-38DF-AA47-A4BD0979D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8666" y="534439"/>
            <a:ext cx="414337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7594A252-3F5D-87A8-9D63-B7B4ACAB4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8666" y="3604870"/>
            <a:ext cx="4181475" cy="243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B822B86-3AB2-EE21-86EC-F6E551D9AB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8" t="38834" r="35641" b="14127"/>
          <a:stretch/>
        </p:blipFill>
        <p:spPr bwMode="auto">
          <a:xfrm>
            <a:off x="1889284" y="2408381"/>
            <a:ext cx="3574473" cy="204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DFB95026-658B-B341-8045-29C5A173BEED}"/>
              </a:ext>
            </a:extLst>
          </p:cNvPr>
          <p:cNvSpPr txBox="1"/>
          <p:nvPr/>
        </p:nvSpPr>
        <p:spPr>
          <a:xfrm>
            <a:off x="6924298" y="6038507"/>
            <a:ext cx="3810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MC-31011A PCB </a:t>
            </a:r>
            <a:r>
              <a:rPr lang="zh-TW" altLang="en-US" dirty="0"/>
              <a:t>負責與 </a:t>
            </a:r>
            <a:r>
              <a:rPr lang="en-US" altLang="zh-TW" dirty="0"/>
              <a:t>M3100 </a:t>
            </a:r>
            <a:r>
              <a:rPr lang="zh-TW" altLang="en-US" dirty="0"/>
              <a:t>通訊</a:t>
            </a:r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9D0B465-7AF7-75D4-E623-8980774AEC98}"/>
              </a:ext>
            </a:extLst>
          </p:cNvPr>
          <p:cNvSpPr txBox="1"/>
          <p:nvPr/>
        </p:nvSpPr>
        <p:spPr>
          <a:xfrm>
            <a:off x="6728244" y="2963314"/>
            <a:ext cx="4164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MC-31010A PCB </a:t>
            </a:r>
            <a:r>
              <a:rPr lang="zh-TW" altLang="en-US" dirty="0"/>
              <a:t>負責連接 </a:t>
            </a:r>
            <a:r>
              <a:rPr lang="en-US" altLang="zh-TW" dirty="0"/>
              <a:t>T/C </a:t>
            </a:r>
            <a:r>
              <a:rPr lang="zh-TW" altLang="en-US" dirty="0"/>
              <a:t>讀取溫度</a:t>
            </a:r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1D350B0-D101-0E08-0C8C-A4E6E901A2B5}"/>
              </a:ext>
            </a:extLst>
          </p:cNvPr>
          <p:cNvSpPr txBox="1"/>
          <p:nvPr/>
        </p:nvSpPr>
        <p:spPr>
          <a:xfrm>
            <a:off x="2623347" y="4422215"/>
            <a:ext cx="2106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M120</a:t>
            </a:r>
            <a:r>
              <a:rPr lang="zh-TW" altLang="en-US" dirty="0"/>
              <a:t> </a:t>
            </a:r>
            <a:r>
              <a:rPr lang="en-US" dirty="0"/>
              <a:t>Power supply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6A5B1BF-0D19-AD24-82B6-9F43EA24BA22}"/>
              </a:ext>
            </a:extLst>
          </p:cNvPr>
          <p:cNvSpPr txBox="1"/>
          <p:nvPr/>
        </p:nvSpPr>
        <p:spPr>
          <a:xfrm>
            <a:off x="10920141" y="4637022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(</a:t>
            </a:r>
            <a:r>
              <a:rPr lang="zh-TW" altLang="en-US" dirty="0"/>
              <a:t>下</a:t>
            </a:r>
            <a:r>
              <a:rPr lang="en-US" altLang="zh-TW" dirty="0"/>
              <a:t>)</a:t>
            </a:r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0D854FC-28B0-3BDC-B08B-A1DC7DFF03CE}"/>
              </a:ext>
            </a:extLst>
          </p:cNvPr>
          <p:cNvSpPr txBox="1"/>
          <p:nvPr/>
        </p:nvSpPr>
        <p:spPr>
          <a:xfrm>
            <a:off x="10882041" y="1564211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</a:t>
            </a:r>
            <a:r>
              <a:rPr lang="zh-TW" altLang="en-US" dirty="0"/>
              <a:t>上</a:t>
            </a:r>
            <a:r>
              <a:rPr lang="en-US" altLang="zh-TW" dirty="0"/>
              <a:t>)</a:t>
            </a:r>
            <a:endParaRPr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EC314F3-510C-6ABA-79B1-1949878BF213}"/>
              </a:ext>
            </a:extLst>
          </p:cNvPr>
          <p:cNvSpPr txBox="1"/>
          <p:nvPr/>
        </p:nvSpPr>
        <p:spPr>
          <a:xfrm>
            <a:off x="5448682" y="3244334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</a:t>
            </a:r>
            <a:r>
              <a:rPr lang="zh-TW" altLang="en-US" dirty="0"/>
              <a:t>後</a:t>
            </a:r>
            <a:r>
              <a:rPr lang="en-US" altLang="zh-TW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585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2B7D5-2B19-6804-EBDF-505BF758A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電子產品, 室內, 設計 的圖片&#10;&#10;AI 產生的內容可能不正確。">
            <a:extLst>
              <a:ext uri="{FF2B5EF4-FFF2-40B4-BE49-F238E27FC236}">
                <a16:creationId xmlns:a16="http://schemas.microsoft.com/office/drawing/2014/main" id="{7394DE60-903F-EC9E-7DE5-917041ED17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72" t="54853" r="19373" b="18679"/>
          <a:stretch/>
        </p:blipFill>
        <p:spPr>
          <a:xfrm rot="60000">
            <a:off x="3985217" y="530813"/>
            <a:ext cx="4184622" cy="230904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7C011259-9CA7-C4BB-D092-2255FFEDD2F3}"/>
              </a:ext>
            </a:extLst>
          </p:cNvPr>
          <p:cNvSpPr txBox="1"/>
          <p:nvPr/>
        </p:nvSpPr>
        <p:spPr>
          <a:xfrm>
            <a:off x="2672066" y="3050098"/>
            <a:ext cx="9387313" cy="3628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700"/>
              </a:lnSpc>
            </a:pPr>
            <a:r>
              <a:rPr lang="en-US" altLang="zh-TW" dirty="0"/>
              <a:t>dip switch</a:t>
            </a:r>
            <a:r>
              <a:rPr lang="zh-TW" altLang="en-US" dirty="0"/>
              <a:t> </a:t>
            </a:r>
            <a:r>
              <a:rPr lang="en-US" altLang="zh-TW" dirty="0"/>
              <a:t>-&gt;</a:t>
            </a:r>
          </a:p>
          <a:p>
            <a:pPr>
              <a:lnSpc>
                <a:spcPts val="1700"/>
              </a:lnSpc>
            </a:pPr>
            <a:endParaRPr lang="en-US" altLang="zh-TW" dirty="0"/>
          </a:p>
          <a:p>
            <a:pPr>
              <a:lnSpc>
                <a:spcPts val="1700"/>
              </a:lnSpc>
            </a:pPr>
            <a:r>
              <a:rPr lang="en-US" altLang="zh-TW" dirty="0"/>
              <a:t>1. </a:t>
            </a:r>
            <a:r>
              <a:rPr lang="en-US" altLang="zh-TW" dirty="0">
                <a:solidFill>
                  <a:srgbClr val="0070C0"/>
                </a:solidFill>
              </a:rPr>
              <a:t>Keep off</a:t>
            </a:r>
            <a:r>
              <a:rPr lang="en-US" altLang="zh-TW" dirty="0"/>
              <a:t>, turn on for </a:t>
            </a:r>
            <a:r>
              <a:rPr lang="en-US" altLang="zh-TW" dirty="0">
                <a:solidFill>
                  <a:srgbClr val="3C4043"/>
                </a:solidFill>
                <a:latin typeface="Roboto" panose="02000000000000000000" pitchFamily="2" charset="0"/>
              </a:rPr>
              <a:t>m</a:t>
            </a:r>
            <a:r>
              <a:rPr lang="en-US" b="0" i="0" dirty="0">
                <a:solidFill>
                  <a:srgbClr val="3C4043"/>
                </a:solidFill>
                <a:effectLst/>
                <a:latin typeface="Roboto" panose="02000000000000000000" pitchFamily="2" charset="0"/>
              </a:rPr>
              <a:t>aintenance mode, turn off for normal use</a:t>
            </a:r>
          </a:p>
          <a:p>
            <a:pPr>
              <a:lnSpc>
                <a:spcPts val="1700"/>
              </a:lnSpc>
            </a:pPr>
            <a:endParaRPr lang="en-US" altLang="zh-TW" dirty="0"/>
          </a:p>
          <a:p>
            <a:pPr>
              <a:lnSpc>
                <a:spcPts val="1700"/>
              </a:lnSpc>
            </a:pPr>
            <a:r>
              <a:rPr lang="en-US" altLang="zh-TW" dirty="0"/>
              <a:t>2. </a:t>
            </a:r>
            <a:r>
              <a:rPr lang="en-US" altLang="zh-TW" dirty="0">
                <a:solidFill>
                  <a:srgbClr val="C00000"/>
                </a:solidFill>
              </a:rPr>
              <a:t>Keep on</a:t>
            </a:r>
            <a:r>
              <a:rPr lang="en-US" altLang="zh-TW" dirty="0"/>
              <a:t>, turn on for 5 zone heater that use zone 1, turn off for 3 zone, not use zone 1 (BTM-1)</a:t>
            </a:r>
          </a:p>
          <a:p>
            <a:pPr>
              <a:lnSpc>
                <a:spcPts val="1000"/>
              </a:lnSpc>
            </a:pPr>
            <a:endParaRPr lang="en-US" altLang="zh-TW" dirty="0"/>
          </a:p>
          <a:p>
            <a:pPr>
              <a:lnSpc>
                <a:spcPts val="1000"/>
              </a:lnSpc>
            </a:pPr>
            <a:r>
              <a:rPr lang="en-US" altLang="zh-TW" dirty="0"/>
              <a:t>3. </a:t>
            </a:r>
            <a:r>
              <a:rPr lang="en-US" altLang="zh-TW" dirty="0">
                <a:solidFill>
                  <a:srgbClr val="C00000"/>
                </a:solidFill>
              </a:rPr>
              <a:t>Keep on</a:t>
            </a:r>
            <a:r>
              <a:rPr lang="en-US" altLang="zh-TW" dirty="0"/>
              <a:t>, turn on for 5 zone heater that use zone 2, turn off for 3 zone, not use zone 2</a:t>
            </a:r>
            <a:r>
              <a:rPr lang="zh-TW" altLang="en-US" dirty="0"/>
              <a:t> </a:t>
            </a:r>
            <a:r>
              <a:rPr lang="en-US" altLang="zh-TW" dirty="0"/>
              <a:t>(TOP)</a:t>
            </a:r>
          </a:p>
          <a:p>
            <a:pPr>
              <a:lnSpc>
                <a:spcPts val="1700"/>
              </a:lnSpc>
            </a:pPr>
            <a:endParaRPr lang="en-US" altLang="zh-TW" dirty="0"/>
          </a:p>
          <a:p>
            <a:pPr>
              <a:lnSpc>
                <a:spcPts val="1700"/>
              </a:lnSpc>
            </a:pPr>
            <a:r>
              <a:rPr lang="en-US" altLang="zh-TW" dirty="0"/>
              <a:t>4. </a:t>
            </a:r>
            <a:r>
              <a:rPr lang="en-US" altLang="zh-TW" dirty="0">
                <a:solidFill>
                  <a:srgbClr val="C00000"/>
                </a:solidFill>
              </a:rPr>
              <a:t>Keep on</a:t>
            </a:r>
            <a:r>
              <a:rPr lang="en-US" altLang="zh-TW" dirty="0"/>
              <a:t>, turn on for 4800BPS, turn off for 9600BPS (</a:t>
            </a:r>
            <a:r>
              <a:rPr lang="zh-TW" altLang="en-US" dirty="0"/>
              <a:t>光纖速率</a:t>
            </a:r>
            <a:r>
              <a:rPr lang="en-US" altLang="zh-TW" dirty="0"/>
              <a:t>)</a:t>
            </a:r>
          </a:p>
          <a:p>
            <a:pPr>
              <a:lnSpc>
                <a:spcPts val="1700"/>
              </a:lnSpc>
            </a:pPr>
            <a:endParaRPr lang="en-US" altLang="zh-TW" dirty="0"/>
          </a:p>
          <a:p>
            <a:pPr>
              <a:lnSpc>
                <a:spcPts val="1700"/>
              </a:lnSpc>
            </a:pPr>
            <a:r>
              <a:rPr lang="en-US" altLang="zh-TW" dirty="0"/>
              <a:t>5. </a:t>
            </a:r>
            <a:r>
              <a:rPr lang="en-US" altLang="zh-TW" dirty="0">
                <a:solidFill>
                  <a:srgbClr val="0070C0"/>
                </a:solidFill>
              </a:rPr>
              <a:t>Keep off</a:t>
            </a:r>
            <a:r>
              <a:rPr lang="en-US" altLang="zh-TW" dirty="0"/>
              <a:t>, not used</a:t>
            </a:r>
          </a:p>
          <a:p>
            <a:pPr>
              <a:lnSpc>
                <a:spcPts val="1700"/>
              </a:lnSpc>
            </a:pPr>
            <a:endParaRPr lang="en-US" altLang="zh-TW" dirty="0"/>
          </a:p>
          <a:p>
            <a:pPr>
              <a:lnSpc>
                <a:spcPts val="1700"/>
              </a:lnSpc>
            </a:pPr>
            <a:r>
              <a:rPr lang="en-US" altLang="zh-TW" dirty="0"/>
              <a:t>6. </a:t>
            </a:r>
            <a:r>
              <a:rPr lang="en-US" altLang="zh-TW" dirty="0">
                <a:solidFill>
                  <a:srgbClr val="0070C0"/>
                </a:solidFill>
              </a:rPr>
              <a:t>keep off</a:t>
            </a:r>
            <a:r>
              <a:rPr lang="en-US" altLang="zh-TW" dirty="0"/>
              <a:t>, turn on for select a noise filter to thermocouple</a:t>
            </a:r>
          </a:p>
          <a:p>
            <a:pPr>
              <a:lnSpc>
                <a:spcPts val="1700"/>
              </a:lnSpc>
            </a:pPr>
            <a:endParaRPr lang="en-US" altLang="zh-TW" dirty="0"/>
          </a:p>
          <a:p>
            <a:pPr>
              <a:lnSpc>
                <a:spcPts val="1700"/>
              </a:lnSpc>
            </a:pPr>
            <a:r>
              <a:rPr lang="en-US" altLang="zh-TW" dirty="0"/>
              <a:t>7. </a:t>
            </a:r>
            <a:r>
              <a:rPr lang="en-US" altLang="zh-TW" dirty="0">
                <a:solidFill>
                  <a:srgbClr val="C00000"/>
                </a:solidFill>
              </a:rPr>
              <a:t>Keep on</a:t>
            </a:r>
            <a:r>
              <a:rPr lang="en-US" altLang="zh-TW" dirty="0"/>
              <a:t>, turn on for 60hz, turn off for 50hz (</a:t>
            </a:r>
            <a:r>
              <a:rPr lang="zh-TW" altLang="en-US" dirty="0"/>
              <a:t>電源頻率</a:t>
            </a:r>
            <a:r>
              <a:rPr lang="en-US" altLang="zh-TW" dirty="0"/>
              <a:t>)</a:t>
            </a:r>
          </a:p>
          <a:p>
            <a:pPr>
              <a:lnSpc>
                <a:spcPts val="1700"/>
              </a:lnSpc>
            </a:pPr>
            <a:endParaRPr lang="en-US" altLang="zh-TW" dirty="0"/>
          </a:p>
          <a:p>
            <a:pPr>
              <a:lnSpc>
                <a:spcPts val="1700"/>
              </a:lnSpc>
            </a:pPr>
            <a:r>
              <a:rPr lang="en-US" altLang="zh-TW" dirty="0"/>
              <a:t>8. </a:t>
            </a:r>
            <a:r>
              <a:rPr lang="en-US" altLang="zh-TW" dirty="0">
                <a:solidFill>
                  <a:srgbClr val="0070C0"/>
                </a:solidFill>
              </a:rPr>
              <a:t>keep off</a:t>
            </a:r>
            <a:r>
              <a:rPr lang="en-US" altLang="zh-TW" dirty="0"/>
              <a:t>, not use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F0B8DD-BED5-E26D-23D5-0829F90BA486}"/>
              </a:ext>
            </a:extLst>
          </p:cNvPr>
          <p:cNvSpPr/>
          <p:nvPr/>
        </p:nvSpPr>
        <p:spPr>
          <a:xfrm>
            <a:off x="4082473" y="563420"/>
            <a:ext cx="1274619" cy="4987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2C61D47-67E6-2C93-945E-89326878FC45}"/>
              </a:ext>
            </a:extLst>
          </p:cNvPr>
          <p:cNvSpPr txBox="1"/>
          <p:nvPr/>
        </p:nvSpPr>
        <p:spPr>
          <a:xfrm>
            <a:off x="3934695" y="1356329"/>
            <a:ext cx="1508256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</a:pPr>
            <a:r>
              <a:rPr lang="en-US" altLang="zh-TW" dirty="0"/>
              <a:t>8</a:t>
            </a:r>
            <a:r>
              <a:rPr lang="zh-TW" altLang="en-US" dirty="0"/>
              <a:t> </a:t>
            </a:r>
            <a:r>
              <a:rPr lang="en-US" altLang="zh-TW" dirty="0"/>
              <a:t>7</a:t>
            </a:r>
            <a:r>
              <a:rPr lang="zh-TW" altLang="en-US" dirty="0"/>
              <a:t> </a:t>
            </a:r>
            <a:r>
              <a:rPr lang="en-US" altLang="zh-TW" dirty="0"/>
              <a:t>6</a:t>
            </a:r>
            <a:r>
              <a:rPr lang="zh-TW" altLang="en-US" dirty="0"/>
              <a:t> </a:t>
            </a:r>
            <a:r>
              <a:rPr lang="en-US" altLang="zh-TW" dirty="0"/>
              <a:t>5</a:t>
            </a:r>
            <a:r>
              <a:rPr lang="zh-TW" altLang="en-US" dirty="0"/>
              <a:t> </a:t>
            </a:r>
            <a:r>
              <a:rPr lang="en-US" altLang="zh-TW" dirty="0"/>
              <a:t>4</a:t>
            </a:r>
            <a:r>
              <a:rPr lang="zh-TW" altLang="en-US" dirty="0"/>
              <a:t> </a:t>
            </a:r>
            <a:r>
              <a:rPr lang="en-US" altLang="zh-TW" dirty="0"/>
              <a:t>3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zh-TW" altLang="en-US" dirty="0"/>
              <a:t> </a:t>
            </a:r>
            <a:r>
              <a:rPr lang="en-US" altLang="zh-TW" dirty="0"/>
              <a:t>1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376162B4-CC8F-2D79-A7D4-2B4924545B88}"/>
              </a:ext>
            </a:extLst>
          </p:cNvPr>
          <p:cNvCxnSpPr>
            <a:cxnSpLocks/>
          </p:cNvCxnSpPr>
          <p:nvPr/>
        </p:nvCxnSpPr>
        <p:spPr>
          <a:xfrm>
            <a:off x="4009950" y="1676097"/>
            <a:ext cx="135774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685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ED2C0-DC84-30C3-8331-C31621F4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功能表, 字型, 紙張 的圖片&#10;&#10;AI 產生的內容可能不正確。">
            <a:extLst>
              <a:ext uri="{FF2B5EF4-FFF2-40B4-BE49-F238E27FC236}">
                <a16:creationId xmlns:a16="http://schemas.microsoft.com/office/drawing/2014/main" id="{A2651679-AA4B-FBBE-A225-3BB702780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656" y="418157"/>
            <a:ext cx="5966688" cy="38608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32E4E9B0-7207-7D7D-CBD0-5C3EDC83D61F}"/>
              </a:ext>
            </a:extLst>
          </p:cNvPr>
          <p:cNvSpPr txBox="1"/>
          <p:nvPr/>
        </p:nvSpPr>
        <p:spPr>
          <a:xfrm>
            <a:off x="2866029" y="4361665"/>
            <a:ext cx="7931280" cy="2497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</a:pPr>
            <a:r>
              <a:rPr lang="en-US" altLang="zh-TW" dirty="0"/>
              <a:t>LED 87654321 -&gt;</a:t>
            </a:r>
          </a:p>
          <a:p>
            <a:pPr>
              <a:lnSpc>
                <a:spcPts val="1700"/>
              </a:lnSpc>
            </a:pPr>
            <a:endParaRPr lang="en-US" altLang="zh-TW" dirty="0"/>
          </a:p>
          <a:p>
            <a:pPr>
              <a:lnSpc>
                <a:spcPts val="1700"/>
              </a:lnSpc>
            </a:pPr>
            <a:r>
              <a:rPr lang="en-US" altLang="zh-TW" dirty="0"/>
              <a:t>1-2. lighten when the temp convergence met</a:t>
            </a:r>
          </a:p>
          <a:p>
            <a:pPr>
              <a:lnSpc>
                <a:spcPts val="1700"/>
              </a:lnSpc>
            </a:pPr>
            <a:endParaRPr lang="en-US" altLang="zh-TW" dirty="0"/>
          </a:p>
          <a:p>
            <a:pPr>
              <a:lnSpc>
                <a:spcPts val="1700"/>
              </a:lnSpc>
            </a:pPr>
            <a:r>
              <a:rPr lang="en-US" altLang="zh-TW" dirty="0"/>
              <a:t>3-4. </a:t>
            </a:r>
            <a:r>
              <a:rPr lang="zh-TW" altLang="en-US" dirty="0"/>
              <a:t>表示 </a:t>
            </a:r>
            <a:r>
              <a:rPr lang="en-US" altLang="zh-TW" dirty="0"/>
              <a:t>TC sampling</a:t>
            </a:r>
            <a:r>
              <a:rPr lang="zh-TW" altLang="en-US" dirty="0"/>
              <a:t> 的速度</a:t>
            </a:r>
            <a:r>
              <a:rPr lang="en-US" altLang="zh-TW" dirty="0"/>
              <a:t>, </a:t>
            </a:r>
            <a:r>
              <a:rPr lang="zh-TW" altLang="en-US" dirty="0"/>
              <a:t>依照</a:t>
            </a:r>
            <a:r>
              <a:rPr lang="en-US" altLang="zh-TW" dirty="0"/>
              <a:t>dip switch 50Hz: 5mS, 60Hz: 4.16ms</a:t>
            </a:r>
            <a:r>
              <a:rPr lang="zh-TW" altLang="en-US" dirty="0"/>
              <a:t> 恆亮</a:t>
            </a:r>
            <a:endParaRPr lang="en-US" altLang="zh-TW" dirty="0"/>
          </a:p>
          <a:p>
            <a:pPr>
              <a:lnSpc>
                <a:spcPts val="1700"/>
              </a:lnSpc>
            </a:pPr>
            <a:endParaRPr lang="en-US" altLang="zh-TW" dirty="0"/>
          </a:p>
          <a:p>
            <a:pPr>
              <a:lnSpc>
                <a:spcPts val="1700"/>
              </a:lnSpc>
            </a:pPr>
            <a:r>
              <a:rPr lang="en-US" altLang="zh-TW" dirty="0"/>
              <a:t>5-6. </a:t>
            </a:r>
            <a:r>
              <a:rPr lang="zh-TW" altLang="en-US" dirty="0"/>
              <a:t>接收到訊號就亮 </a:t>
            </a:r>
            <a:r>
              <a:rPr lang="en-US" altLang="zh-TW" dirty="0"/>
              <a:t>(</a:t>
            </a:r>
            <a:r>
              <a:rPr lang="zh-TW" altLang="en-US" dirty="0"/>
              <a:t>以 </a:t>
            </a:r>
            <a:r>
              <a:rPr lang="en-US" altLang="zh-TW" dirty="0"/>
              <a:t>character</a:t>
            </a:r>
            <a:r>
              <a:rPr lang="zh-TW" altLang="en-US" dirty="0"/>
              <a:t> 為單位</a:t>
            </a:r>
            <a:r>
              <a:rPr lang="en-US" altLang="zh-TW" dirty="0"/>
              <a:t>)</a:t>
            </a:r>
          </a:p>
          <a:p>
            <a:pPr>
              <a:lnSpc>
                <a:spcPts val="1700"/>
              </a:lnSpc>
            </a:pPr>
            <a:endParaRPr lang="zh-TW" altLang="en-US" dirty="0"/>
          </a:p>
          <a:p>
            <a:pPr>
              <a:lnSpc>
                <a:spcPts val="1700"/>
              </a:lnSpc>
            </a:pPr>
            <a:r>
              <a:rPr lang="en-US" altLang="zh-TW" dirty="0"/>
              <a:t>7.     </a:t>
            </a:r>
            <a:r>
              <a:rPr lang="zh-TW" altLang="en-US" dirty="0"/>
              <a:t>送出訊號就亮</a:t>
            </a:r>
            <a:endParaRPr lang="en-US" altLang="zh-TW" dirty="0"/>
          </a:p>
          <a:p>
            <a:pPr>
              <a:lnSpc>
                <a:spcPts val="1700"/>
              </a:lnSpc>
            </a:pPr>
            <a:endParaRPr lang="zh-TW" altLang="en-US" dirty="0"/>
          </a:p>
          <a:p>
            <a:pPr>
              <a:lnSpc>
                <a:spcPts val="1700"/>
              </a:lnSpc>
            </a:pPr>
            <a:r>
              <a:rPr lang="en-US" altLang="zh-TW" dirty="0"/>
              <a:t>8.     </a:t>
            </a:r>
            <a:r>
              <a:rPr lang="zh-TW" altLang="en-US" dirty="0"/>
              <a:t>每</a:t>
            </a:r>
            <a:r>
              <a:rPr lang="en-US" altLang="zh-TW" dirty="0"/>
              <a:t>2</a:t>
            </a:r>
            <a:r>
              <a:rPr lang="zh-TW" altLang="en-US" dirty="0"/>
              <a:t>秒閃爍一次代表指令正常執行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455057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29006-8D30-7175-ADDA-06F3399FD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電子產品, 儀表 的圖片&#10;&#10;AI 產生的內容可能不正確。">
            <a:extLst>
              <a:ext uri="{FF2B5EF4-FFF2-40B4-BE49-F238E27FC236}">
                <a16:creationId xmlns:a16="http://schemas.microsoft.com/office/drawing/2014/main" id="{53AB58CD-9328-9046-519D-E723B6BD8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93" y="1829100"/>
            <a:ext cx="2872508" cy="31998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A320AAC6-2D8D-7C38-B53F-6ECBC4DA9B13}"/>
              </a:ext>
            </a:extLst>
          </p:cNvPr>
          <p:cNvSpPr txBox="1"/>
          <p:nvPr/>
        </p:nvSpPr>
        <p:spPr>
          <a:xfrm>
            <a:off x="3217004" y="1387548"/>
            <a:ext cx="8965757" cy="4459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</a:pPr>
            <a:r>
              <a:rPr lang="en-US" altLang="zh-TW" dirty="0">
                <a:solidFill>
                  <a:srgbClr val="0070C0"/>
                </a:solidFill>
              </a:rPr>
              <a:t>FNC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POWER:</a:t>
            </a:r>
            <a:r>
              <a:rPr lang="en-US" altLang="zh-TW" dirty="0"/>
              <a:t> main power</a:t>
            </a:r>
          </a:p>
          <a:p>
            <a:pPr>
              <a:lnSpc>
                <a:spcPts val="1700"/>
              </a:lnSpc>
            </a:pPr>
            <a:endParaRPr lang="en-US" altLang="zh-TW" dirty="0"/>
          </a:p>
          <a:p>
            <a:pPr>
              <a:lnSpc>
                <a:spcPts val="1700"/>
              </a:lnSpc>
            </a:pPr>
            <a:r>
              <a:rPr lang="en-US" altLang="zh-TW" dirty="0">
                <a:solidFill>
                  <a:srgbClr val="0070C0"/>
                </a:solidFill>
              </a:rPr>
              <a:t>MONITOR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POWER: </a:t>
            </a:r>
            <a:r>
              <a:rPr lang="en-US" altLang="zh-TW" dirty="0"/>
              <a:t>furnace power(sub power)</a:t>
            </a:r>
          </a:p>
          <a:p>
            <a:pPr>
              <a:lnSpc>
                <a:spcPts val="1700"/>
              </a:lnSpc>
            </a:pPr>
            <a:endParaRPr lang="en-US" altLang="zh-TW" dirty="0"/>
          </a:p>
          <a:p>
            <a:pPr>
              <a:lnSpc>
                <a:spcPts val="1700"/>
              </a:lnSpc>
            </a:pPr>
            <a:endParaRPr lang="en-US" altLang="zh-TW" dirty="0">
              <a:solidFill>
                <a:srgbClr val="0070C0"/>
              </a:solidFill>
            </a:endParaRPr>
          </a:p>
          <a:p>
            <a:pPr>
              <a:lnSpc>
                <a:spcPts val="1700"/>
              </a:lnSpc>
            </a:pPr>
            <a:r>
              <a:rPr lang="en-US" altLang="zh-TW" dirty="0">
                <a:solidFill>
                  <a:srgbClr val="FF0000"/>
                </a:solidFill>
              </a:rPr>
              <a:t>EXCESS: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furnace overheat</a:t>
            </a:r>
          </a:p>
          <a:p>
            <a:pPr>
              <a:lnSpc>
                <a:spcPts val="1700"/>
              </a:lnSpc>
            </a:pPr>
            <a:endParaRPr lang="en-US" altLang="zh-TW" dirty="0">
              <a:solidFill>
                <a:srgbClr val="0070C0"/>
              </a:solidFill>
            </a:endParaRPr>
          </a:p>
          <a:p>
            <a:pPr>
              <a:lnSpc>
                <a:spcPts val="1700"/>
              </a:lnSpc>
            </a:pPr>
            <a:r>
              <a:rPr lang="en-US" altLang="zh-TW" dirty="0">
                <a:solidFill>
                  <a:srgbClr val="FF0000"/>
                </a:solidFill>
              </a:rPr>
              <a:t>SCR. O.H: </a:t>
            </a:r>
            <a:r>
              <a:rPr lang="en-US" altLang="zh-TW" dirty="0"/>
              <a:t>SCR heat sink temp has gone up to more than 80</a:t>
            </a:r>
            <a:r>
              <a:rPr lang="zh-TW" altLang="en-US" dirty="0"/>
              <a:t> ℃</a:t>
            </a:r>
            <a:r>
              <a:rPr lang="en-US" altLang="zh-TW" dirty="0"/>
              <a:t> (</a:t>
            </a:r>
            <a:r>
              <a:rPr lang="zh-TW" altLang="en-US" dirty="0"/>
              <a:t>散熱器</a:t>
            </a:r>
            <a:r>
              <a:rPr lang="en-US" altLang="zh-TW" dirty="0"/>
              <a:t>)</a:t>
            </a:r>
          </a:p>
          <a:p>
            <a:pPr>
              <a:lnSpc>
                <a:spcPts val="1700"/>
              </a:lnSpc>
            </a:pPr>
            <a:endParaRPr lang="en-US" altLang="zh-TW" dirty="0">
              <a:solidFill>
                <a:srgbClr val="0070C0"/>
              </a:solidFill>
            </a:endParaRPr>
          </a:p>
          <a:p>
            <a:pPr>
              <a:lnSpc>
                <a:spcPts val="1700"/>
              </a:lnSpc>
            </a:pPr>
            <a:r>
              <a:rPr lang="en-US" altLang="zh-TW" dirty="0">
                <a:solidFill>
                  <a:srgbClr val="FF0000"/>
                </a:solidFill>
              </a:rPr>
              <a:t>CHAMBER O.H.: </a:t>
            </a:r>
            <a:r>
              <a:rPr lang="en-US" altLang="zh-TW" dirty="0"/>
              <a:t>heater installed spot inside the furnace has gone up to 130</a:t>
            </a:r>
            <a:r>
              <a:rPr lang="zh-TW" altLang="en-US" dirty="0"/>
              <a:t> ℃</a:t>
            </a:r>
            <a:endParaRPr lang="en-US" altLang="zh-TW" dirty="0"/>
          </a:p>
          <a:p>
            <a:pPr>
              <a:lnSpc>
                <a:spcPts val="1700"/>
              </a:lnSpc>
            </a:pPr>
            <a:endParaRPr lang="en-US" altLang="zh-TW" dirty="0">
              <a:solidFill>
                <a:srgbClr val="0070C0"/>
              </a:solidFill>
            </a:endParaRPr>
          </a:p>
          <a:p>
            <a:pPr>
              <a:lnSpc>
                <a:spcPts val="1700"/>
              </a:lnSpc>
            </a:pPr>
            <a:r>
              <a:rPr lang="en-US" altLang="zh-TW" dirty="0">
                <a:solidFill>
                  <a:srgbClr val="FF0000"/>
                </a:solidFill>
              </a:rPr>
              <a:t>WATER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LOW: </a:t>
            </a:r>
            <a:r>
              <a:rPr lang="en-US" altLang="zh-TW" dirty="0"/>
              <a:t>furnace cooling water flow rate has dropped below the set level</a:t>
            </a:r>
          </a:p>
          <a:p>
            <a:pPr>
              <a:lnSpc>
                <a:spcPts val="1700"/>
              </a:lnSpc>
            </a:pPr>
            <a:endParaRPr lang="en-US" altLang="zh-TW" dirty="0">
              <a:solidFill>
                <a:srgbClr val="0070C0"/>
              </a:solidFill>
            </a:endParaRPr>
          </a:p>
          <a:p>
            <a:pPr>
              <a:lnSpc>
                <a:spcPts val="1700"/>
              </a:lnSpc>
            </a:pPr>
            <a:r>
              <a:rPr lang="en-US" altLang="zh-TW" dirty="0">
                <a:solidFill>
                  <a:srgbClr val="FF0000"/>
                </a:solidFill>
              </a:rPr>
              <a:t>POWER DOWN: </a:t>
            </a:r>
            <a:r>
              <a:rPr lang="en-US" altLang="zh-TW" dirty="0"/>
              <a:t>main circuit breaker is opened</a:t>
            </a:r>
          </a:p>
          <a:p>
            <a:pPr>
              <a:lnSpc>
                <a:spcPts val="1700"/>
              </a:lnSpc>
            </a:pPr>
            <a:endParaRPr lang="en-US" altLang="zh-TW" dirty="0">
              <a:solidFill>
                <a:srgbClr val="0070C0"/>
              </a:solidFill>
            </a:endParaRPr>
          </a:p>
          <a:p>
            <a:pPr>
              <a:lnSpc>
                <a:spcPts val="1700"/>
              </a:lnSpc>
            </a:pPr>
            <a:r>
              <a:rPr lang="en-US" altLang="zh-TW" dirty="0">
                <a:solidFill>
                  <a:srgbClr val="FF0000"/>
                </a:solidFill>
              </a:rPr>
              <a:t>SMOKE: </a:t>
            </a:r>
            <a:r>
              <a:rPr lang="en-US" altLang="zh-TW" dirty="0"/>
              <a:t>not used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特殊機型才有</a:t>
            </a:r>
            <a:r>
              <a:rPr lang="en-US" altLang="zh-TW" dirty="0"/>
              <a:t>)</a:t>
            </a:r>
          </a:p>
          <a:p>
            <a:pPr>
              <a:lnSpc>
                <a:spcPts val="1700"/>
              </a:lnSpc>
            </a:pPr>
            <a:endParaRPr lang="en-US" altLang="zh-TW" dirty="0">
              <a:solidFill>
                <a:srgbClr val="0070C0"/>
              </a:solidFill>
            </a:endParaRPr>
          </a:p>
          <a:p>
            <a:pPr>
              <a:lnSpc>
                <a:spcPts val="1700"/>
              </a:lnSpc>
            </a:pPr>
            <a:r>
              <a:rPr lang="en-US" altLang="zh-TW" dirty="0">
                <a:solidFill>
                  <a:srgbClr val="FF0000"/>
                </a:solidFill>
              </a:rPr>
              <a:t>EXHAUST: </a:t>
            </a:r>
            <a:r>
              <a:rPr lang="en-US" altLang="zh-TW" dirty="0"/>
              <a:t>furnace exhaust fan stopped</a:t>
            </a:r>
          </a:p>
          <a:p>
            <a:pPr>
              <a:lnSpc>
                <a:spcPts val="1700"/>
              </a:lnSpc>
            </a:pPr>
            <a:endParaRPr lang="en-US" altLang="zh-TW" dirty="0">
              <a:solidFill>
                <a:srgbClr val="0070C0"/>
              </a:solidFill>
            </a:endParaRPr>
          </a:p>
          <a:p>
            <a:pPr>
              <a:lnSpc>
                <a:spcPts val="1700"/>
              </a:lnSpc>
            </a:pPr>
            <a:r>
              <a:rPr lang="en-US" altLang="zh-TW" dirty="0">
                <a:solidFill>
                  <a:srgbClr val="FF0000"/>
                </a:solidFill>
              </a:rPr>
              <a:t>TRANS O.H.: </a:t>
            </a:r>
            <a:r>
              <a:rPr lang="en-US" altLang="zh-TW" dirty="0"/>
              <a:t>transformer is overheat more then 130</a:t>
            </a:r>
            <a:r>
              <a:rPr lang="zh-TW" altLang="en-US" dirty="0"/>
              <a:t>℃</a:t>
            </a:r>
            <a:r>
              <a:rPr lang="en-US" altLang="zh-TW" dirty="0"/>
              <a:t> (</a:t>
            </a:r>
            <a:r>
              <a:rPr lang="zh-TW" altLang="en-US" dirty="0"/>
              <a:t>變壓器</a:t>
            </a:r>
            <a:r>
              <a:rPr lang="en-US" altLang="zh-TW" dirty="0"/>
              <a:t>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228229-B61B-F201-910A-0A1F351D4D4A}"/>
              </a:ext>
            </a:extLst>
          </p:cNvPr>
          <p:cNvSpPr/>
          <p:nvPr/>
        </p:nvSpPr>
        <p:spPr>
          <a:xfrm>
            <a:off x="1181009" y="3600620"/>
            <a:ext cx="1683512" cy="12721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69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1555</TotalTime>
  <Words>347</Words>
  <Application>Microsoft Office PowerPoint</Application>
  <PresentationFormat>寬螢幕</PresentationFormat>
  <Paragraphs>56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微軟正黑體</vt:lpstr>
      <vt:lpstr>Aptos</vt:lpstr>
      <vt:lpstr>Aptos Display</vt:lpstr>
      <vt:lpstr>Arial</vt:lpstr>
      <vt:lpstr>Roboto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S220 JYLin</dc:creator>
  <cp:lastModifiedBy>S220 JYLin</cp:lastModifiedBy>
  <cp:revision>16</cp:revision>
  <dcterms:created xsi:type="dcterms:W3CDTF">2025-08-15T06:54:09Z</dcterms:created>
  <dcterms:modified xsi:type="dcterms:W3CDTF">2025-09-03T09:29:20Z</dcterms:modified>
</cp:coreProperties>
</file>