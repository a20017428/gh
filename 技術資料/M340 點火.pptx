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5126" r:id="rId4"/>
  </p:sldMasterIdLst>
  <p:notesMasterIdLst>
    <p:notesMasterId r:id="rId13"/>
  </p:notesMasterIdLst>
  <p:handoutMasterIdLst>
    <p:handoutMasterId r:id="rId14"/>
  </p:handoutMasterIdLst>
  <p:sldIdLst>
    <p:sldId id="256" r:id="rId5"/>
    <p:sldId id="280" r:id="rId6"/>
    <p:sldId id="281" r:id="rId7"/>
    <p:sldId id="335" r:id="rId8"/>
    <p:sldId id="333" r:id="rId9"/>
    <p:sldId id="334" r:id="rId10"/>
    <p:sldId id="336" r:id="rId11"/>
    <p:sldId id="322" r:id="rId12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110"/>
    <a:srgbClr val="FE0600"/>
    <a:srgbClr val="FFFFFF"/>
    <a:srgbClr val="E61C0E"/>
    <a:srgbClr val="01B051"/>
    <a:srgbClr val="E1EEDA"/>
    <a:srgbClr val="CCFFCC"/>
    <a:srgbClr val="F9FBA7"/>
    <a:srgbClr val="D0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5332" autoAdjust="0"/>
  </p:normalViewPr>
  <p:slideViewPr>
    <p:cSldViewPr>
      <p:cViewPr varScale="1">
        <p:scale>
          <a:sx n="105" d="100"/>
          <a:sy n="105" d="100"/>
        </p:scale>
        <p:origin x="109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D2DFD0F7-9149-4ED9-AA09-64F35445C9E8}" type="datetimeFigureOut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482A4EC-C742-45C2-9C52-0D1AC475E7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B915EDB5-8B4A-4658-8E7B-6B60E31865A6}" type="datetimeFigureOut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B567058-9A7E-42FA-83FE-D45C7E8D9D4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34649A3-7B30-4992-A117-955151EFE5B0}" type="datetime1">
              <a:rPr lang="zh-TW" altLang="en-US" smtClean="0"/>
              <a:pPr>
                <a:spcBef>
                  <a:spcPct val="0"/>
                </a:spcBef>
              </a:pPr>
              <a:t>2025/9/14</a:t>
            </a:fld>
            <a:endParaRPr lang="zh-TW" altLang="en-US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A6020E9-B39E-4D15-BA74-B9E3BCD92019}" type="slidenum">
              <a:rPr lang="zh-TW" altLang="en-US" smtClean="0"/>
              <a:pPr>
                <a:spcBef>
                  <a:spcPct val="0"/>
                </a:spcBef>
              </a:pPr>
              <a:t>0</a:t>
            </a:fld>
            <a:endParaRPr lang="zh-TW" altLang="en-US"/>
          </a:p>
        </p:txBody>
      </p:sp>
      <p:sp>
        <p:nvSpPr>
          <p:cNvPr id="9222" name="Footer Placeholder 1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5" name="圓角矩形 1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矩形 1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" name="矩形 17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11" name="Picture 16" descr="PPT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6CEFA-D919-4A72-BB21-6BB41EF170E7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1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F704-F7F7-4E92-B913-B570BCB19EC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931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12862D-27CB-40EC-9B61-66A3538147B9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14323-234C-437A-94DD-DFF37688497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071976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5" name="圓角矩形 1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矩形 1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8" name="矩形 1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AF7C3-B7C6-4B70-B291-57EBCC64CF8C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ED6AB-F35B-413C-9834-DE94D031755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123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946B5-DACF-4E9D-A152-5D4F43CE9914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732C0-D5C6-4166-9C36-0007C32C7FD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70885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9DF3A-1E17-4F40-B7B7-9BF11772FC81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EC6FD-2598-42AA-9EB0-D2CBF7FD0CF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60974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DEAD2-FE34-4CE4-BF8E-5CEBC16B3E3D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56CAC-B93C-436E-8FF3-1223B0CFF5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92081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B46BE-9FD4-432B-9C07-9C8355FDC217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8F388-41F6-4841-9719-6590DD7AE3E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64179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6" name="圓角矩形 14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A4483-5285-4B84-BDD8-15D63DC3FD98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8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76826-7317-4A4D-B1D1-B746E452336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40079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1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4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7" name="矩形 15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8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2AB4B-9A14-40B2-BB23-33A824A874FA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0CE300-E011-4DD1-9C9A-BE09F60CCFA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9581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7FBAD-C7F9-473F-9C40-AE9EEF81D11E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581E7-3151-401A-A6C8-DD00F2D474B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3672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51A24-5D04-4308-849E-EFE931529312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5D0C9-7D45-4464-8FE5-66043167B5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633201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19138" y="906463"/>
            <a:ext cx="7813675" cy="5114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82844-C0B4-43D9-BE03-5266A70CD348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AA3A2-F9D1-4B2D-8EE1-0496E22331A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90074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AD1B1C3-4DD1-4348-8537-3EF6707BBC36}" type="datetime1">
              <a:rPr lang="zh-TW" altLang="en-US"/>
              <a:pPr>
                <a:defRPr/>
              </a:pPr>
              <a:t>2025/9/14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66A9E68-F161-48CA-8148-1A1CD5A053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44" r:id="rId1"/>
    <p:sldLayoutId id="2147485336" r:id="rId2"/>
    <p:sldLayoutId id="2147485345" r:id="rId3"/>
    <p:sldLayoutId id="2147485337" r:id="rId4"/>
    <p:sldLayoutId id="2147485338" r:id="rId5"/>
    <p:sldLayoutId id="2147485339" r:id="rId6"/>
    <p:sldLayoutId id="2147485340" r:id="rId7"/>
    <p:sldLayoutId id="2147485346" r:id="rId8"/>
    <p:sldLayoutId id="2147485347" r:id="rId9"/>
    <p:sldLayoutId id="2147485341" r:id="rId10"/>
    <p:sldLayoutId id="2147485342" r:id="rId11"/>
    <p:sldLayoutId id="2147485343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7596336" y="5949280"/>
            <a:ext cx="95664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ZYWU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95" name="Title 1"/>
          <p:cNvSpPr>
            <a:spLocks noGrp="1"/>
          </p:cNvSpPr>
          <p:nvPr>
            <p:ph type="ctrTitle"/>
          </p:nvPr>
        </p:nvSpPr>
        <p:spPr>
          <a:xfrm>
            <a:off x="1714500" y="1785938"/>
            <a:ext cx="5707063" cy="1808162"/>
          </a:xfrm>
        </p:spPr>
        <p:txBody>
          <a:bodyPr/>
          <a:lstStyle/>
          <a:p>
            <a:pPr eaLnBrk="1" hangingPunct="1"/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</a:rPr>
              <a:t>Furnace study group</a:t>
            </a:r>
            <a:endParaRPr lang="zh-TW" altLang="en-US" b="1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solidFill>
                  <a:schemeClr val="tx1"/>
                </a:solidFill>
              </a:rPr>
              <a:t>報告內容</a:t>
            </a:r>
            <a:endParaRPr lang="zh-TW" altLang="en-US"/>
          </a:p>
        </p:txBody>
      </p:sp>
      <p:sp>
        <p:nvSpPr>
          <p:cNvPr id="1024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一、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M340</a:t>
            </a:r>
          </a:p>
        </p:txBody>
      </p:sp>
      <p:sp>
        <p:nvSpPr>
          <p:cNvPr id="10244" name="頁尾版面配置區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endParaRPr kumimoji="0" lang="en-US" altLang="zh-TW">
              <a:solidFill>
                <a:schemeClr val="tx2"/>
              </a:solidFill>
            </a:endParaRPr>
          </a:p>
        </p:txBody>
      </p:sp>
      <p:sp>
        <p:nvSpPr>
          <p:cNvPr id="10245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72FD770E-CE09-4684-B930-104B09583EE5}" type="slidenum">
              <a:rPr kumimoji="0" lang="zh-TW" altLang="en-US" smtClean="0">
                <a:solidFill>
                  <a:srgbClr val="FFFFFF"/>
                </a:solidFill>
                <a:latin typeface="Franklin Gothic Book" pitchFamily="34" charset="0"/>
                <a:ea typeface="微軟正黑體" panose="020B0604030504040204" pitchFamily="34" charset="-120"/>
              </a:rPr>
              <a:pPr/>
              <a:t>1</a:t>
            </a:fld>
            <a:endParaRPr kumimoji="0" lang="zh-TW" altLang="en-US">
              <a:solidFill>
                <a:srgbClr val="FFFFFF"/>
              </a:solidFill>
              <a:latin typeface="Franklin Gothic Book" pitchFamily="34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3004592" y="2276872"/>
            <a:ext cx="3744416" cy="917575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E61C0E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一、</a:t>
            </a:r>
            <a:r>
              <a:rPr lang="en-US" altLang="zh-TW" b="1" dirty="0">
                <a:solidFill>
                  <a:srgbClr val="E61C0E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M340</a:t>
            </a:r>
            <a:endParaRPr lang="zh-TW" altLang="zh-TW" dirty="0">
              <a:latin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2292" name="頁尾版面配置區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endParaRPr kumimoji="0" lang="en-US" altLang="zh-TW">
              <a:solidFill>
                <a:schemeClr val="tx2"/>
              </a:solidFill>
            </a:endParaRPr>
          </a:p>
        </p:txBody>
      </p:sp>
      <p:sp>
        <p:nvSpPr>
          <p:cNvPr id="12293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B3FA29AA-F665-4926-A9B2-76648BFEC7A1}" type="slidenum">
              <a:rPr kumimoji="0" lang="zh-TW" altLang="en-US" smtClean="0">
                <a:solidFill>
                  <a:srgbClr val="FFFFFF"/>
                </a:solidFill>
                <a:latin typeface="Franklin Gothic Book" pitchFamily="34" charset="0"/>
                <a:ea typeface="微軟正黑體" panose="020B0604030504040204" pitchFamily="34" charset="-120"/>
              </a:rPr>
              <a:pPr/>
              <a:t>2</a:t>
            </a:fld>
            <a:endParaRPr kumimoji="0" lang="zh-TW" altLang="en-US">
              <a:solidFill>
                <a:srgbClr val="FFFFFF"/>
              </a:solidFill>
              <a:latin typeface="Franklin Gothic Book" pitchFamily="34" charset="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F87DC4-FE53-46EC-9865-8506D35B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E535CC3-81B8-4527-A5DF-A479F744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DEF64FE-E475-42E4-A5CF-93B164587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14" y="140963"/>
            <a:ext cx="7772400" cy="680268"/>
          </a:xfrm>
        </p:spPr>
        <p:txBody>
          <a:bodyPr/>
          <a:lstStyle/>
          <a:p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1.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Flow chart</a:t>
            </a:r>
            <a:endParaRPr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CD99547-CBA8-4B2B-B0CD-AF49408C4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340768"/>
            <a:ext cx="6264696" cy="39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822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43C884-CD57-41CD-8865-E00AB5DB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F3CF1EC8-100B-48C5-A67E-C3E7196B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23" y="0"/>
            <a:ext cx="7772400" cy="667445"/>
          </a:xfrm>
        </p:spPr>
        <p:txBody>
          <a:bodyPr/>
          <a:lstStyle/>
          <a:p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2.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M31009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參數</a:t>
            </a:r>
            <a:endParaRPr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594525-7CF9-46C1-A694-202158115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14" y="548680"/>
            <a:ext cx="5196864" cy="216024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67D9E62-FDF9-42FB-B480-E87A7126A05E}"/>
              </a:ext>
            </a:extLst>
          </p:cNvPr>
          <p:cNvSpPr txBox="1"/>
          <p:nvPr/>
        </p:nvSpPr>
        <p:spPr>
          <a:xfrm>
            <a:off x="681248" y="2708920"/>
            <a:ext cx="7772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2000" dirty="0"/>
              <a:t>N2 valve(V1~V16</a:t>
            </a:r>
            <a:r>
              <a:rPr lang="zh-TW" altLang="en-US" sz="2000" dirty="0"/>
              <a:t> </a:t>
            </a:r>
            <a:r>
              <a:rPr lang="en-US" altLang="zh-TW" sz="2000" dirty="0"/>
              <a:t>for purging)</a:t>
            </a:r>
          </a:p>
          <a:p>
            <a:pPr marL="342900" indent="-342900">
              <a:buAutoNum type="arabicPeriod"/>
            </a:pPr>
            <a:r>
              <a:rPr lang="en-US" altLang="zh-TW" sz="2000" dirty="0"/>
              <a:t>N2</a:t>
            </a:r>
            <a:r>
              <a:rPr lang="zh-TW" altLang="en-US" sz="2000" dirty="0"/>
              <a:t> </a:t>
            </a:r>
            <a:r>
              <a:rPr lang="en-US" altLang="zh-TW" sz="2000" dirty="0"/>
              <a:t>MFC(MFC1~8)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Torching unit(0</a:t>
            </a:r>
            <a:r>
              <a:rPr lang="zh-TW" altLang="en-US" sz="2000" dirty="0"/>
              <a:t>：</a:t>
            </a:r>
            <a:r>
              <a:rPr lang="en-US" altLang="zh-TW" sz="2000" dirty="0"/>
              <a:t>no torch</a:t>
            </a:r>
            <a:r>
              <a:rPr lang="zh-TW" altLang="en-US" sz="2000" dirty="0"/>
              <a:t>；</a:t>
            </a:r>
            <a:r>
              <a:rPr lang="en-US" altLang="zh-TW" sz="2000" dirty="0"/>
              <a:t>3</a:t>
            </a:r>
            <a:r>
              <a:rPr lang="zh-TW" altLang="en-US" sz="2000" dirty="0"/>
              <a:t>：</a:t>
            </a:r>
            <a:r>
              <a:rPr lang="en-US" altLang="zh-TW" sz="2000" dirty="0"/>
              <a:t>have torch</a:t>
            </a:r>
            <a:r>
              <a:rPr lang="zh-TW" altLang="en-US" sz="2000" dirty="0"/>
              <a:t>；</a:t>
            </a:r>
            <a:r>
              <a:rPr lang="en-US" altLang="zh-TW" sz="2000" dirty="0"/>
              <a:t>4</a:t>
            </a:r>
            <a:r>
              <a:rPr lang="zh-TW" altLang="en-US" sz="2000" dirty="0"/>
              <a:t>：內部燃燒</a:t>
            </a:r>
            <a:r>
              <a:rPr lang="en-US" altLang="zh-TW" sz="2000" dirty="0"/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H2 valve(V1~V16)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H2</a:t>
            </a:r>
            <a:r>
              <a:rPr lang="zh-TW" altLang="en-US" sz="2000" dirty="0"/>
              <a:t> </a:t>
            </a:r>
            <a:r>
              <a:rPr lang="en-US" altLang="zh-TW" sz="2000" dirty="0"/>
              <a:t>MFC(MFC1~8)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O2</a:t>
            </a:r>
            <a:r>
              <a:rPr lang="zh-TW" altLang="en-US" sz="2000" dirty="0"/>
              <a:t> </a:t>
            </a:r>
            <a:r>
              <a:rPr lang="en-US" altLang="zh-TW" sz="2000" dirty="0"/>
              <a:t>valve(V1~V16)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O2 MFC(MFC1~8)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H2 MFC MAX flow(0~999liter) 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O2 MFC MAX flow(0~999liter)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H2/O2 ratio limit(Ranging 0.00 to 2.00)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H2 flow rate setting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O2 flow rate setting</a:t>
            </a:r>
          </a:p>
          <a:p>
            <a:pPr marL="342900" indent="-342900">
              <a:buFontTx/>
              <a:buAutoNum type="arabicPeriod"/>
            </a:pPr>
            <a:r>
              <a:rPr lang="en-US" altLang="zh-TW" sz="2000" dirty="0"/>
              <a:t>~16. T1~T4</a:t>
            </a:r>
            <a:r>
              <a:rPr lang="zh-TW" altLang="en-US" sz="2000" dirty="0"/>
              <a:t> </a:t>
            </a:r>
            <a:r>
              <a:rPr lang="en-US" altLang="zh-TW" sz="2000" dirty="0"/>
              <a:t>setting</a:t>
            </a:r>
            <a:r>
              <a:rPr lang="zh-TW" altLang="en-US" sz="2000" dirty="0"/>
              <a:t>，其中 </a:t>
            </a:r>
            <a:r>
              <a:rPr lang="en-US" altLang="zh-TW" sz="2000" dirty="0"/>
              <a:t>T1</a:t>
            </a:r>
            <a:r>
              <a:rPr lang="zh-TW" altLang="en-US" sz="2000" dirty="0"/>
              <a:t> 可以設置 </a:t>
            </a:r>
            <a:r>
              <a:rPr lang="en-US" altLang="zh-TW" sz="2000" dirty="0"/>
              <a:t>MAX=999sec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117F3AB-BD6C-4316-995F-77159D5B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861048"/>
            <a:ext cx="5267663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6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43C884-CD57-41CD-8865-E00AB5DB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F3CF1EC8-100B-48C5-A67E-C3E7196B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23" y="0"/>
            <a:ext cx="7772400" cy="667445"/>
          </a:xfrm>
        </p:spPr>
        <p:txBody>
          <a:bodyPr/>
          <a:lstStyle/>
          <a:p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3.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M31009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參數</a:t>
            </a:r>
            <a:endParaRPr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67D9E62-FDF9-42FB-B480-E87A7126A05E}"/>
              </a:ext>
            </a:extLst>
          </p:cNvPr>
          <p:cNvSpPr txBox="1"/>
          <p:nvPr/>
        </p:nvSpPr>
        <p:spPr>
          <a:xfrm>
            <a:off x="736787" y="2204864"/>
            <a:ext cx="7772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2000" dirty="0"/>
              <a:t>Valve alarm signal(1</a:t>
            </a:r>
            <a:r>
              <a:rPr lang="zh-TW" altLang="en-US" sz="2000" dirty="0"/>
              <a:t>：</a:t>
            </a:r>
            <a:r>
              <a:rPr lang="en-US" altLang="zh-TW" sz="2000" dirty="0"/>
              <a:t>trigger alarm</a:t>
            </a:r>
            <a:r>
              <a:rPr lang="zh-TW" altLang="en-US" sz="2000" dirty="0"/>
              <a:t>；</a:t>
            </a:r>
            <a:r>
              <a:rPr lang="en-US" altLang="zh-TW" sz="2000" dirty="0"/>
              <a:t>0</a:t>
            </a:r>
            <a:r>
              <a:rPr lang="zh-TW" altLang="en-US" sz="2000" dirty="0"/>
              <a:t>：</a:t>
            </a:r>
            <a:r>
              <a:rPr lang="en-US" altLang="zh-TW" sz="2000" dirty="0"/>
              <a:t>not trigger alarm)</a:t>
            </a:r>
          </a:p>
          <a:p>
            <a:pPr marL="342900" indent="-342900">
              <a:buAutoNum type="arabicPeriod"/>
            </a:pPr>
            <a:endParaRPr lang="en-US" altLang="zh-TW" sz="2000" dirty="0"/>
          </a:p>
          <a:p>
            <a:pPr marL="342900" indent="-342900">
              <a:buAutoNum type="arabicPeriod"/>
            </a:pPr>
            <a:r>
              <a:rPr lang="en-US" altLang="zh-TW" sz="2000" dirty="0"/>
              <a:t>Valve interlock signal (1</a:t>
            </a:r>
            <a:r>
              <a:rPr lang="zh-TW" altLang="en-US" sz="2000" dirty="0"/>
              <a:t>：</a:t>
            </a:r>
            <a:r>
              <a:rPr lang="en-US" altLang="zh-TW" sz="2000" dirty="0"/>
              <a:t>interlock</a:t>
            </a:r>
            <a:r>
              <a:rPr lang="zh-TW" altLang="en-US" sz="2000" dirty="0"/>
              <a:t>；</a:t>
            </a:r>
            <a:r>
              <a:rPr lang="en-US" altLang="zh-TW" sz="2000" dirty="0"/>
              <a:t>0</a:t>
            </a:r>
            <a:r>
              <a:rPr lang="zh-TW" altLang="en-US" sz="2000" dirty="0"/>
              <a:t>：</a:t>
            </a:r>
            <a:r>
              <a:rPr lang="en-US" altLang="zh-TW" sz="2000" dirty="0"/>
              <a:t>no interlock)</a:t>
            </a:r>
          </a:p>
          <a:p>
            <a:pPr marL="342900" indent="-342900">
              <a:buAutoNum type="arabicPeriod"/>
            </a:pPr>
            <a:endParaRPr lang="en-US" altLang="zh-TW" sz="20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6827F58-0EE8-4C2A-A173-35F10E8DA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836712"/>
            <a:ext cx="6582694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7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2C5391-C781-48D5-8B5B-E244455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FBD2D45-C2FC-4EA6-9CD0-8F888C619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071685"/>
            <a:ext cx="3744416" cy="4714629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67362E4E-C6FF-420D-B81C-9121BB1F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145463"/>
            <a:ext cx="7772400" cy="667445"/>
          </a:xfrm>
        </p:spPr>
        <p:txBody>
          <a:bodyPr/>
          <a:lstStyle/>
          <a:p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4.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M340 alarm message</a:t>
            </a:r>
            <a:endParaRPr lang="zh-TW" alt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42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BA82C4-6AC2-4354-A3EE-9DA981D6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652904"/>
            <a:ext cx="7772400" cy="782960"/>
          </a:xfrm>
        </p:spPr>
        <p:txBody>
          <a:bodyPr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THE END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477228-48AD-4FAD-B0E7-EB0CBE32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914323-234C-437A-94DD-DFF37688497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522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ShowRepairView xmlns="http://schemas.microsoft.com/sharepoint/v3" xsi:nil="true"/>
    <ShowCombineView xmlns="http://schemas.microsoft.com/sharepoint/v3" xsi:nil="true"/>
    <xd_ProgID xmlns="http://schemas.microsoft.com/sharepoint/v3" xsi:nil="true"/>
    <TaxCatchAll xmlns="6ba3a8a8-b9e2-49cb-aadf-2c093bcf632e" xsi:nil="true"/>
    <lcf76f155ced4ddcb4097134ff3c332f xmlns="4bdc6d95-7621-47b1-8f62-a702a7a9d98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5832612-257C-40E2-94BE-0A481E11BDA6}"/>
</file>

<file path=customXml/itemProps2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FB37D9-6FDA-4FE5-9C59-BBAA7A32FC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Nuvoton佈景主題</Template>
  <TotalTime>42235</TotalTime>
  <Words>174</Words>
  <Application>Microsoft Office PowerPoint</Application>
  <PresentationFormat>如螢幕大小 (4:3)</PresentationFormat>
  <Paragraphs>36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Calibri</vt:lpstr>
      <vt:lpstr>Franklin Gothic Book</vt:lpstr>
      <vt:lpstr>Perpetua</vt:lpstr>
      <vt:lpstr>Wingdings 2</vt:lpstr>
      <vt:lpstr>Nuvoton佈景主題</vt:lpstr>
      <vt:lpstr>Furnace study group</vt:lpstr>
      <vt:lpstr>報告內容</vt:lpstr>
      <vt:lpstr>一、M340</vt:lpstr>
      <vt:lpstr>1. Flow chart</vt:lpstr>
      <vt:lpstr>2. M31009 參數</vt:lpstr>
      <vt:lpstr>3. M31009 參數</vt:lpstr>
      <vt:lpstr>4. M340 alarm message</vt:lpstr>
      <vt:lpstr>THE END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crazyhysteria</dc:creator>
  <cp:lastModifiedBy>致佑 吳</cp:lastModifiedBy>
  <cp:revision>511</cp:revision>
  <dcterms:created xsi:type="dcterms:W3CDTF">2012-03-21T02:57:47Z</dcterms:created>
  <dcterms:modified xsi:type="dcterms:W3CDTF">2025-09-14T04:46:57Z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33800</vt:r8>
  </property>
  <property fmtid="{D5CDD505-2E9C-101B-9397-08002B2CF9AE}" pid="3" name="MetaInfo">
    <vt:lpwstr/>
  </property>
  <property fmtid="{D5CDD505-2E9C-101B-9397-08002B2CF9AE}" pid="4" name="ContentTypeId">
    <vt:lpwstr>0x01010100D00E37CF3D36214C86886AA9339343DC</vt:lpwstr>
  </property>
</Properties>
</file>