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5126" r:id="rId4"/>
  </p:sldMasterIdLst>
  <p:notesMasterIdLst>
    <p:notesMasterId r:id="rId15"/>
  </p:notesMasterIdLst>
  <p:handoutMasterIdLst>
    <p:handoutMasterId r:id="rId16"/>
  </p:handoutMasterIdLst>
  <p:sldIdLst>
    <p:sldId id="256" r:id="rId5"/>
    <p:sldId id="280" r:id="rId6"/>
    <p:sldId id="281" r:id="rId7"/>
    <p:sldId id="282" r:id="rId8"/>
    <p:sldId id="320" r:id="rId9"/>
    <p:sldId id="324" r:id="rId10"/>
    <p:sldId id="326" r:id="rId11"/>
    <p:sldId id="325" r:id="rId12"/>
    <p:sldId id="327" r:id="rId13"/>
    <p:sldId id="322" r:id="rId14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110"/>
    <a:srgbClr val="FE0600"/>
    <a:srgbClr val="FFFFFF"/>
    <a:srgbClr val="E61C0E"/>
    <a:srgbClr val="01B051"/>
    <a:srgbClr val="E1EEDA"/>
    <a:srgbClr val="CCFFCC"/>
    <a:srgbClr val="F9FBA7"/>
    <a:srgbClr val="D0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5332" autoAdjust="0"/>
  </p:normalViewPr>
  <p:slideViewPr>
    <p:cSldViewPr>
      <p:cViewPr>
        <p:scale>
          <a:sx n="110" d="100"/>
          <a:sy n="110" d="100"/>
        </p:scale>
        <p:origin x="7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D2DFD0F7-9149-4ED9-AA09-64F35445C9E8}" type="datetimeFigureOut">
              <a:rPr lang="zh-TW" altLang="en-US"/>
              <a:pPr>
                <a:defRPr/>
              </a:pPr>
              <a:t>2025/7/19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482A4EC-C742-45C2-9C52-0D1AC475E7E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B915EDB5-8B4A-4658-8E7B-6B60E31865A6}" type="datetimeFigureOut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B567058-9A7E-42FA-83FE-D45C7E8D9D4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34649A3-7B30-4992-A117-955151EFE5B0}" type="datetime1">
              <a:rPr lang="zh-TW" altLang="en-US" smtClean="0"/>
              <a:pPr>
                <a:spcBef>
                  <a:spcPct val="0"/>
                </a:spcBef>
              </a:pPr>
              <a:t>2025/7/16</a:t>
            </a:fld>
            <a:endParaRPr lang="zh-TW" altLang="en-US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A6020E9-B39E-4D15-BA74-B9E3BCD92019}" type="slidenum">
              <a:rPr lang="zh-TW" altLang="en-US" smtClean="0"/>
              <a:pPr>
                <a:spcBef>
                  <a:spcPct val="0"/>
                </a:spcBef>
              </a:pPr>
              <a:t>0</a:t>
            </a:fld>
            <a:endParaRPr lang="zh-TW" altLang="en-US"/>
          </a:p>
        </p:txBody>
      </p:sp>
      <p:sp>
        <p:nvSpPr>
          <p:cNvPr id="9222" name="Footer Placeholder 1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5" name="圓角矩形 1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矩形 1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" name="矩形 17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11" name="Picture 16" descr="PPT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2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6CEFA-D919-4A72-BB21-6BB41EF170E7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13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BF704-F7F7-4E92-B913-B570BCB19EC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931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12862D-27CB-40EC-9B61-66A3538147B9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14323-234C-437A-94DD-DFF37688497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071976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5" name="圓角矩形 1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矩形 1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8" name="矩形 1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AF7C3-B7C6-4B70-B291-57EBCC64CF8C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ED6AB-F35B-413C-9834-DE94D031755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123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946B5-DACF-4E9D-A152-5D4F43CE9914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732C0-D5C6-4166-9C36-0007C32C7FD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70885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9DF3A-1E17-4F40-B7B7-9BF11772FC81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EC6FD-2598-42AA-9EB0-D2CBF7FD0CF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60974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DEAD2-FE34-4CE4-BF8E-5CEBC16B3E3D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56CAC-B93C-436E-8FF3-1223B0CFF5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92081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B46BE-9FD4-432B-9C07-9C8355FDC217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8F388-41F6-4841-9719-6590DD7AE3E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64179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6" name="圓角矩形 14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A4483-5285-4B84-BDD8-15D63DC3FD98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8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76826-7317-4A4D-B1D1-B746E452336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40079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1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4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矩形 15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8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2AB4B-9A14-40B2-BB23-33A824A874FA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0CE300-E011-4DD1-9C9A-BE09F60CCFA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9581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7FBAD-C7F9-473F-9C40-AE9EEF81D11E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581E7-3151-401A-A6C8-DD00F2D474B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3672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51A24-5D04-4308-849E-EFE931529312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5D0C9-7D45-4464-8FE5-66043167B5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633201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719138" y="906463"/>
            <a:ext cx="7813675" cy="5114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82844-C0B4-43D9-BE03-5266A70CD348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AA3A2-F9D1-4B2D-8EE1-0496E22331A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90074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AD1B1C3-4DD1-4348-8537-3EF6707BBC36}" type="datetime1">
              <a:rPr lang="zh-TW" altLang="en-US"/>
              <a:pPr>
                <a:defRPr/>
              </a:pPr>
              <a:t>2025/7/16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66A9E68-F161-48CA-8148-1A1CD5A053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44" r:id="rId1"/>
    <p:sldLayoutId id="2147485336" r:id="rId2"/>
    <p:sldLayoutId id="2147485345" r:id="rId3"/>
    <p:sldLayoutId id="2147485337" r:id="rId4"/>
    <p:sldLayoutId id="2147485338" r:id="rId5"/>
    <p:sldLayoutId id="2147485339" r:id="rId6"/>
    <p:sldLayoutId id="2147485340" r:id="rId7"/>
    <p:sldLayoutId id="2147485346" r:id="rId8"/>
    <p:sldLayoutId id="2147485347" r:id="rId9"/>
    <p:sldLayoutId id="2147485341" r:id="rId10"/>
    <p:sldLayoutId id="2147485342" r:id="rId11"/>
    <p:sldLayoutId id="2147485343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7596336" y="5949280"/>
            <a:ext cx="95664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ZYWU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95" name="Title 1"/>
          <p:cNvSpPr>
            <a:spLocks noGrp="1"/>
          </p:cNvSpPr>
          <p:nvPr>
            <p:ph type="ctrTitle"/>
          </p:nvPr>
        </p:nvSpPr>
        <p:spPr>
          <a:xfrm>
            <a:off x="1714500" y="1785938"/>
            <a:ext cx="5707063" cy="1808162"/>
          </a:xfrm>
        </p:spPr>
        <p:txBody>
          <a:bodyPr/>
          <a:lstStyle/>
          <a:p>
            <a:pPr eaLnBrk="1" hangingPunct="1"/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</a:rPr>
              <a:t>Furnace study group</a:t>
            </a:r>
            <a:endParaRPr lang="zh-TW" altLang="en-US" b="1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solidFill>
                  <a:schemeClr val="tx1"/>
                </a:solidFill>
              </a:rPr>
              <a:t>報告內容</a:t>
            </a:r>
            <a:endParaRPr lang="zh-TW" altLang="en-US"/>
          </a:p>
        </p:txBody>
      </p:sp>
      <p:sp>
        <p:nvSpPr>
          <p:cNvPr id="1024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一、氫氧點火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0244" name="頁尾版面配置區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endParaRPr kumimoji="0" lang="en-US" altLang="zh-TW">
              <a:solidFill>
                <a:schemeClr val="tx2"/>
              </a:solidFill>
            </a:endParaRPr>
          </a:p>
        </p:txBody>
      </p:sp>
      <p:sp>
        <p:nvSpPr>
          <p:cNvPr id="10245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72FD770E-CE09-4684-B930-104B09583EE5}" type="slidenum">
              <a:rPr kumimoji="0" lang="zh-TW" altLang="en-US" smtClean="0">
                <a:solidFill>
                  <a:srgbClr val="FFFFFF"/>
                </a:solidFill>
                <a:latin typeface="Franklin Gothic Book" pitchFamily="34" charset="0"/>
                <a:ea typeface="微軟正黑體" panose="020B0604030504040204" pitchFamily="34" charset="-120"/>
              </a:rPr>
              <a:pPr/>
              <a:t>1</a:t>
            </a:fld>
            <a:endParaRPr kumimoji="0" lang="zh-TW" altLang="en-US">
              <a:solidFill>
                <a:srgbClr val="FFFFFF"/>
              </a:solidFill>
              <a:latin typeface="Franklin Gothic Book" pitchFamily="34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3004592" y="2276872"/>
            <a:ext cx="3744416" cy="917575"/>
          </a:xfrm>
        </p:spPr>
        <p:txBody>
          <a:bodyPr/>
          <a:lstStyle/>
          <a:p>
            <a:pPr eaLnBrk="1" hangingPunct="1"/>
            <a:r>
              <a:rPr lang="zh-TW" altLang="en-US" b="1">
                <a:solidFill>
                  <a:srgbClr val="E61C0E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一、氫氧點火</a:t>
            </a:r>
            <a:endParaRPr lang="zh-TW" altLang="zh-TW" dirty="0">
              <a:latin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2292" name="頁尾版面配置區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endParaRPr kumimoji="0" lang="en-US" altLang="zh-TW">
              <a:solidFill>
                <a:schemeClr val="tx2"/>
              </a:solidFill>
            </a:endParaRPr>
          </a:p>
        </p:txBody>
      </p:sp>
      <p:sp>
        <p:nvSpPr>
          <p:cNvPr id="12293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B3FA29AA-F665-4926-A9B2-76648BFEC7A1}" type="slidenum">
              <a:rPr kumimoji="0" lang="zh-TW" altLang="en-US" smtClean="0">
                <a:solidFill>
                  <a:srgbClr val="FFFFFF"/>
                </a:solidFill>
                <a:latin typeface="Franklin Gothic Book" pitchFamily="34" charset="0"/>
                <a:ea typeface="微軟正黑體" panose="020B0604030504040204" pitchFamily="34" charset="-120"/>
              </a:rPr>
              <a:pPr/>
              <a:t>2</a:t>
            </a:fld>
            <a:endParaRPr kumimoji="0" lang="zh-TW" altLang="en-US">
              <a:solidFill>
                <a:srgbClr val="FFFFFF"/>
              </a:solidFill>
              <a:latin typeface="Franklin Gothic Book" pitchFamily="34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/>
          <p:cNvSpPr>
            <a:spLocks noGrp="1"/>
          </p:cNvSpPr>
          <p:nvPr>
            <p:ph type="title"/>
          </p:nvPr>
        </p:nvSpPr>
        <p:spPr>
          <a:xfrm>
            <a:off x="601924" y="11427"/>
            <a:ext cx="7772400" cy="766837"/>
          </a:xfrm>
        </p:spPr>
        <p:txBody>
          <a:bodyPr/>
          <a:lstStyle/>
          <a:p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1.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Key-function </a:t>
            </a:r>
            <a:endParaRPr lang="zh-TW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388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55799999-915C-4F75-938E-8DA290B30DEA}" type="slidenum">
              <a:rPr kumimoji="0" lang="zh-TW" altLang="en-US" smtClean="0">
                <a:solidFill>
                  <a:srgbClr val="FFFFFF"/>
                </a:solidFill>
                <a:latin typeface="Franklin Gothic Book" pitchFamily="34" charset="0"/>
                <a:ea typeface="微軟正黑體" panose="020B0604030504040204" pitchFamily="34" charset="-120"/>
              </a:rPr>
              <a:pPr/>
              <a:t>3</a:t>
            </a:fld>
            <a:endParaRPr kumimoji="0" lang="zh-TW" altLang="en-US">
              <a:solidFill>
                <a:srgbClr val="FFFFFF"/>
              </a:solidFill>
              <a:latin typeface="Franklin Gothic Book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2EC6403-9C01-1127-864F-11E73D602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88" y="1772217"/>
            <a:ext cx="6480720" cy="3087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33D5240-EFD8-1576-E1BD-A51D8B9C9782}"/>
              </a:ext>
            </a:extLst>
          </p:cNvPr>
          <p:cNvSpPr/>
          <p:nvPr/>
        </p:nvSpPr>
        <p:spPr>
          <a:xfrm>
            <a:off x="3180060" y="3347348"/>
            <a:ext cx="1312912" cy="533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2E4253B-8FF3-395A-5B7B-A94369E8E48E}"/>
              </a:ext>
            </a:extLst>
          </p:cNvPr>
          <p:cNvCxnSpPr>
            <a:stCxn id="3" idx="2"/>
          </p:cNvCxnSpPr>
          <p:nvPr/>
        </p:nvCxnSpPr>
        <p:spPr>
          <a:xfrm flipH="1">
            <a:off x="3828132" y="3881041"/>
            <a:ext cx="8384" cy="1338515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03FF4B9A-9361-0CE6-E45E-622B8D423DC6}"/>
              </a:ext>
            </a:extLst>
          </p:cNvPr>
          <p:cNvSpPr txBox="1"/>
          <p:nvPr/>
        </p:nvSpPr>
        <p:spPr>
          <a:xfrm>
            <a:off x="2684388" y="5212684"/>
            <a:ext cx="246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" panose="020B0604020202020204" pitchFamily="34" charset="0"/>
              </a:rPr>
              <a:t>To adjust parameter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0709B4-BC77-CA5B-F96F-0138DE69BABB}"/>
              </a:ext>
            </a:extLst>
          </p:cNvPr>
          <p:cNvSpPr/>
          <p:nvPr/>
        </p:nvSpPr>
        <p:spPr>
          <a:xfrm>
            <a:off x="6276404" y="3937621"/>
            <a:ext cx="711696" cy="533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CED6BC2-5EE2-AA7D-2D88-2BD3AB8C9AA0}"/>
              </a:ext>
            </a:extLst>
          </p:cNvPr>
          <p:cNvCxnSpPr>
            <a:cxnSpLocks/>
          </p:cNvCxnSpPr>
          <p:nvPr/>
        </p:nvCxnSpPr>
        <p:spPr>
          <a:xfrm>
            <a:off x="6632252" y="4424668"/>
            <a:ext cx="0" cy="616024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D9D1D1F0-09BB-B132-4774-122B516259C4}"/>
              </a:ext>
            </a:extLst>
          </p:cNvPr>
          <p:cNvSpPr txBox="1"/>
          <p:nvPr/>
        </p:nvSpPr>
        <p:spPr>
          <a:xfrm>
            <a:off x="5796136" y="5025587"/>
            <a:ext cx="2240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" panose="020B0604020202020204" pitchFamily="34" charset="0"/>
              </a:rPr>
              <a:t>Hold</a:t>
            </a:r>
            <a:r>
              <a:rPr lang="zh-TW" altLang="en-US" b="1" dirty="0">
                <a:latin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</a:rPr>
              <a:t>for</a:t>
            </a:r>
            <a:r>
              <a:rPr lang="zh-TW" altLang="en-US" b="1" dirty="0">
                <a:latin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</a:rPr>
              <a:t>3</a:t>
            </a: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sec</a:t>
            </a:r>
            <a:r>
              <a:rPr lang="zh-TW" altLang="en-US" b="1" dirty="0">
                <a:latin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</a:rPr>
              <a:t>turn</a:t>
            </a:r>
            <a:r>
              <a:rPr lang="zh-TW" altLang="en-US" b="1" dirty="0">
                <a:latin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</a:rPr>
              <a:t>to</a:t>
            </a:r>
            <a:r>
              <a:rPr lang="zh-TW" altLang="en-US" b="1" dirty="0">
                <a:latin typeface="Arial" panose="020B0604020202020204" pitchFamily="34" charset="0"/>
              </a:rPr>
              <a:t> </a:t>
            </a: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manual mode</a:t>
            </a:r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50D39A-11AA-724E-8300-D2E2B82FE27A}"/>
              </a:ext>
            </a:extLst>
          </p:cNvPr>
          <p:cNvSpPr/>
          <p:nvPr/>
        </p:nvSpPr>
        <p:spPr>
          <a:xfrm>
            <a:off x="2243956" y="1974729"/>
            <a:ext cx="5112568" cy="533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36FB461-9CBE-01EF-E028-327022F7C537}"/>
              </a:ext>
            </a:extLst>
          </p:cNvPr>
          <p:cNvCxnSpPr>
            <a:cxnSpLocks/>
          </p:cNvCxnSpPr>
          <p:nvPr/>
        </p:nvCxnSpPr>
        <p:spPr>
          <a:xfrm flipV="1">
            <a:off x="2748012" y="1457681"/>
            <a:ext cx="648072" cy="493996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 Box 6">
            <a:extLst>
              <a:ext uri="{FF2B5EF4-FFF2-40B4-BE49-F238E27FC236}">
                <a16:creationId xmlns:a16="http://schemas.microsoft.com/office/drawing/2014/main" id="{D63725D7-876D-68EB-3E77-4E4AC41AB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6084" y="1130833"/>
            <a:ext cx="2592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sz="20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Display gas flow rate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4243BB-F52F-0ECF-F32A-D3244C9D1DBD}"/>
              </a:ext>
            </a:extLst>
          </p:cNvPr>
          <p:cNvSpPr/>
          <p:nvPr/>
        </p:nvSpPr>
        <p:spPr>
          <a:xfrm>
            <a:off x="716384" y="2433780"/>
            <a:ext cx="2304256" cy="25003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ECA4C07-1421-1F13-81D4-4F885EA7A352}"/>
              </a:ext>
            </a:extLst>
          </p:cNvPr>
          <p:cNvCxnSpPr>
            <a:cxnSpLocks/>
          </p:cNvCxnSpPr>
          <p:nvPr/>
        </p:nvCxnSpPr>
        <p:spPr>
          <a:xfrm flipH="1">
            <a:off x="1176413" y="4638993"/>
            <a:ext cx="211831" cy="754217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Box 6">
            <a:extLst>
              <a:ext uri="{FF2B5EF4-FFF2-40B4-BE49-F238E27FC236}">
                <a16:creationId xmlns:a16="http://schemas.microsoft.com/office/drawing/2014/main" id="{04CAA52C-F1DA-E60C-9049-5E5C2B449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54" y="5393210"/>
            <a:ext cx="15490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sz="20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With 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C42425-CC16-603C-C831-365EEA249626}"/>
              </a:ext>
            </a:extLst>
          </p:cNvPr>
          <p:cNvSpPr/>
          <p:nvPr/>
        </p:nvSpPr>
        <p:spPr>
          <a:xfrm>
            <a:off x="4950916" y="3428402"/>
            <a:ext cx="1312912" cy="452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16E7F9B-4FE9-7EF4-EEE8-87F8F9FBC449}"/>
              </a:ext>
            </a:extLst>
          </p:cNvPr>
          <p:cNvCxnSpPr>
            <a:cxnSpLocks/>
          </p:cNvCxnSpPr>
          <p:nvPr/>
        </p:nvCxnSpPr>
        <p:spPr>
          <a:xfrm>
            <a:off x="5562427" y="3871684"/>
            <a:ext cx="0" cy="2149005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0AF4930-7326-178C-2801-2DABA723199A}"/>
              </a:ext>
            </a:extLst>
          </p:cNvPr>
          <p:cNvSpPr txBox="1"/>
          <p:nvPr/>
        </p:nvSpPr>
        <p:spPr>
          <a:xfrm>
            <a:off x="4868056" y="6013137"/>
            <a:ext cx="2056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" panose="020B0604020202020204" pitchFamily="34" charset="0"/>
              </a:rPr>
              <a:t>Go to/Go back to next page</a:t>
            </a:r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54A652-9395-5C64-A611-595EB10FE0B6}"/>
              </a:ext>
            </a:extLst>
          </p:cNvPr>
          <p:cNvSpPr/>
          <p:nvPr/>
        </p:nvSpPr>
        <p:spPr>
          <a:xfrm>
            <a:off x="6382320" y="3347348"/>
            <a:ext cx="711696" cy="5072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83D30B1-3BD2-A9D9-CA3D-49B434460949}"/>
              </a:ext>
            </a:extLst>
          </p:cNvPr>
          <p:cNvCxnSpPr>
            <a:cxnSpLocks/>
          </p:cNvCxnSpPr>
          <p:nvPr/>
        </p:nvCxnSpPr>
        <p:spPr>
          <a:xfrm>
            <a:off x="7094016" y="3428402"/>
            <a:ext cx="599852" cy="0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3F528CE-1E9D-0F07-AFF4-396EB6064498}"/>
              </a:ext>
            </a:extLst>
          </p:cNvPr>
          <p:cNvSpPr txBox="1"/>
          <p:nvPr/>
        </p:nvSpPr>
        <p:spPr>
          <a:xfrm>
            <a:off x="7693868" y="2966737"/>
            <a:ext cx="1394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" panose="020B0604020202020204" pitchFamily="34" charset="0"/>
              </a:rPr>
              <a:t>Only form torch unit interlock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A0F8048-2B8C-466C-8813-6192900AF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16725"/>
            <a:ext cx="6480720" cy="3087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BDF7B8-C7A9-49FD-8B12-A6F50D95826D}"/>
              </a:ext>
            </a:extLst>
          </p:cNvPr>
          <p:cNvSpPr/>
          <p:nvPr/>
        </p:nvSpPr>
        <p:spPr>
          <a:xfrm>
            <a:off x="3419872" y="3291856"/>
            <a:ext cx="1312912" cy="533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2517E2A0-D5E8-4A1A-AC97-A29EE36F9A52}"/>
              </a:ext>
            </a:extLst>
          </p:cNvPr>
          <p:cNvCxnSpPr>
            <a:stCxn id="2" idx="2"/>
          </p:cNvCxnSpPr>
          <p:nvPr/>
        </p:nvCxnSpPr>
        <p:spPr>
          <a:xfrm flipH="1">
            <a:off x="4067944" y="3825549"/>
            <a:ext cx="8384" cy="1338515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81A6B9E-7FD6-448C-9478-F5A737987CC0}"/>
              </a:ext>
            </a:extLst>
          </p:cNvPr>
          <p:cNvSpPr txBox="1"/>
          <p:nvPr/>
        </p:nvSpPr>
        <p:spPr>
          <a:xfrm>
            <a:off x="2924200" y="5157192"/>
            <a:ext cx="2304256" cy="64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同時按約</a:t>
            </a: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5sec</a:t>
            </a:r>
            <a:r>
              <a:rPr lang="zh-TW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即可修改</a:t>
            </a: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panel</a:t>
            </a:r>
            <a:r>
              <a:rPr lang="zh-TW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裡面之參數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2E2CCE-F794-4FF9-9B6E-B32D64CB4A8A}"/>
              </a:ext>
            </a:extLst>
          </p:cNvPr>
          <p:cNvSpPr/>
          <p:nvPr/>
        </p:nvSpPr>
        <p:spPr>
          <a:xfrm>
            <a:off x="6516216" y="3882129"/>
            <a:ext cx="711696" cy="533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823E2BF-35FD-459A-8BDD-8776ABBF7A6B}"/>
              </a:ext>
            </a:extLst>
          </p:cNvPr>
          <p:cNvCxnSpPr>
            <a:cxnSpLocks/>
          </p:cNvCxnSpPr>
          <p:nvPr/>
        </p:nvCxnSpPr>
        <p:spPr>
          <a:xfrm>
            <a:off x="6872064" y="4369176"/>
            <a:ext cx="0" cy="813154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DEF9E60-D8BE-4009-BAD7-D435CCFE8FD8}"/>
              </a:ext>
            </a:extLst>
          </p:cNvPr>
          <p:cNvSpPr txBox="1"/>
          <p:nvPr/>
        </p:nvSpPr>
        <p:spPr>
          <a:xfrm>
            <a:off x="6075784" y="5182330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按約</a:t>
            </a: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5sec</a:t>
            </a:r>
            <a:r>
              <a:rPr lang="zh-TW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變為</a:t>
            </a: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manual mode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965A0A-92D4-4D09-8BCF-35F0A5570E35}"/>
              </a:ext>
            </a:extLst>
          </p:cNvPr>
          <p:cNvSpPr/>
          <p:nvPr/>
        </p:nvSpPr>
        <p:spPr>
          <a:xfrm>
            <a:off x="2483768" y="1919237"/>
            <a:ext cx="5112568" cy="5336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AC62175-05CA-4EF9-BF03-CF8257F49C45}"/>
              </a:ext>
            </a:extLst>
          </p:cNvPr>
          <p:cNvCxnSpPr>
            <a:cxnSpLocks/>
          </p:cNvCxnSpPr>
          <p:nvPr/>
        </p:nvCxnSpPr>
        <p:spPr>
          <a:xfrm flipV="1">
            <a:off x="2987824" y="1402189"/>
            <a:ext cx="648072" cy="493996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Box 6">
            <a:extLst>
              <a:ext uri="{FF2B5EF4-FFF2-40B4-BE49-F238E27FC236}">
                <a16:creationId xmlns:a16="http://schemas.microsoft.com/office/drawing/2014/main" id="{5A428798-BD17-471B-BB1A-E7007F209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075341"/>
            <a:ext cx="32361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sz="20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zh-TW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流量由</a:t>
            </a:r>
            <a:r>
              <a:rPr lang="en-US" altLang="zh-TW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sccm</a:t>
            </a:r>
            <a:r>
              <a:rPr lang="zh-TW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變成</a:t>
            </a: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%</a:t>
            </a:r>
            <a:r>
              <a:rPr lang="zh-TW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數，代表為 </a:t>
            </a:r>
            <a:r>
              <a:rPr lang="en-US" altLang="zh-TW" sz="1800" b="1" dirty="0">
                <a:solidFill>
                  <a:schemeClr val="tx1"/>
                </a:solidFill>
                <a:latin typeface="Arial" panose="020B0604020202020204" pitchFamily="34" charset="0"/>
              </a:rPr>
              <a:t>manual mode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EAA59342-DA58-FB24-7981-32804508C50B}"/>
              </a:ext>
            </a:extLst>
          </p:cNvPr>
          <p:cNvSpPr txBox="1">
            <a:spLocks/>
          </p:cNvSpPr>
          <p:nvPr/>
        </p:nvSpPr>
        <p:spPr bwMode="auto">
          <a:xfrm>
            <a:off x="603250" y="133991"/>
            <a:ext cx="7772400" cy="7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9pPr>
          </a:lstStyle>
          <a:p>
            <a:r>
              <a:rPr kumimoji="0" lang="en-US" altLang="zh-TW" sz="3200" b="1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1.</a:t>
            </a:r>
            <a:r>
              <a:rPr kumimoji="0" lang="zh-TW" altLang="en-US" sz="3200" b="1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3200" b="1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Key-function </a:t>
            </a:r>
            <a:endParaRPr kumimoji="0" lang="zh-TW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721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0B9FDB-A6DF-4C08-A460-2982FDD0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84FB8F0B-3C74-4A2E-A26D-2897E281A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785125"/>
            <a:ext cx="4372108" cy="363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04F20554-01E4-4791-B06D-5948CEFA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1" y="18288"/>
            <a:ext cx="6633046" cy="766837"/>
          </a:xfrm>
        </p:spPr>
        <p:txBody>
          <a:bodyPr/>
          <a:lstStyle/>
          <a:p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2.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31009 PCB 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介紹</a:t>
            </a:r>
            <a:endParaRPr lang="zh-TW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B7AC616-8484-4C7F-9797-BC1C117766DE}"/>
              </a:ext>
            </a:extLst>
          </p:cNvPr>
          <p:cNvSpPr txBox="1"/>
          <p:nvPr/>
        </p:nvSpPr>
        <p:spPr>
          <a:xfrm>
            <a:off x="971600" y="4494792"/>
            <a:ext cx="63252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/>
              <a:t>T4</a:t>
            </a:r>
            <a:r>
              <a:rPr lang="zh-TW" altLang="en-US" dirty="0"/>
              <a:t> </a:t>
            </a:r>
            <a:r>
              <a:rPr lang="en-US" altLang="zh-TW" dirty="0"/>
              <a:t>N2 purge </a:t>
            </a:r>
            <a:r>
              <a:rPr lang="zh-TW" altLang="en-US" dirty="0"/>
              <a:t>時間設定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O2</a:t>
            </a:r>
            <a:r>
              <a:rPr lang="zh-TW" altLang="en-US" dirty="0"/>
              <a:t>、</a:t>
            </a:r>
            <a:r>
              <a:rPr lang="en-US" altLang="zh-TW" dirty="0"/>
              <a:t>H2</a:t>
            </a:r>
            <a:r>
              <a:rPr lang="zh-TW" altLang="en-US" dirty="0"/>
              <a:t> </a:t>
            </a:r>
            <a:r>
              <a:rPr lang="en-US" altLang="zh-TW" dirty="0"/>
              <a:t>valve number</a:t>
            </a:r>
          </a:p>
          <a:p>
            <a:pPr marL="342900" indent="-342900">
              <a:buAutoNum type="arabicPeriod"/>
            </a:pPr>
            <a:r>
              <a:rPr lang="en-US" altLang="zh-TW" dirty="0"/>
              <a:t>O2</a:t>
            </a:r>
            <a:r>
              <a:rPr lang="zh-TW" altLang="en-US" dirty="0"/>
              <a:t>、</a:t>
            </a:r>
            <a:r>
              <a:rPr lang="en-US" altLang="zh-TW" dirty="0"/>
              <a:t>H2 MFC number</a:t>
            </a:r>
          </a:p>
          <a:p>
            <a:pPr marL="342900" indent="-342900">
              <a:buAutoNum type="arabicPeriod"/>
            </a:pPr>
            <a:r>
              <a:rPr lang="en-US" altLang="zh-TW" dirty="0"/>
              <a:t>O2</a:t>
            </a:r>
            <a:r>
              <a:rPr lang="zh-TW" altLang="en-US" dirty="0"/>
              <a:t>、</a:t>
            </a:r>
            <a:r>
              <a:rPr lang="en-US" altLang="zh-TW" dirty="0"/>
              <a:t>H2 MFC FLOW maximal value setting</a:t>
            </a:r>
          </a:p>
          <a:p>
            <a:pPr marL="342900" indent="-342900">
              <a:buAutoNum type="arabicPeriod"/>
            </a:pPr>
            <a:r>
              <a:rPr lang="en-US" altLang="zh-TW" dirty="0"/>
              <a:t>O2</a:t>
            </a:r>
            <a:r>
              <a:rPr lang="zh-TW" altLang="en-US" dirty="0"/>
              <a:t>、</a:t>
            </a:r>
            <a:r>
              <a:rPr lang="en-US" altLang="zh-TW" dirty="0"/>
              <a:t>F2 flow valve setting &amp; O2/H2</a:t>
            </a:r>
            <a:r>
              <a:rPr lang="zh-TW" altLang="en-US" dirty="0"/>
              <a:t> </a:t>
            </a:r>
            <a:r>
              <a:rPr lang="en-US" altLang="zh-TW" dirty="0"/>
              <a:t>flow</a:t>
            </a:r>
            <a:r>
              <a:rPr lang="zh-TW" altLang="en-US" dirty="0"/>
              <a:t> </a:t>
            </a:r>
            <a:r>
              <a:rPr lang="en-US" altLang="zh-TW" dirty="0"/>
              <a:t>ratio</a:t>
            </a:r>
          </a:p>
          <a:p>
            <a:pPr marL="342900" indent="-342900">
              <a:buAutoNum type="arabicPeriod"/>
            </a:pPr>
            <a:r>
              <a:rPr lang="en-US" altLang="zh-TW" dirty="0"/>
              <a:t>TYPE3(i.e. Have</a:t>
            </a:r>
            <a:r>
              <a:rPr lang="zh-TW" altLang="en-US" dirty="0"/>
              <a:t> </a:t>
            </a:r>
            <a:r>
              <a:rPr lang="en-US" altLang="zh-TW" dirty="0"/>
              <a:t>torch</a:t>
            </a:r>
            <a:r>
              <a:rPr lang="zh-TW" altLang="en-US" dirty="0"/>
              <a:t>、</a:t>
            </a:r>
            <a:r>
              <a:rPr lang="en-US" altLang="zh-TW" dirty="0"/>
              <a:t>H2 ) </a:t>
            </a:r>
            <a:r>
              <a:rPr lang="en-US" altLang="zh-TW" dirty="0">
                <a:sym typeface="Wingdings" panose="05000000000000000000" pitchFamily="2" charset="2"/>
              </a:rPr>
              <a:t>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TYPE0</a:t>
            </a:r>
          </a:p>
          <a:p>
            <a:pPr marL="342900" indent="-342900">
              <a:buAutoNum type="arabicPeriod"/>
            </a:pPr>
            <a:r>
              <a:rPr lang="en-US" altLang="zh-TW" dirty="0">
                <a:sym typeface="Wingdings" panose="05000000000000000000" pitchFamily="2" charset="2"/>
              </a:rPr>
              <a:t>T4 N2 purge </a:t>
            </a:r>
            <a:r>
              <a:rPr lang="zh-TW" altLang="en-US" dirty="0">
                <a:sym typeface="Wingdings" panose="05000000000000000000" pitchFamily="2" charset="2"/>
              </a:rPr>
              <a:t>之 </a:t>
            </a:r>
            <a:r>
              <a:rPr lang="en-US" altLang="zh-TW" dirty="0">
                <a:sym typeface="Wingdings" panose="05000000000000000000" pitchFamily="2" charset="2"/>
              </a:rPr>
              <a:t>valve and MFC number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977333-62CF-4261-A2A0-8A2DA40AE229}"/>
              </a:ext>
            </a:extLst>
          </p:cNvPr>
          <p:cNvSpPr/>
          <p:nvPr/>
        </p:nvSpPr>
        <p:spPr>
          <a:xfrm>
            <a:off x="2483768" y="2297354"/>
            <a:ext cx="879720" cy="62759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D11F272-1E06-4C87-BC70-97DBB167B342}"/>
              </a:ext>
            </a:extLst>
          </p:cNvPr>
          <p:cNvSpPr/>
          <p:nvPr/>
        </p:nvSpPr>
        <p:spPr>
          <a:xfrm>
            <a:off x="3363488" y="2613210"/>
            <a:ext cx="1008112" cy="30387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5444A2-1993-47BE-86FB-BA53EA1D881F}"/>
              </a:ext>
            </a:extLst>
          </p:cNvPr>
          <p:cNvSpPr/>
          <p:nvPr/>
        </p:nvSpPr>
        <p:spPr>
          <a:xfrm>
            <a:off x="3363488" y="2297354"/>
            <a:ext cx="1008112" cy="3038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09E439E-EC4C-4360-88C5-6F50F0F8390A}"/>
              </a:ext>
            </a:extLst>
          </p:cNvPr>
          <p:cNvSpPr txBox="1"/>
          <p:nvPr/>
        </p:nvSpPr>
        <p:spPr>
          <a:xfrm>
            <a:off x="4065566" y="19617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E0600"/>
                </a:solidFill>
              </a:rPr>
              <a:t>1.</a:t>
            </a:r>
            <a:endParaRPr lang="zh-TW" altLang="en-US" dirty="0">
              <a:solidFill>
                <a:srgbClr val="FE06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F0F5389-7666-49F1-9318-520F876E104F}"/>
              </a:ext>
            </a:extLst>
          </p:cNvPr>
          <p:cNvSpPr txBox="1"/>
          <p:nvPr/>
        </p:nvSpPr>
        <p:spPr>
          <a:xfrm>
            <a:off x="2195736" y="2070463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C000"/>
                </a:solidFill>
              </a:rPr>
              <a:t>2.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EAB882A-D081-4D58-9CA1-E4642CDEF214}"/>
              </a:ext>
            </a:extLst>
          </p:cNvPr>
          <p:cNvSpPr txBox="1"/>
          <p:nvPr/>
        </p:nvSpPr>
        <p:spPr>
          <a:xfrm>
            <a:off x="4353598" y="246214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</a:rPr>
              <a:t>3.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666EF4-1A7E-440C-A582-515048132E52}"/>
              </a:ext>
            </a:extLst>
          </p:cNvPr>
          <p:cNvSpPr/>
          <p:nvPr/>
        </p:nvSpPr>
        <p:spPr>
          <a:xfrm>
            <a:off x="2483768" y="1673232"/>
            <a:ext cx="1296144" cy="61214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11424E-14B8-4D1F-AB2B-4FECB3C1FBE3}"/>
              </a:ext>
            </a:extLst>
          </p:cNvPr>
          <p:cNvSpPr/>
          <p:nvPr/>
        </p:nvSpPr>
        <p:spPr>
          <a:xfrm>
            <a:off x="2483768" y="1389301"/>
            <a:ext cx="1296144" cy="3038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B7F8BD-A732-4061-AD8B-68CD69B941A1}"/>
              </a:ext>
            </a:extLst>
          </p:cNvPr>
          <p:cNvSpPr/>
          <p:nvPr/>
        </p:nvSpPr>
        <p:spPr>
          <a:xfrm>
            <a:off x="2483768" y="1085424"/>
            <a:ext cx="879720" cy="3038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B1769DB-D806-490E-9662-A5F3C2BBE8B3}"/>
              </a:ext>
            </a:extLst>
          </p:cNvPr>
          <p:cNvSpPr txBox="1"/>
          <p:nvPr/>
        </p:nvSpPr>
        <p:spPr>
          <a:xfrm>
            <a:off x="2195736" y="15664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B0F0"/>
                </a:solidFill>
              </a:rPr>
              <a:t>4.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792B95E-4740-4E64-AE3D-6C02FDC7B72C}"/>
              </a:ext>
            </a:extLst>
          </p:cNvPr>
          <p:cNvSpPr txBox="1"/>
          <p:nvPr/>
        </p:nvSpPr>
        <p:spPr>
          <a:xfrm>
            <a:off x="2195736" y="10199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5.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E754EB-25DA-4703-94C1-DF6717E402BE}"/>
              </a:ext>
            </a:extLst>
          </p:cNvPr>
          <p:cNvSpPr/>
          <p:nvPr/>
        </p:nvSpPr>
        <p:spPr>
          <a:xfrm>
            <a:off x="3379512" y="1076241"/>
            <a:ext cx="432048" cy="303877"/>
          </a:xfrm>
          <a:prstGeom prst="rect">
            <a:avLst/>
          </a:prstGeom>
          <a:noFill/>
          <a:ln w="38100">
            <a:solidFill>
              <a:srgbClr val="FC2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86A1917-5278-4F8E-84F1-4C8534EE4F42}"/>
              </a:ext>
            </a:extLst>
          </p:cNvPr>
          <p:cNvSpPr txBox="1"/>
          <p:nvPr/>
        </p:nvSpPr>
        <p:spPr>
          <a:xfrm>
            <a:off x="3769248" y="86257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E0600"/>
                </a:solidFill>
              </a:rPr>
              <a:t>6.</a:t>
            </a:r>
            <a:endParaRPr lang="zh-TW" altLang="en-US" dirty="0">
              <a:solidFill>
                <a:srgbClr val="FE0600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56BEC4-E34B-4385-A474-3603CC7DD48D}"/>
              </a:ext>
            </a:extLst>
          </p:cNvPr>
          <p:cNvSpPr/>
          <p:nvPr/>
        </p:nvSpPr>
        <p:spPr>
          <a:xfrm>
            <a:off x="2483768" y="3953377"/>
            <a:ext cx="3672408" cy="4639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B7B5C98-0938-4BCF-AAA5-D33CC19120AC}"/>
              </a:ext>
            </a:extLst>
          </p:cNvPr>
          <p:cNvSpPr txBox="1"/>
          <p:nvPr/>
        </p:nvSpPr>
        <p:spPr>
          <a:xfrm>
            <a:off x="2267744" y="3626453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E0600"/>
                </a:solidFill>
              </a:rPr>
              <a:t>7.</a:t>
            </a:r>
            <a:endParaRPr lang="zh-TW" altLang="en-US" dirty="0">
              <a:solidFill>
                <a:srgbClr val="FE0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32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一張含有 電子產品, 電路, 電子工程, 電子元件 的圖片&#10;&#10;AI 產生的內容可能不正確。">
            <a:extLst>
              <a:ext uri="{FF2B5EF4-FFF2-40B4-BE49-F238E27FC236}">
                <a16:creationId xmlns:a16="http://schemas.microsoft.com/office/drawing/2014/main" id="{3D26A99F-56E1-2344-3E64-6289BFBC1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233" y="0"/>
            <a:ext cx="6215533" cy="33754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66143AE-0C3C-BA59-7286-226B3A0A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  <p:pic>
        <p:nvPicPr>
          <p:cNvPr id="17" name="圖片 16" descr="一張含有 電子產品, 電路, 電子工程, 電子元件 的圖片&#10;&#10;AI 產生的內容可能不正確。">
            <a:extLst>
              <a:ext uri="{FF2B5EF4-FFF2-40B4-BE49-F238E27FC236}">
                <a16:creationId xmlns:a16="http://schemas.microsoft.com/office/drawing/2014/main" id="{9B2E31C1-7B87-543F-9CBD-5D543C9DD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489" y="3482563"/>
            <a:ext cx="6192688" cy="337543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8CB04D92-1AB1-C3DC-BB18-D7A71DCA7941}"/>
              </a:ext>
            </a:extLst>
          </p:cNvPr>
          <p:cNvSpPr/>
          <p:nvPr/>
        </p:nvSpPr>
        <p:spPr>
          <a:xfrm>
            <a:off x="2043908" y="2233124"/>
            <a:ext cx="1087932" cy="101253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F1D072-4F14-CE02-0B50-38AB2D04144B}"/>
              </a:ext>
            </a:extLst>
          </p:cNvPr>
          <p:cNvSpPr/>
          <p:nvPr/>
        </p:nvSpPr>
        <p:spPr>
          <a:xfrm>
            <a:off x="3207459" y="2666687"/>
            <a:ext cx="1008112" cy="61175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6D83DB-33D2-F61E-7ADF-E6EE14CB6CEF}"/>
              </a:ext>
            </a:extLst>
          </p:cNvPr>
          <p:cNvSpPr/>
          <p:nvPr/>
        </p:nvSpPr>
        <p:spPr>
          <a:xfrm>
            <a:off x="3150121" y="2199348"/>
            <a:ext cx="1087931" cy="4586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C5EF808-3EC4-F3F4-08A8-D90244EAB80E}"/>
              </a:ext>
            </a:extLst>
          </p:cNvPr>
          <p:cNvSpPr txBox="1"/>
          <p:nvPr/>
        </p:nvSpPr>
        <p:spPr>
          <a:xfrm>
            <a:off x="4204625" y="187728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E0600"/>
                </a:solidFill>
              </a:rPr>
              <a:t>1.</a:t>
            </a:r>
            <a:endParaRPr lang="zh-TW" altLang="en-US" b="1" dirty="0">
              <a:solidFill>
                <a:srgbClr val="FE06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858C3FA-5D9D-A1EB-1987-21146FF7172F}"/>
              </a:ext>
            </a:extLst>
          </p:cNvPr>
          <p:cNvSpPr txBox="1"/>
          <p:nvPr/>
        </p:nvSpPr>
        <p:spPr>
          <a:xfrm>
            <a:off x="1731146" y="20704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C000"/>
                </a:solidFill>
              </a:rPr>
              <a:t>2.</a:t>
            </a:r>
            <a:endParaRPr lang="zh-TW" altLang="en-US" b="1" dirty="0">
              <a:solidFill>
                <a:srgbClr val="FFC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1E378A6-9F35-3226-7B5F-8E3DFDF943FE}"/>
              </a:ext>
            </a:extLst>
          </p:cNvPr>
          <p:cNvSpPr txBox="1"/>
          <p:nvPr/>
        </p:nvSpPr>
        <p:spPr>
          <a:xfrm>
            <a:off x="4137574" y="3013390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92D050"/>
                </a:solidFill>
              </a:rPr>
              <a:t>3.</a:t>
            </a:r>
            <a:endParaRPr lang="zh-TW" altLang="en-US" sz="2000" b="1" dirty="0">
              <a:solidFill>
                <a:srgbClr val="92D05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3A80D5-2CA1-5AE7-79BA-F75D2C308DCF}"/>
              </a:ext>
            </a:extLst>
          </p:cNvPr>
          <p:cNvSpPr/>
          <p:nvPr/>
        </p:nvSpPr>
        <p:spPr>
          <a:xfrm>
            <a:off x="2043907" y="1177697"/>
            <a:ext cx="1499321" cy="10125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054FF2-C4F3-ED00-5652-8C03C84EAA74}"/>
              </a:ext>
            </a:extLst>
          </p:cNvPr>
          <p:cNvSpPr/>
          <p:nvPr/>
        </p:nvSpPr>
        <p:spPr>
          <a:xfrm>
            <a:off x="2043908" y="84326"/>
            <a:ext cx="1087932" cy="55204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F7BC1F5-C0DA-5509-2EE2-7033671F38DB}"/>
              </a:ext>
            </a:extLst>
          </p:cNvPr>
          <p:cNvSpPr txBox="1"/>
          <p:nvPr/>
        </p:nvSpPr>
        <p:spPr>
          <a:xfrm>
            <a:off x="1719364" y="102574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B0F0"/>
                </a:solidFill>
              </a:rPr>
              <a:t>4.</a:t>
            </a:r>
            <a:endParaRPr lang="zh-TW" altLang="en-US" b="1" dirty="0">
              <a:solidFill>
                <a:srgbClr val="00B0F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5D6E69A-A235-9547-41EE-2C82AD66DA39}"/>
              </a:ext>
            </a:extLst>
          </p:cNvPr>
          <p:cNvSpPr txBox="1"/>
          <p:nvPr/>
        </p:nvSpPr>
        <p:spPr>
          <a:xfrm>
            <a:off x="1731146" y="230667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5.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97AD3A-61EA-8946-B632-E27B17D9D3E6}"/>
              </a:ext>
            </a:extLst>
          </p:cNvPr>
          <p:cNvSpPr/>
          <p:nvPr/>
        </p:nvSpPr>
        <p:spPr>
          <a:xfrm>
            <a:off x="3131840" y="73097"/>
            <a:ext cx="432048" cy="552049"/>
          </a:xfrm>
          <a:prstGeom prst="rect">
            <a:avLst/>
          </a:prstGeom>
          <a:noFill/>
          <a:ln w="38100">
            <a:solidFill>
              <a:srgbClr val="FC2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A99DB9-CCF3-D832-9611-8746B186E42E}"/>
              </a:ext>
            </a:extLst>
          </p:cNvPr>
          <p:cNvSpPr txBox="1"/>
          <p:nvPr/>
        </p:nvSpPr>
        <p:spPr>
          <a:xfrm>
            <a:off x="3543229" y="-46151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E0600"/>
                </a:solidFill>
              </a:rPr>
              <a:t>6.</a:t>
            </a:r>
            <a:endParaRPr lang="zh-TW" altLang="en-US" sz="2000" b="1" dirty="0">
              <a:solidFill>
                <a:srgbClr val="FE06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77DA4F8-8B54-5031-A549-D01B977DFC95}"/>
              </a:ext>
            </a:extLst>
          </p:cNvPr>
          <p:cNvSpPr/>
          <p:nvPr/>
        </p:nvSpPr>
        <p:spPr>
          <a:xfrm>
            <a:off x="1857882" y="4157597"/>
            <a:ext cx="3506206" cy="4235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0A2D7D2-5717-FF32-5176-E6C25006C4B7}"/>
              </a:ext>
            </a:extLst>
          </p:cNvPr>
          <p:cNvSpPr txBox="1"/>
          <p:nvPr/>
        </p:nvSpPr>
        <p:spPr>
          <a:xfrm>
            <a:off x="1576835" y="381162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E0600"/>
                </a:solidFill>
              </a:rPr>
              <a:t>7.</a:t>
            </a:r>
            <a:endParaRPr lang="zh-TW" altLang="en-US" b="1" dirty="0">
              <a:solidFill>
                <a:srgbClr val="FE0600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882ECC-A8D2-145B-0EE5-5DC218DDDF80}"/>
              </a:ext>
            </a:extLst>
          </p:cNvPr>
          <p:cNvSpPr/>
          <p:nvPr/>
        </p:nvSpPr>
        <p:spPr>
          <a:xfrm>
            <a:off x="2043908" y="639500"/>
            <a:ext cx="1519980" cy="5173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542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F29C759-D79A-4EF0-A250-21361D67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601021FB-06E2-4BF5-A71A-262411DB12E7}"/>
              </a:ext>
            </a:extLst>
          </p:cNvPr>
          <p:cNvSpPr txBox="1">
            <a:spLocks/>
          </p:cNvSpPr>
          <p:nvPr/>
        </p:nvSpPr>
        <p:spPr bwMode="auto">
          <a:xfrm>
            <a:off x="551021" y="18288"/>
            <a:ext cx="6633046" cy="7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9pPr>
          </a:lstStyle>
          <a:p>
            <a:r>
              <a:rPr kumimoji="0"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3.</a:t>
            </a:r>
            <a:r>
              <a:rPr kumimoji="0"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31008-1 PCB </a:t>
            </a:r>
            <a:r>
              <a:rPr kumimoji="0"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介紹</a:t>
            </a:r>
            <a:endParaRPr kumimoji="0" lang="zh-TW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9772BDDA-AC2D-4526-B3A7-B141D24E5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785125"/>
            <a:ext cx="4213795" cy="377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2D3FF2-B386-4F17-9079-D06A5B30E890}"/>
              </a:ext>
            </a:extLst>
          </p:cNvPr>
          <p:cNvSpPr/>
          <p:nvPr/>
        </p:nvSpPr>
        <p:spPr>
          <a:xfrm>
            <a:off x="4164495" y="939819"/>
            <a:ext cx="1296144" cy="140906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B7ED41-1391-423D-9651-F4152CEECD48}"/>
              </a:ext>
            </a:extLst>
          </p:cNvPr>
          <p:cNvSpPr/>
          <p:nvPr/>
        </p:nvSpPr>
        <p:spPr>
          <a:xfrm>
            <a:off x="4588590" y="3861048"/>
            <a:ext cx="487464" cy="57606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7940C8-3575-454C-9BD2-31C6547538E4}"/>
              </a:ext>
            </a:extLst>
          </p:cNvPr>
          <p:cNvSpPr/>
          <p:nvPr/>
        </p:nvSpPr>
        <p:spPr>
          <a:xfrm rot="5400000">
            <a:off x="4407934" y="2944992"/>
            <a:ext cx="2160242" cy="824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81BB5BC-71A6-4070-826A-D5C2E93112EC}"/>
              </a:ext>
            </a:extLst>
          </p:cNvPr>
          <p:cNvSpPr txBox="1"/>
          <p:nvPr/>
        </p:nvSpPr>
        <p:spPr>
          <a:xfrm>
            <a:off x="987224" y="4602398"/>
            <a:ext cx="576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/>
              <a:t>T4</a:t>
            </a:r>
            <a:r>
              <a:rPr lang="zh-TW" altLang="en-US" dirty="0"/>
              <a:t> </a:t>
            </a:r>
            <a:r>
              <a:rPr lang="en-US" altLang="zh-TW" dirty="0"/>
              <a:t>N2 flow setting</a:t>
            </a:r>
          </a:p>
          <a:p>
            <a:r>
              <a:rPr lang="zh-TW" altLang="en-US" dirty="0"/>
              <a:t>計算方式</a:t>
            </a:r>
            <a:r>
              <a:rPr lang="en-US" altLang="zh-TW" dirty="0"/>
              <a:t>(</a:t>
            </a:r>
            <a:r>
              <a:rPr lang="zh-TW" altLang="en-US" dirty="0"/>
              <a:t>採</a:t>
            </a:r>
            <a:r>
              <a:rPr lang="en-US" altLang="zh-TW" dirty="0"/>
              <a:t>16</a:t>
            </a:r>
            <a:r>
              <a:rPr lang="zh-TW" altLang="en-US" dirty="0"/>
              <a:t>進制編碼</a:t>
            </a:r>
            <a:r>
              <a:rPr lang="en-US" altLang="zh-TW" dirty="0"/>
              <a:t>)</a:t>
            </a:r>
            <a:r>
              <a:rPr lang="zh-TW" altLang="en-US" dirty="0">
                <a:sym typeface="Wingdings" panose="05000000000000000000" pitchFamily="2" charset="2"/>
              </a:rPr>
              <a:t>：</a:t>
            </a:r>
            <a:r>
              <a:rPr lang="en-US" altLang="zh-TW" dirty="0">
                <a:sym typeface="Wingdings" panose="05000000000000000000" pitchFamily="2" charset="2"/>
              </a:rPr>
              <a:t>(1/15)</a:t>
            </a:r>
            <a:r>
              <a:rPr lang="zh-TW" altLang="en-US" dirty="0">
                <a:sym typeface="Wingdings" panose="05000000000000000000" pitchFamily="2" charset="2"/>
              </a:rPr>
              <a:t>*</a:t>
            </a:r>
            <a:r>
              <a:rPr lang="en-US" altLang="zh-TW" dirty="0">
                <a:sym typeface="Wingdings" panose="05000000000000000000" pitchFamily="2" charset="2"/>
              </a:rPr>
              <a:t>30(MAX)=2L(N2)</a:t>
            </a:r>
          </a:p>
          <a:p>
            <a:pPr marL="342900" indent="-342900">
              <a:buAutoNum type="arabicPeriod" startAt="2"/>
            </a:pPr>
            <a:r>
              <a:rPr lang="en-US" altLang="zh-TW" dirty="0">
                <a:sym typeface="Wingdings" panose="05000000000000000000" pitchFamily="2" charset="2"/>
              </a:rPr>
              <a:t>Flow chart valve NO/NC setting</a:t>
            </a:r>
          </a:p>
          <a:p>
            <a:pPr marL="342900" indent="-342900">
              <a:buAutoNum type="arabicPeriod" startAt="3"/>
            </a:pPr>
            <a:r>
              <a:rPr lang="en-US" altLang="zh-TW" dirty="0"/>
              <a:t>TYPE3(i.e. Have</a:t>
            </a:r>
            <a:r>
              <a:rPr lang="zh-TW" altLang="en-US" dirty="0"/>
              <a:t> </a:t>
            </a:r>
            <a:r>
              <a:rPr lang="en-US" altLang="zh-TW" dirty="0"/>
              <a:t>torch</a:t>
            </a:r>
            <a:r>
              <a:rPr lang="zh-TW" altLang="en-US" dirty="0"/>
              <a:t>、</a:t>
            </a:r>
            <a:r>
              <a:rPr lang="en-US" altLang="zh-TW" dirty="0"/>
              <a:t>H2 ) </a:t>
            </a:r>
            <a:r>
              <a:rPr lang="en-US" altLang="zh-TW" dirty="0">
                <a:sym typeface="Wingdings" panose="05000000000000000000" pitchFamily="2" charset="2"/>
              </a:rPr>
              <a:t></a:t>
            </a:r>
            <a:r>
              <a:rPr lang="zh-TW" altLang="en-US" dirty="0">
                <a:sym typeface="Wingdings" panose="05000000000000000000" pitchFamily="2" charset="2"/>
              </a:rPr>
              <a:t> </a:t>
            </a:r>
            <a:r>
              <a:rPr lang="en-US" altLang="zh-TW" dirty="0">
                <a:sym typeface="Wingdings" panose="05000000000000000000" pitchFamily="2" charset="2"/>
              </a:rPr>
              <a:t>TYPE0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690FE3D-1300-4648-A943-E946FCCD3B49}"/>
              </a:ext>
            </a:extLst>
          </p:cNvPr>
          <p:cNvSpPr txBox="1"/>
          <p:nvPr/>
        </p:nvSpPr>
        <p:spPr>
          <a:xfrm>
            <a:off x="5615771" y="193751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E0600"/>
                </a:solidFill>
              </a:rPr>
              <a:t>1.</a:t>
            </a:r>
            <a:endParaRPr lang="zh-TW" altLang="en-US" dirty="0">
              <a:solidFill>
                <a:srgbClr val="FE06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813D5E8-0FAA-4EF5-9503-52C25DE150CE}"/>
              </a:ext>
            </a:extLst>
          </p:cNvPr>
          <p:cNvSpPr txBox="1"/>
          <p:nvPr/>
        </p:nvSpPr>
        <p:spPr>
          <a:xfrm>
            <a:off x="5183723" y="62135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C000"/>
                </a:solidFill>
              </a:rPr>
              <a:t>2.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F98A0BA-0B1E-4E3B-9CE2-EBCAE72A64EF}"/>
              </a:ext>
            </a:extLst>
          </p:cNvPr>
          <p:cNvSpPr txBox="1"/>
          <p:nvPr/>
        </p:nvSpPr>
        <p:spPr>
          <a:xfrm>
            <a:off x="4301518" y="377952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B0F0"/>
                </a:solidFill>
              </a:rPr>
              <a:t>3.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29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36A7FA-77FB-F713-5A57-410266E9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  <p:pic>
        <p:nvPicPr>
          <p:cNvPr id="8" name="圖片 7" descr="一張含有 電子產品, 電子元件, 電子工程, 電路元件 的圖片&#10;&#10;AI 產生的內容可能不正確。">
            <a:extLst>
              <a:ext uri="{FF2B5EF4-FFF2-40B4-BE49-F238E27FC236}">
                <a16:creationId xmlns:a16="http://schemas.microsoft.com/office/drawing/2014/main" id="{E6A8DF62-61B7-74B0-44DD-6A8A6A1F4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356992"/>
            <a:ext cx="5380692" cy="3501008"/>
          </a:xfrm>
          <a:prstGeom prst="rect">
            <a:avLst/>
          </a:prstGeom>
        </p:spPr>
      </p:pic>
      <p:pic>
        <p:nvPicPr>
          <p:cNvPr id="10" name="圖片 9" descr="一張含有 電子產品, 電子元件, 電子工程, 電路元件 的圖片&#10;&#10;AI 產生的內容可能不正確。">
            <a:extLst>
              <a:ext uri="{FF2B5EF4-FFF2-40B4-BE49-F238E27FC236}">
                <a16:creationId xmlns:a16="http://schemas.microsoft.com/office/drawing/2014/main" id="{25740996-A048-2AD7-6048-4634B0942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0"/>
            <a:ext cx="5380692" cy="315120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CAEDFFE-542D-20EC-A558-AACE6C235F6C}"/>
              </a:ext>
            </a:extLst>
          </p:cNvPr>
          <p:cNvSpPr/>
          <p:nvPr/>
        </p:nvSpPr>
        <p:spPr>
          <a:xfrm>
            <a:off x="2339752" y="4941168"/>
            <a:ext cx="504056" cy="50405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0302D4B-66BE-9ACB-B996-EB3E14CC557D}"/>
              </a:ext>
            </a:extLst>
          </p:cNvPr>
          <p:cNvSpPr txBox="1"/>
          <p:nvPr/>
        </p:nvSpPr>
        <p:spPr>
          <a:xfrm>
            <a:off x="1979712" y="4755689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00B0F0"/>
                </a:solidFill>
              </a:rPr>
              <a:t>3.</a:t>
            </a:r>
            <a:endParaRPr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561724-0EA5-C928-298C-DAA9B7EE5D36}"/>
              </a:ext>
            </a:extLst>
          </p:cNvPr>
          <p:cNvSpPr/>
          <p:nvPr/>
        </p:nvSpPr>
        <p:spPr>
          <a:xfrm rot="10800000">
            <a:off x="2339752" y="5445226"/>
            <a:ext cx="1728192" cy="765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DBFFA55-FEEE-176E-5FA7-64D1EC3A8CBD}"/>
              </a:ext>
            </a:extLst>
          </p:cNvPr>
          <p:cNvSpPr txBox="1"/>
          <p:nvPr/>
        </p:nvSpPr>
        <p:spPr>
          <a:xfrm>
            <a:off x="1989327" y="528167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E0600"/>
                </a:solidFill>
              </a:rPr>
              <a:t>1.</a:t>
            </a:r>
            <a:endParaRPr lang="zh-TW" altLang="en-US" b="1" dirty="0">
              <a:solidFill>
                <a:srgbClr val="FE06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60F53C-A84D-EA6D-FE06-D4A0E9DF3868}"/>
              </a:ext>
            </a:extLst>
          </p:cNvPr>
          <p:cNvSpPr/>
          <p:nvPr/>
        </p:nvSpPr>
        <p:spPr>
          <a:xfrm>
            <a:off x="4788024" y="4005064"/>
            <a:ext cx="936104" cy="93610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7F1162-64DA-D7F4-6B2D-502596C9EBC8}"/>
              </a:ext>
            </a:extLst>
          </p:cNvPr>
          <p:cNvSpPr txBox="1"/>
          <p:nvPr/>
        </p:nvSpPr>
        <p:spPr>
          <a:xfrm>
            <a:off x="4499992" y="3776953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C000"/>
                </a:solidFill>
              </a:rPr>
              <a:t>2.</a:t>
            </a:r>
            <a:endParaRPr lang="zh-TW" altLang="en-US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62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BA82C4-6AC2-4354-A3EE-9DA981D6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652904"/>
            <a:ext cx="7772400" cy="782960"/>
          </a:xfrm>
        </p:spPr>
        <p:txBody>
          <a:bodyPr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THE END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477228-48AD-4FAD-B0E7-EB0CBE32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522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ShowRepairView xmlns="http://schemas.microsoft.com/sharepoint/v3" xsi:nil="true"/>
    <ShowCombineView xmlns="http://schemas.microsoft.com/sharepoint/v3" xsi:nil="true"/>
    <xd_ProgID xmlns="http://schemas.microsoft.com/sharepoint/v3" xsi:nil="true"/>
    <TaxCatchAll xmlns="6ba3a8a8-b9e2-49cb-aadf-2c093bcf632e" xsi:nil="true"/>
    <lcf76f155ced4ddcb4097134ff3c332f xmlns="4bdc6d95-7621-47b1-8f62-a702a7a9d98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2236F1-7382-4B07-A7F4-926797FB5A37}"/>
</file>

<file path=customXml/itemProps2.xml><?xml version="1.0" encoding="utf-8"?>
<ds:datastoreItem xmlns:ds="http://schemas.openxmlformats.org/officeDocument/2006/customXml" ds:itemID="{88FB37D9-6FDA-4FE5-9C59-BBAA7A32FC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Nuvoton佈景主題</Template>
  <TotalTime>43594</TotalTime>
  <Words>244</Words>
  <Application>Microsoft Office PowerPoint</Application>
  <PresentationFormat>如螢幕大小 (4:3)</PresentationFormat>
  <Paragraphs>62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微軟正黑體</vt:lpstr>
      <vt:lpstr>Arial</vt:lpstr>
      <vt:lpstr>Calibri</vt:lpstr>
      <vt:lpstr>Franklin Gothic Book</vt:lpstr>
      <vt:lpstr>Perpetua</vt:lpstr>
      <vt:lpstr>Wingdings</vt:lpstr>
      <vt:lpstr>Wingdings 2</vt:lpstr>
      <vt:lpstr>Nuvoton佈景主題</vt:lpstr>
      <vt:lpstr>Furnace study group</vt:lpstr>
      <vt:lpstr>報告內容</vt:lpstr>
      <vt:lpstr>一、氫氧點火</vt:lpstr>
      <vt:lpstr>1. Key-function </vt:lpstr>
      <vt:lpstr>PowerPoint 簡報</vt:lpstr>
      <vt:lpstr>2. 31009 PCB 介紹</vt:lpstr>
      <vt:lpstr>PowerPoint 簡報</vt:lpstr>
      <vt:lpstr>PowerPoint 簡報</vt:lpstr>
      <vt:lpstr>PowerPoint 簡報</vt:lpstr>
      <vt:lpstr>THE END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crazyhysteria</dc:creator>
  <cp:lastModifiedBy>S220 ZYWu</cp:lastModifiedBy>
  <cp:revision>497</cp:revision>
  <dcterms:created xsi:type="dcterms:W3CDTF">2012-03-21T02:57:47Z</dcterms:created>
  <dcterms:modified xsi:type="dcterms:W3CDTF">2025-07-23T01:00:41Z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33800</vt:r8>
  </property>
  <property fmtid="{D5CDD505-2E9C-101B-9397-08002B2CF9AE}" pid="3" name="MetaInfo">
    <vt:lpwstr/>
  </property>
  <property fmtid="{D5CDD505-2E9C-101B-9397-08002B2CF9AE}" pid="4" name="ContentTypeId">
    <vt:lpwstr>0x01010100D00E37CF3D36214C86886AA9339343DC</vt:lpwstr>
  </property>
</Properties>
</file>