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957E9-4B11-ED21-ECFD-2783ED240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3DB933D-956F-B803-21BE-6CD5C8B55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E20818-4893-DA7C-0D1A-D3956341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3DB44A-0F0E-2364-C0F9-222FB522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FDFA04-1D10-B1C5-9286-3422C588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F1D71-5D88-878C-EC91-AA5BE5E5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5A2905-B6C7-05D5-9C20-0EC050D2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5B23D3-772B-B449-F38C-A8056C3D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11461B-2306-9412-68B9-6F2D29F5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B1D86A-2256-3B2C-F7B7-2B807753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4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65A1A-F565-4C6B-68A3-4BC898DB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15CA51-7269-338F-AD59-5C31529AC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9AFDF4-7895-CD23-4F04-0B6F89D9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8E3C1-7F33-7796-5F5E-11BA3101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B5824-46E1-87D9-2FE4-4135A44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B9857-E789-9593-7FF6-BE822454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120B46-8707-7CDA-4DF6-B1B436C62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8674CB-624F-D4CE-1641-436D02F3D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65E5C8-DE65-7D26-A292-24920FCF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08381-2AA4-31F2-5C54-639C196E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B5A496-F38F-EBA0-E4DC-8ACEA907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0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A6EC6-77B3-0BF8-0561-904F31EF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548BC2-8D9D-FF99-4585-E19032E5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10803-2E89-ACDD-BE7E-F4F018734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2BF4319-E8DF-B737-F54B-93C94124B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5F00DD-FC8C-26ED-4CBD-5D648076A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DF0F8D3-C7FE-2ECD-7569-26B56315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EA53AD-920A-1FC6-D968-39F39CF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9C5707-5054-D5DA-D19A-19DF7D8D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2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5E7607-0EC4-AB4E-B94C-F91ADE19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A3308E-D1BF-F80D-7294-3A41E971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01D7D7-AE98-9209-FCF0-6C5D965C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24449E-32AD-9074-2732-043AFB7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5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2CDC53-5E7B-DE40-F10E-FF38C5EF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C7E6535-19FA-FD86-EF31-1030BB76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8A452-40C1-8066-4888-DDFCB1B9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3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63B57-74FE-9AB3-65F1-CFAE2779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1257D0-71EF-A8EF-5192-839E143EF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933908-6ECF-A2CA-D4DD-2006D4C78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4B6E70-4950-360F-C15C-171D02DB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C3EAA1-B2AD-7C63-E923-25A9247B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866EB7-1DF9-8717-5AA4-DDBE55C4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810460-7C4B-D7F5-66F2-B6BDFA6B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C80BA7-146D-A1DD-DDDB-B617105F4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4BD7E4-C904-8633-3E1A-454F91974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19DA64-C6A5-89EA-CEAD-129DE74D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DFEE85-BC33-2F1A-C928-B877907E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B7C4EC-1CE4-A2FD-C6E2-8743AA76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A198C-45F9-1F57-9813-FA2039A4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4F1B1B-EC56-CBB9-9352-4034DD8CB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8702F0-FD58-6E33-9D43-7EEC072D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A2D3EB-F9C9-EE52-F410-EB885459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3F0532-D80F-53A7-8DE3-D3314F80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4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9BA142-4E2B-84C0-8FC3-FC04DF2B6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BF7866-7236-44D2-F26C-397607232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23DC80-759D-A39E-782B-3F697237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86DFA-19D0-0165-4A40-BD09A03E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11C59B-03D9-B5ED-B7AC-A53D0DF1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87DE83-678A-0A8A-7E7B-4435DC89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9836F8-99B0-1A2C-8160-C9CD4F54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794A14-19FB-E623-8498-CAED86700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75A8C-668F-4EB3-B7A9-C056273A96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B6133F-351C-7C25-1677-1F2D4B76A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CD513B-2488-F390-8433-126BBBD94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87CAB-D2BD-4C77-AE42-7EB9A378A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8D5D5E9-AF6C-157A-5D23-79CC99C23D23}"/>
              </a:ext>
            </a:extLst>
          </p:cNvPr>
          <p:cNvSpPr txBox="1"/>
          <p:nvPr/>
        </p:nvSpPr>
        <p:spPr>
          <a:xfrm>
            <a:off x="4494439" y="3136612"/>
            <a:ext cx="3203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爐管 真空系統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783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7452-A8AC-B0C4-0CC3-75823649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rani vacuum gauge sensor head｜Option / Consumable parts｜Leak  Detector｜Products｜ULVAC SHOWCASE">
            <a:extLst>
              <a:ext uri="{FF2B5EF4-FFF2-40B4-BE49-F238E27FC236}">
                <a16:creationId xmlns:a16="http://schemas.microsoft.com/office/drawing/2014/main" id="{637B478A-856D-B2D6-C3DD-EC090E792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3567" y="660892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deal Spectroscopy | MKS 626D 10 Torr Baratron Absolute Capacitance  Manometer, Vacuum Pressure Gauge Sensor, Vacuum Fitting KF-16, PN 626D11TDE">
            <a:extLst>
              <a:ext uri="{FF2B5EF4-FFF2-40B4-BE49-F238E27FC236}">
                <a16:creationId xmlns:a16="http://schemas.microsoft.com/office/drawing/2014/main" id="{30F06EFD-9C80-586F-2B48-E1D572C86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6713791" y="1335680"/>
            <a:ext cx="1888924" cy="188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97506FA-9354-7A43-265B-08DB79874CC3}"/>
              </a:ext>
            </a:extLst>
          </p:cNvPr>
          <p:cNvSpPr txBox="1"/>
          <p:nvPr/>
        </p:nvSpPr>
        <p:spPr>
          <a:xfrm>
            <a:off x="9082409" y="5934670"/>
            <a:ext cx="3099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T5/T6/P7/T9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有裝</a:t>
            </a:r>
            <a:r>
              <a:rPr lang="en-US" altLang="zh-TW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aratron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T6/P7/T9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抓</a:t>
            </a:r>
            <a:r>
              <a:rPr lang="en-US" altLang="zh-TW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aratron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壓力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(P1)</a:t>
            </a: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T5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抓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Pirani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壓力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(P3)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EBA6638-35A6-9473-1E6B-3A1E57852C6C}"/>
              </a:ext>
            </a:extLst>
          </p:cNvPr>
          <p:cNvSpPr txBox="1"/>
          <p:nvPr/>
        </p:nvSpPr>
        <p:spPr>
          <a:xfrm>
            <a:off x="1907071" y="665563"/>
            <a:ext cx="386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thermal conductivity Guage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en-US" b="1" dirty="0"/>
              <a:t>Pirani</a:t>
            </a:r>
            <a:r>
              <a:rPr lang="en-US" altLang="zh-TW" b="1" dirty="0"/>
              <a:t>)</a:t>
            </a:r>
            <a:endParaRPr lang="en-US" b="1" dirty="0"/>
          </a:p>
          <a:p>
            <a:r>
              <a:rPr lang="zh-TW" altLang="en-US" b="1" dirty="0"/>
              <a:t>熱傳導式真空計</a:t>
            </a:r>
            <a:endParaRPr lang="en-US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393FEB-764F-CB23-C848-AC895149A572}"/>
              </a:ext>
            </a:extLst>
          </p:cNvPr>
          <p:cNvSpPr txBox="1"/>
          <p:nvPr/>
        </p:nvSpPr>
        <p:spPr>
          <a:xfrm>
            <a:off x="6603517" y="654805"/>
            <a:ext cx="3322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Capacitance Guage (</a:t>
            </a:r>
            <a:r>
              <a:rPr lang="en-US" altLang="zh-TW" b="1" dirty="0" err="1"/>
              <a:t>B</a:t>
            </a:r>
            <a:r>
              <a:rPr lang="en-US" b="1" dirty="0" err="1"/>
              <a:t>aratron</a:t>
            </a:r>
            <a:r>
              <a:rPr lang="en-US" b="1" dirty="0"/>
              <a:t>)</a:t>
            </a:r>
          </a:p>
          <a:p>
            <a:r>
              <a:rPr lang="zh-TW" altLang="en-US" b="1" dirty="0"/>
              <a:t>電容式真空計</a:t>
            </a:r>
            <a:endParaRPr lang="en-US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AB14EE-1BD9-9851-2FDA-150BEF1AE819}"/>
              </a:ext>
            </a:extLst>
          </p:cNvPr>
          <p:cNvSpPr txBox="1"/>
          <p:nvPr/>
        </p:nvSpPr>
        <p:spPr>
          <a:xfrm>
            <a:off x="3294923" y="2456251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成本低</a:t>
            </a:r>
            <a:endParaRPr lang="en-US" altLang="zh-TW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不適用於極高度真空與大氣壓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0DE6CA-4710-69FC-11C6-DDC491F8DBB5}"/>
              </a:ext>
            </a:extLst>
          </p:cNvPr>
          <p:cNvSpPr txBox="1"/>
          <p:nvPr/>
        </p:nvSpPr>
        <p:spPr>
          <a:xfrm>
            <a:off x="8602715" y="2579361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1">
                    <a:lumMod val="75000"/>
                  </a:schemeClr>
                </a:solidFill>
              </a:rPr>
              <a:t>高精度、量測範圍廣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592334-7C31-735F-3F1F-84DF608172B7}"/>
              </a:ext>
            </a:extLst>
          </p:cNvPr>
          <p:cNvSpPr txBox="1"/>
          <p:nvPr/>
        </p:nvSpPr>
        <p:spPr>
          <a:xfrm>
            <a:off x="1371411" y="3567679"/>
            <a:ext cx="47436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由</a:t>
            </a:r>
            <a:r>
              <a:rPr lang="en-US" altLang="zh-TW" dirty="0"/>
              <a:t>2</a:t>
            </a:r>
            <a:r>
              <a:rPr lang="zh-TW" altLang="en-US" dirty="0"/>
              <a:t>條燈絲組成，一條置於待量測空間</a:t>
            </a:r>
            <a:br>
              <a:rPr lang="en-US" altLang="zh-TW" dirty="0"/>
            </a:br>
            <a:r>
              <a:rPr lang="zh-TW" altLang="en-US" dirty="0"/>
              <a:t>另一條置於固定壓力空間作為參考值</a:t>
            </a:r>
            <a:endParaRPr lang="en-US" altLang="zh-TW" dirty="0"/>
          </a:p>
          <a:p>
            <a:r>
              <a:rPr lang="zh-TW" altLang="en-US" dirty="0"/>
              <a:t>同時加熱兩者，量測其電阻變化推算出壓力</a:t>
            </a: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氣體壓力低</a:t>
            </a:r>
            <a:r>
              <a:rPr lang="en-US" altLang="zh-TW" dirty="0"/>
              <a:t>-&gt;</a:t>
            </a:r>
            <a:r>
              <a:rPr lang="zh-TW" altLang="en-US" dirty="0"/>
              <a:t>熱導率降低</a:t>
            </a:r>
            <a:r>
              <a:rPr lang="en-US" altLang="zh-TW" dirty="0"/>
              <a:t>-&gt;</a:t>
            </a:r>
            <a:r>
              <a:rPr lang="zh-TW" altLang="en-US" dirty="0"/>
              <a:t>燈絲冷卻變慢</a:t>
            </a:r>
            <a:r>
              <a:rPr lang="en-US" altLang="zh-TW" dirty="0"/>
              <a:t>-&gt;</a:t>
            </a:r>
            <a:br>
              <a:rPr lang="en-US" altLang="zh-TW" dirty="0"/>
            </a:br>
            <a:r>
              <a:rPr lang="zh-TW" altLang="en-US" dirty="0"/>
              <a:t>溫度變化</a:t>
            </a:r>
            <a:r>
              <a:rPr lang="en-US" altLang="zh-TW" dirty="0"/>
              <a:t>-&gt;</a:t>
            </a:r>
            <a:r>
              <a:rPr lang="zh-TW" altLang="en-US" dirty="0"/>
              <a:t>電阻值改變</a:t>
            </a:r>
            <a:r>
              <a:rPr lang="en-US" altLang="zh-TW" dirty="0"/>
              <a:t>-&gt;</a:t>
            </a:r>
            <a:r>
              <a:rPr lang="zh-TW" altLang="en-US" dirty="0"/>
              <a:t>透過惠斯登電橋計算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9BC5E4-DD6F-90BA-1CE7-94D169ADD8D2}"/>
              </a:ext>
            </a:extLst>
          </p:cNvPr>
          <p:cNvSpPr txBox="1"/>
          <p:nvPr/>
        </p:nvSpPr>
        <p:spPr>
          <a:xfrm>
            <a:off x="6465018" y="3567679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由金屬薄膜，隔離出參考真空與待測壓力空間</a:t>
            </a:r>
            <a:br>
              <a:rPr lang="en-US" altLang="zh-TW" dirty="0"/>
            </a:br>
            <a:r>
              <a:rPr lang="zh-TW" altLang="en-US" dirty="0"/>
              <a:t>薄膜與固定電極之間形成一個電容器</a:t>
            </a:r>
            <a:br>
              <a:rPr lang="en-US" altLang="zh-TW" dirty="0"/>
            </a:br>
            <a:r>
              <a:rPr lang="zh-TW" altLang="en-US" dirty="0"/>
              <a:t>壓力變化時，使薄膜變形並改變電容值</a:t>
            </a:r>
          </a:p>
          <a:p>
            <a:r>
              <a:rPr lang="zh-TW" altLang="en-US" dirty="0"/>
              <a:t>電路檢測電容變化，轉換為對應的壓力數值</a:t>
            </a:r>
            <a:r>
              <a:rPr lang="en-US" altLang="zh-TW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03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A9899-3CE7-A05E-825A-F263F699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11658F1-A2AA-BFE0-7A6F-1F3CAE722FC2}"/>
              </a:ext>
            </a:extLst>
          </p:cNvPr>
          <p:cNvSpPr txBox="1"/>
          <p:nvPr/>
        </p:nvSpPr>
        <p:spPr>
          <a:xfrm>
            <a:off x="127157" y="2274838"/>
            <a:ext cx="53097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一般機台</a:t>
            </a:r>
            <a:r>
              <a:rPr lang="en-US" altLang="zh-TW" dirty="0"/>
              <a:t>M3200</a:t>
            </a:r>
            <a:r>
              <a:rPr lang="zh-TW" altLang="en-US" dirty="0"/>
              <a:t>只有壓力</a:t>
            </a:r>
            <a:r>
              <a:rPr lang="en-US" altLang="zh-TW" dirty="0"/>
              <a:t>P1</a:t>
            </a:r>
            <a:r>
              <a:rPr lang="zh-TW" altLang="en-US" dirty="0"/>
              <a:t>，</a:t>
            </a:r>
            <a:r>
              <a:rPr lang="en-US" altLang="zh-TW" dirty="0"/>
              <a:t>P1</a:t>
            </a:r>
            <a:r>
              <a:rPr lang="zh-TW" altLang="en-US" dirty="0"/>
              <a:t>是指</a:t>
            </a:r>
            <a:r>
              <a:rPr lang="en-US" altLang="zh-TW" dirty="0"/>
              <a:t>PS1 (Pirani)</a:t>
            </a:r>
          </a:p>
          <a:p>
            <a:endParaRPr lang="en-US" altLang="zh-TW" dirty="0"/>
          </a:p>
          <a:p>
            <a:r>
              <a:rPr lang="en-US" altLang="zh-TW" dirty="0"/>
              <a:t>T5/T6/N7/P7/T9</a:t>
            </a:r>
            <a:r>
              <a:rPr lang="zh-TW" altLang="en-US" dirty="0"/>
              <a:t> 有</a:t>
            </a:r>
            <a:r>
              <a:rPr lang="en-US" altLang="zh-TW" dirty="0"/>
              <a:t>P1~P3</a:t>
            </a:r>
          </a:p>
          <a:p>
            <a:r>
              <a:rPr lang="en-US" altLang="zh-TW" dirty="0"/>
              <a:t>P1</a:t>
            </a:r>
            <a:r>
              <a:rPr lang="zh-TW" altLang="en-US" dirty="0"/>
              <a:t>是指</a:t>
            </a:r>
            <a:r>
              <a:rPr lang="en-US" altLang="zh-TW" dirty="0"/>
              <a:t>BS1 (</a:t>
            </a:r>
            <a:r>
              <a:rPr lang="en-US" altLang="zh-TW" dirty="0" err="1"/>
              <a:t>Baratron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en-US" altLang="zh-TW" dirty="0"/>
              <a:t>P2</a:t>
            </a:r>
            <a:r>
              <a:rPr lang="zh-TW" altLang="en-US" dirty="0"/>
              <a:t>是指</a:t>
            </a:r>
            <a:r>
              <a:rPr lang="en-US" altLang="zh-TW" dirty="0"/>
              <a:t>BS2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小砲管的</a:t>
            </a:r>
            <a:r>
              <a:rPr lang="en-US" altLang="zh-TW" dirty="0" err="1"/>
              <a:t>Baratron</a:t>
            </a:r>
            <a:r>
              <a:rPr lang="en-US" altLang="zh-TW" dirty="0"/>
              <a:t> 1000torr </a:t>
            </a:r>
            <a:r>
              <a:rPr lang="zh-TW" altLang="en-US" dirty="0"/>
              <a:t>，</a:t>
            </a:r>
            <a:r>
              <a:rPr lang="en-US" altLang="zh-TW" dirty="0"/>
              <a:t>ATM</a:t>
            </a:r>
            <a:r>
              <a:rPr lang="zh-TW" altLang="en-US" dirty="0"/>
              <a:t>判斷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en-US" altLang="zh-TW" dirty="0"/>
              <a:t>P3</a:t>
            </a:r>
            <a:r>
              <a:rPr lang="zh-TW" altLang="en-US" dirty="0"/>
              <a:t>是指</a:t>
            </a:r>
            <a:r>
              <a:rPr lang="en-US" altLang="zh-TW" dirty="0"/>
              <a:t>PS1</a:t>
            </a:r>
            <a:r>
              <a:rPr lang="zh-TW" altLang="en-US" dirty="0"/>
              <a:t> </a:t>
            </a:r>
            <a:r>
              <a:rPr lang="en-US" altLang="zh-TW" dirty="0"/>
              <a:t>(Pirani)</a:t>
            </a:r>
          </a:p>
          <a:p>
            <a:endParaRPr lang="en-US" dirty="0"/>
          </a:p>
          <a:p>
            <a:r>
              <a:rPr lang="en-US" altLang="zh-TW" dirty="0"/>
              <a:t>N7</a:t>
            </a:r>
            <a:r>
              <a:rPr lang="zh-TW" altLang="en-US" dirty="0"/>
              <a:t>雖然有</a:t>
            </a:r>
            <a:r>
              <a:rPr lang="en-US" altLang="zh-TW" dirty="0"/>
              <a:t>P1~P3</a:t>
            </a:r>
            <a:r>
              <a:rPr lang="zh-TW" altLang="en-US" dirty="0"/>
              <a:t>，但</a:t>
            </a:r>
            <a:r>
              <a:rPr lang="en-US" altLang="zh-TW" dirty="0"/>
              <a:t>P1</a:t>
            </a:r>
            <a:r>
              <a:rPr lang="zh-TW" altLang="en-US" dirty="0"/>
              <a:t>沒接東西</a:t>
            </a:r>
            <a:endParaRPr lang="en-US" dirty="0"/>
          </a:p>
        </p:txBody>
      </p:sp>
      <p:pic>
        <p:nvPicPr>
          <p:cNvPr id="12" name="圖片 11" descr="一張含有 文字, 電路, 室內 的圖片&#10;&#10;AI 產生的內容可能不正確。">
            <a:extLst>
              <a:ext uri="{FF2B5EF4-FFF2-40B4-BE49-F238E27FC236}">
                <a16:creationId xmlns:a16="http://schemas.microsoft.com/office/drawing/2014/main" id="{EB90FFD5-01BD-AF42-384E-35EB59E65E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21985" y="878408"/>
            <a:ext cx="2782861" cy="5210747"/>
          </a:xfrm>
          <a:prstGeom prst="rect">
            <a:avLst/>
          </a:prstGeom>
        </p:spPr>
      </p:pic>
      <p:pic>
        <p:nvPicPr>
          <p:cNvPr id="3" name="圖片 2" descr="一張含有 文字, 計分板, LED 顯示 的圖片&#10;&#10;AI 產生的內容可能不正確。">
            <a:extLst>
              <a:ext uri="{FF2B5EF4-FFF2-40B4-BE49-F238E27FC236}">
                <a16:creationId xmlns:a16="http://schemas.microsoft.com/office/drawing/2014/main" id="{47783523-1D08-E462-6033-34F2464537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4965" y="2469083"/>
            <a:ext cx="3677501" cy="19198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127A4FC-05BD-A8BA-5DAD-F32DA70F7AC5}"/>
              </a:ext>
            </a:extLst>
          </p:cNvPr>
          <p:cNvSpPr txBox="1"/>
          <p:nvPr/>
        </p:nvSpPr>
        <p:spPr>
          <a:xfrm>
            <a:off x="6988478" y="4398496"/>
            <a:ext cx="790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LP-N7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3FA5FE-98B2-F171-CCF2-623C497B1DDA}"/>
              </a:ext>
            </a:extLst>
          </p:cNvPr>
          <p:cNvSpPr/>
          <p:nvPr/>
        </p:nvSpPr>
        <p:spPr>
          <a:xfrm>
            <a:off x="10205980" y="3269921"/>
            <a:ext cx="451821" cy="641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C80725-C253-10B9-2F36-FBD93ECC75FC}"/>
              </a:ext>
            </a:extLst>
          </p:cNvPr>
          <p:cNvSpPr/>
          <p:nvPr/>
        </p:nvSpPr>
        <p:spPr>
          <a:xfrm>
            <a:off x="9660581" y="3269921"/>
            <a:ext cx="451821" cy="641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E9DE7-FA2C-486B-B775-5AE8531083E9}"/>
              </a:ext>
            </a:extLst>
          </p:cNvPr>
          <p:cNvSpPr/>
          <p:nvPr/>
        </p:nvSpPr>
        <p:spPr>
          <a:xfrm>
            <a:off x="11151315" y="2720596"/>
            <a:ext cx="708355" cy="505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C9DB7EC-A450-F936-6C15-81BB1A063B48}"/>
              </a:ext>
            </a:extLst>
          </p:cNvPr>
          <p:cNvSpPr txBox="1"/>
          <p:nvPr/>
        </p:nvSpPr>
        <p:spPr>
          <a:xfrm>
            <a:off x="11429541" y="288942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897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8F3C-8955-02C9-B313-F892088F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管線, 機器, 金屬, 工程 的圖片&#10;&#10;AI 產生的內容可能不正確。">
            <a:extLst>
              <a:ext uri="{FF2B5EF4-FFF2-40B4-BE49-F238E27FC236}">
                <a16:creationId xmlns:a16="http://schemas.microsoft.com/office/drawing/2014/main" id="{E3342135-166A-BBC8-6311-216BFE4C0B1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8943" y="3271481"/>
            <a:ext cx="3927242" cy="3225399"/>
          </a:xfrm>
          <a:prstGeom prst="rect">
            <a:avLst/>
          </a:prstGeom>
        </p:spPr>
      </p:pic>
      <p:pic>
        <p:nvPicPr>
          <p:cNvPr id="13" name="圖片 12" descr="一張含有 機器, 汽車零件, 管線, 鋼 的圖片&#10;&#10;AI 產生的內容可能不正確。">
            <a:extLst>
              <a:ext uri="{FF2B5EF4-FFF2-40B4-BE49-F238E27FC236}">
                <a16:creationId xmlns:a16="http://schemas.microsoft.com/office/drawing/2014/main" id="{5679A038-DC36-7E7C-B5B2-F2CCD81299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2564" y="203601"/>
            <a:ext cx="3295696" cy="2940860"/>
          </a:xfrm>
          <a:prstGeom prst="rect">
            <a:avLst/>
          </a:prstGeom>
        </p:spPr>
      </p:pic>
      <p:pic>
        <p:nvPicPr>
          <p:cNvPr id="2" name="圖片 1" descr="一張含有 文字, 電路, 室內 的圖片&#10;&#10;AI 產生的內容可能不正確。">
            <a:extLst>
              <a:ext uri="{FF2B5EF4-FFF2-40B4-BE49-F238E27FC236}">
                <a16:creationId xmlns:a16="http://schemas.microsoft.com/office/drawing/2014/main" id="{0A43F72C-0FFA-52B1-5C51-C62886D0EE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019" y="361119"/>
            <a:ext cx="4074310" cy="6135761"/>
          </a:xfrm>
          <a:prstGeom prst="rect">
            <a:avLst/>
          </a:prstGeom>
        </p:spPr>
      </p:pic>
      <p:pic>
        <p:nvPicPr>
          <p:cNvPr id="4" name="圖片 3" descr="一張含有 機器, 下沉、洗碗槽, 管線, 室內 的圖片&#10;&#10;AI 產生的內容可能不正確。">
            <a:extLst>
              <a:ext uri="{FF2B5EF4-FFF2-40B4-BE49-F238E27FC236}">
                <a16:creationId xmlns:a16="http://schemas.microsoft.com/office/drawing/2014/main" id="{6FA723B5-6981-B4BA-4B0D-FE9390208C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204398" y="233616"/>
            <a:ext cx="2969957" cy="2851732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D52A5F3D-5750-A8E0-A31F-F3BF3BE83AC2}"/>
              </a:ext>
            </a:extLst>
          </p:cNvPr>
          <p:cNvSpPr txBox="1"/>
          <p:nvPr/>
        </p:nvSpPr>
        <p:spPr>
          <a:xfrm>
            <a:off x="1266032" y="3924758"/>
            <a:ext cx="736099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P3</a:t>
            </a: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(PS1)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0E98E32-4E88-241C-D53E-6CB37409996C}"/>
              </a:ext>
            </a:extLst>
          </p:cNvPr>
          <p:cNvSpPr txBox="1"/>
          <p:nvPr/>
        </p:nvSpPr>
        <p:spPr>
          <a:xfrm>
            <a:off x="2078444" y="3938528"/>
            <a:ext cx="45717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0D741C3-AB50-25EE-BC3D-2969A0A94254}"/>
              </a:ext>
            </a:extLst>
          </p:cNvPr>
          <p:cNvSpPr txBox="1"/>
          <p:nvPr/>
        </p:nvSpPr>
        <p:spPr>
          <a:xfrm>
            <a:off x="3164434" y="2904710"/>
            <a:ext cx="45717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P2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C6DEDB5-FABB-A58D-47D7-C3BF1912D9E4}"/>
              </a:ext>
            </a:extLst>
          </p:cNvPr>
          <p:cNvSpPr txBox="1"/>
          <p:nvPr/>
        </p:nvSpPr>
        <p:spPr>
          <a:xfrm>
            <a:off x="3676695" y="5139183"/>
            <a:ext cx="588623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PS2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91BDB007-CB34-D8AA-A4DB-3B65401BCA9D}"/>
              </a:ext>
            </a:extLst>
          </p:cNvPr>
          <p:cNvSpPr txBox="1"/>
          <p:nvPr/>
        </p:nvSpPr>
        <p:spPr>
          <a:xfrm>
            <a:off x="5072586" y="1725849"/>
            <a:ext cx="736099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P3</a:t>
            </a: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(PS1)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194077F-26DA-1D8A-B135-C1164E526BF7}"/>
              </a:ext>
            </a:extLst>
          </p:cNvPr>
          <p:cNvSpPr txBox="1"/>
          <p:nvPr/>
        </p:nvSpPr>
        <p:spPr>
          <a:xfrm>
            <a:off x="7158457" y="333574"/>
            <a:ext cx="45717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C2F973A6-77A1-B7D8-4A94-21B1D621E8D4}"/>
              </a:ext>
            </a:extLst>
          </p:cNvPr>
          <p:cNvSpPr txBox="1"/>
          <p:nvPr/>
        </p:nvSpPr>
        <p:spPr>
          <a:xfrm>
            <a:off x="9091508" y="2002848"/>
            <a:ext cx="45717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P2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3A1840B-79EE-125E-B27C-8E49EBEB07E0}"/>
              </a:ext>
            </a:extLst>
          </p:cNvPr>
          <p:cNvSpPr txBox="1"/>
          <p:nvPr/>
        </p:nvSpPr>
        <p:spPr>
          <a:xfrm>
            <a:off x="8298024" y="3889608"/>
            <a:ext cx="588623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PS2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386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5A45-497B-A466-50EE-D6E64FC3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裝置, 儀表, 文字, 測量儀器 的圖片&#10;&#10;AI 產生的內容可能不正確。">
            <a:extLst>
              <a:ext uri="{FF2B5EF4-FFF2-40B4-BE49-F238E27FC236}">
                <a16:creationId xmlns:a16="http://schemas.microsoft.com/office/drawing/2014/main" id="{4E57EDF0-2A6D-9CEC-BD40-9A2418751CF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9710" y="1536366"/>
            <a:ext cx="7912873" cy="357011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C11E5D8-C99D-C605-5D21-05561F290EF5}"/>
              </a:ext>
            </a:extLst>
          </p:cNvPr>
          <p:cNvSpPr txBox="1"/>
          <p:nvPr/>
        </p:nvSpPr>
        <p:spPr>
          <a:xfrm>
            <a:off x="9528817" y="1997986"/>
            <a:ext cx="22526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量測範圍設定</a:t>
            </a:r>
            <a:endParaRPr lang="en-US" altLang="zh-TW" sz="2000" dirty="0"/>
          </a:p>
          <a:p>
            <a:r>
              <a:rPr lang="en-US" sz="2000" dirty="0">
                <a:solidFill>
                  <a:srgbClr val="FF0000"/>
                </a:solidFill>
              </a:rPr>
              <a:t>S: 0.003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–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20torr</a:t>
            </a:r>
            <a:endParaRPr lang="en-US" sz="2000" dirty="0"/>
          </a:p>
          <a:p>
            <a:r>
              <a:rPr lang="en-US" sz="2000" dirty="0"/>
              <a:t>H: 0.3</a:t>
            </a:r>
            <a:r>
              <a:rPr lang="zh-TW" altLang="en-US" sz="2000" dirty="0"/>
              <a:t> </a:t>
            </a:r>
            <a:r>
              <a:rPr lang="en-US" sz="2000" dirty="0"/>
              <a:t>–</a:t>
            </a:r>
            <a:r>
              <a:rPr lang="zh-TW" altLang="en-US" sz="2000" dirty="0"/>
              <a:t> </a:t>
            </a:r>
            <a:r>
              <a:rPr lang="en-US" sz="2000" dirty="0"/>
              <a:t>20</a:t>
            </a:r>
            <a:r>
              <a:rPr lang="en-US" altLang="zh-TW" sz="2000" dirty="0"/>
              <a:t>torr</a:t>
            </a:r>
            <a:endParaRPr lang="en-US" sz="2000" dirty="0"/>
          </a:p>
          <a:p>
            <a:r>
              <a:rPr lang="en-US" sz="2000" dirty="0"/>
              <a:t>L: 0.003</a:t>
            </a:r>
            <a:r>
              <a:rPr lang="zh-TW" altLang="en-US" sz="2000" dirty="0"/>
              <a:t> </a:t>
            </a:r>
            <a:r>
              <a:rPr lang="en-US" sz="2000" dirty="0"/>
              <a:t>-</a:t>
            </a:r>
            <a:r>
              <a:rPr lang="zh-TW" altLang="en-US" sz="2000" dirty="0"/>
              <a:t> </a:t>
            </a:r>
            <a:r>
              <a:rPr lang="en-US" sz="2000" dirty="0"/>
              <a:t>0.3torr</a:t>
            </a:r>
            <a:endParaRPr lang="en-US" altLang="zh-TW" sz="2000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162F351-9F22-59C7-0F54-60404135F367}"/>
              </a:ext>
            </a:extLst>
          </p:cNvPr>
          <p:cNvCxnSpPr>
            <a:cxnSpLocks/>
          </p:cNvCxnSpPr>
          <p:nvPr/>
        </p:nvCxnSpPr>
        <p:spPr>
          <a:xfrm flipH="1">
            <a:off x="6008237" y="3990559"/>
            <a:ext cx="67429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08E7363-68F4-0133-4110-1DD94992F7AC}"/>
              </a:ext>
            </a:extLst>
          </p:cNvPr>
          <p:cNvCxnSpPr>
            <a:cxnSpLocks/>
          </p:cNvCxnSpPr>
          <p:nvPr/>
        </p:nvCxnSpPr>
        <p:spPr>
          <a:xfrm flipH="1">
            <a:off x="8171867" y="4428774"/>
            <a:ext cx="6784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1AA3B5A2-A0F5-9E9F-3561-2C9B25D4B538}"/>
              </a:ext>
            </a:extLst>
          </p:cNvPr>
          <p:cNvCxnSpPr>
            <a:cxnSpLocks/>
          </p:cNvCxnSpPr>
          <p:nvPr/>
        </p:nvCxnSpPr>
        <p:spPr>
          <a:xfrm flipV="1">
            <a:off x="4784349" y="4661915"/>
            <a:ext cx="0" cy="5506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0E1EBF-E2CD-D713-90FD-56554F9E88F2}"/>
              </a:ext>
            </a:extLst>
          </p:cNvPr>
          <p:cNvSpPr txBox="1"/>
          <p:nvPr/>
        </p:nvSpPr>
        <p:spPr>
          <a:xfrm>
            <a:off x="1501299" y="5073118"/>
            <a:ext cx="3514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指針零點調整</a:t>
            </a:r>
            <a:br>
              <a:rPr lang="en-US" altLang="zh-TW" sz="2000" dirty="0"/>
            </a:br>
            <a:r>
              <a:rPr lang="zh-TW" altLang="en-US" sz="2000" dirty="0"/>
              <a:t>關電時，讓指針調整在最左邊</a:t>
            </a:r>
            <a:endParaRPr 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A6E8A63-3F45-2EB5-4B05-4896B7DA4899}"/>
              </a:ext>
            </a:extLst>
          </p:cNvPr>
          <p:cNvSpPr txBox="1"/>
          <p:nvPr/>
        </p:nvSpPr>
        <p:spPr>
          <a:xfrm>
            <a:off x="5876835" y="5964449"/>
            <a:ext cx="4590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調整</a:t>
            </a:r>
            <a:r>
              <a:rPr lang="en-US" altLang="zh-TW" sz="2000" dirty="0"/>
              <a:t>HIGH</a:t>
            </a:r>
            <a:r>
              <a:rPr lang="zh-TW" altLang="en-US" sz="2000" dirty="0"/>
              <a:t>、</a:t>
            </a:r>
            <a:r>
              <a:rPr lang="en-US" altLang="zh-TW" sz="2000" dirty="0"/>
              <a:t>LOW</a:t>
            </a:r>
            <a:r>
              <a:rPr lang="zh-TW" altLang="en-US" sz="2000" dirty="0"/>
              <a:t>指針範圍 </a:t>
            </a:r>
            <a:r>
              <a:rPr lang="en-US" altLang="zh-TW" sz="2000" dirty="0"/>
              <a:t>(</a:t>
            </a:r>
            <a:r>
              <a:rPr lang="zh-TW" altLang="en-US" sz="2000" dirty="0"/>
              <a:t>綠橘指針</a:t>
            </a:r>
            <a:r>
              <a:rPr lang="en-US" altLang="zh-TW" sz="2000" dirty="0"/>
              <a:t>)</a:t>
            </a:r>
            <a:endParaRPr 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02220BD-B470-1A36-C6D5-4E72B5A79C4F}"/>
              </a:ext>
            </a:extLst>
          </p:cNvPr>
          <p:cNvSpPr txBox="1"/>
          <p:nvPr/>
        </p:nvSpPr>
        <p:spPr>
          <a:xfrm>
            <a:off x="2226080" y="1040052"/>
            <a:ext cx="511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與</a:t>
            </a:r>
            <a:r>
              <a:rPr lang="en-US" altLang="zh-TW" sz="2000" dirty="0" err="1"/>
              <a:t>guage</a:t>
            </a:r>
            <a:r>
              <a:rPr lang="zh-TW" altLang="en-US" sz="2000" dirty="0"/>
              <a:t>斷線時，指針會轉至最右邊 </a:t>
            </a:r>
            <a:r>
              <a:rPr lang="en-US" altLang="zh-TW" sz="2000" dirty="0"/>
              <a:t>(</a:t>
            </a:r>
            <a:r>
              <a:rPr lang="zh-TW" altLang="en-US" sz="2000" dirty="0"/>
              <a:t>大氣壓</a:t>
            </a:r>
            <a:r>
              <a:rPr lang="en-US" altLang="zh-TW" sz="2000" dirty="0"/>
              <a:t>)</a:t>
            </a:r>
            <a:endParaRPr 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10A5C6A-FBA9-78C1-D179-797AA388B078}"/>
              </a:ext>
            </a:extLst>
          </p:cNvPr>
          <p:cNvSpPr txBox="1"/>
          <p:nvPr/>
        </p:nvSpPr>
        <p:spPr>
          <a:xfrm>
            <a:off x="9530843" y="4074831"/>
            <a:ext cx="23982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按下時切換至</a:t>
            </a:r>
            <a:endParaRPr lang="en-US" altLang="zh-TW" sz="2000" dirty="0"/>
          </a:p>
          <a:p>
            <a:r>
              <a:rPr lang="en-US" altLang="zh-TW" sz="2000" dirty="0"/>
              <a:t>HEAD 2 gauge (PS2)</a:t>
            </a:r>
            <a:endParaRPr lang="en-US" sz="2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9F7B76-7923-CF48-A1BA-1214823BB099}"/>
              </a:ext>
            </a:extLst>
          </p:cNvPr>
          <p:cNvSpPr/>
          <p:nvPr/>
        </p:nvSpPr>
        <p:spPr>
          <a:xfrm>
            <a:off x="3647708" y="3803951"/>
            <a:ext cx="2231216" cy="361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D4970A9-60AB-0D1A-C9B5-B8C638CE3E73}"/>
              </a:ext>
            </a:extLst>
          </p:cNvPr>
          <p:cNvCxnSpPr>
            <a:cxnSpLocks/>
          </p:cNvCxnSpPr>
          <p:nvPr/>
        </p:nvCxnSpPr>
        <p:spPr>
          <a:xfrm>
            <a:off x="6682529" y="3958345"/>
            <a:ext cx="0" cy="200610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6676F09-CF33-604E-F0C4-D8CE9E2E473E}"/>
              </a:ext>
            </a:extLst>
          </p:cNvPr>
          <p:cNvCxnSpPr>
            <a:cxnSpLocks/>
          </p:cNvCxnSpPr>
          <p:nvPr/>
        </p:nvCxnSpPr>
        <p:spPr>
          <a:xfrm flipH="1">
            <a:off x="8850342" y="2692337"/>
            <a:ext cx="6784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B44D4C39-3279-9441-03EC-54A3EE454CFD}"/>
              </a:ext>
            </a:extLst>
          </p:cNvPr>
          <p:cNvCxnSpPr>
            <a:cxnSpLocks/>
          </p:cNvCxnSpPr>
          <p:nvPr/>
        </p:nvCxnSpPr>
        <p:spPr>
          <a:xfrm flipV="1">
            <a:off x="8035636" y="3953165"/>
            <a:ext cx="136231" cy="341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3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裝置, 儀表, 文字, 測量儀器 的圖片&#10;&#10;AI 產生的內容可能不正確。">
            <a:extLst>
              <a:ext uri="{FF2B5EF4-FFF2-40B4-BE49-F238E27FC236}">
                <a16:creationId xmlns:a16="http://schemas.microsoft.com/office/drawing/2014/main" id="{CAAEA223-E977-1232-CFF0-222F498E3B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473" y="3824400"/>
            <a:ext cx="5605709" cy="2522569"/>
          </a:xfrm>
          <a:prstGeom prst="rect">
            <a:avLst/>
          </a:prstGeom>
        </p:spPr>
      </p:pic>
      <p:pic>
        <p:nvPicPr>
          <p:cNvPr id="5" name="圖片 4" descr="一張含有 室內, 牆, 視窗, 地板 的圖片&#10;&#10;AI 產生的內容可能不正確。">
            <a:extLst>
              <a:ext uri="{FF2B5EF4-FFF2-40B4-BE49-F238E27FC236}">
                <a16:creationId xmlns:a16="http://schemas.microsoft.com/office/drawing/2014/main" id="{F7731CF5-9686-0EE5-9305-4F6455FF47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3819" y="1788459"/>
            <a:ext cx="5688663" cy="328108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D1E0D61-CCF3-432B-2F3E-669AF69543A3}"/>
              </a:ext>
            </a:extLst>
          </p:cNvPr>
          <p:cNvSpPr txBox="1"/>
          <p:nvPr/>
        </p:nvSpPr>
        <p:spPr>
          <a:xfrm>
            <a:off x="4966524" y="131582"/>
            <a:ext cx="2258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/>
              <a:t>切換至</a:t>
            </a:r>
            <a:r>
              <a:rPr lang="en-US" altLang="zh-TW" sz="2400" b="1" dirty="0"/>
              <a:t>PS2</a:t>
            </a:r>
            <a:r>
              <a:rPr lang="zh-TW" altLang="en-US" sz="2400" b="1" dirty="0"/>
              <a:t>方式</a:t>
            </a:r>
            <a:endParaRPr lang="en-US" sz="24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B8351-C643-865D-0374-D1DE25F03BD9}"/>
              </a:ext>
            </a:extLst>
          </p:cNvPr>
          <p:cNvSpPr/>
          <p:nvPr/>
        </p:nvSpPr>
        <p:spPr>
          <a:xfrm>
            <a:off x="7767021" y="3033656"/>
            <a:ext cx="1065007" cy="1065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0BC1EEE-690D-3556-13A8-8E974B615549}"/>
              </a:ext>
            </a:extLst>
          </p:cNvPr>
          <p:cNvSpPr txBox="1"/>
          <p:nvPr/>
        </p:nvSpPr>
        <p:spPr>
          <a:xfrm>
            <a:off x="2581329" y="6429430"/>
            <a:ext cx="138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GUAGE</a:t>
            </a:r>
            <a:r>
              <a:rPr lang="zh-TW" altLang="en-US" dirty="0"/>
              <a:t>切換</a:t>
            </a:r>
            <a:endParaRPr 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BB6D7DA-C23C-D0F3-79D8-4ABA1722C9C8}"/>
              </a:ext>
            </a:extLst>
          </p:cNvPr>
          <p:cNvSpPr txBox="1"/>
          <p:nvPr/>
        </p:nvSpPr>
        <p:spPr>
          <a:xfrm>
            <a:off x="8444246" y="51528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手動閥開啟</a:t>
            </a:r>
            <a:endParaRPr lang="en-US" dirty="0"/>
          </a:p>
        </p:txBody>
      </p:sp>
      <p:sp>
        <p:nvSpPr>
          <p:cNvPr id="13" name="箭號: 向上 12">
            <a:extLst>
              <a:ext uri="{FF2B5EF4-FFF2-40B4-BE49-F238E27FC236}">
                <a16:creationId xmlns:a16="http://schemas.microsoft.com/office/drawing/2014/main" id="{76F8BC73-BD3A-164B-A37F-CD8F45901DE9}"/>
              </a:ext>
            </a:extLst>
          </p:cNvPr>
          <p:cNvSpPr/>
          <p:nvPr/>
        </p:nvSpPr>
        <p:spPr>
          <a:xfrm>
            <a:off x="4843752" y="6029566"/>
            <a:ext cx="320187" cy="328109"/>
          </a:xfrm>
          <a:prstGeom prst="upArrow">
            <a:avLst>
              <a:gd name="adj1" fmla="val 50000"/>
              <a:gd name="adj2" fmla="val 5853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圖片 13" descr="一張含有 文字, 電子產品, 時鐘, 機器 的圖片&#10;&#10;AI 產生的內容可能不正確。">
            <a:extLst>
              <a:ext uri="{FF2B5EF4-FFF2-40B4-BE49-F238E27FC236}">
                <a16:creationId xmlns:a16="http://schemas.microsoft.com/office/drawing/2014/main" id="{74F91C88-4CCD-B655-A911-552793F773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588" y="962852"/>
            <a:ext cx="5593593" cy="2548948"/>
          </a:xfrm>
          <a:prstGeom prst="rect">
            <a:avLst/>
          </a:prstGeom>
        </p:spPr>
      </p:pic>
      <p:sp>
        <p:nvSpPr>
          <p:cNvPr id="15" name="箭號: 向上 14">
            <a:extLst>
              <a:ext uri="{FF2B5EF4-FFF2-40B4-BE49-F238E27FC236}">
                <a16:creationId xmlns:a16="http://schemas.microsoft.com/office/drawing/2014/main" id="{06D5D644-7898-3D13-F30F-5479885F2ED7}"/>
              </a:ext>
            </a:extLst>
          </p:cNvPr>
          <p:cNvSpPr/>
          <p:nvPr/>
        </p:nvSpPr>
        <p:spPr>
          <a:xfrm>
            <a:off x="4599797" y="2877577"/>
            <a:ext cx="320187" cy="328109"/>
          </a:xfrm>
          <a:prstGeom prst="upArrow">
            <a:avLst>
              <a:gd name="adj1" fmla="val 50000"/>
              <a:gd name="adj2" fmla="val 5853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45DE5C4-6F8A-A9DF-7617-0008B58C51B0}"/>
              </a:ext>
            </a:extLst>
          </p:cNvPr>
          <p:cNvSpPr txBox="1"/>
          <p:nvPr/>
        </p:nvSpPr>
        <p:spPr>
          <a:xfrm>
            <a:off x="9875019" y="6211669"/>
            <a:ext cx="2316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N4/N6/N8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為新式</a:t>
            </a:r>
            <a:r>
              <a:rPr lang="en-US" b="0" i="0" dirty="0">
                <a:solidFill>
                  <a:srgbClr val="323130"/>
                </a:solidFill>
                <a:effectLst/>
                <a:latin typeface="Calibri" panose="020F0502020204030204" pitchFamily="34" charset="0"/>
              </a:rPr>
              <a:t>VAC</a:t>
            </a:r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N5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裝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種，使用舊式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55CA0DD-B309-89AA-AD3E-3CEFC7602C44}"/>
              </a:ext>
            </a:extLst>
          </p:cNvPr>
          <p:cNvSpPr txBox="1"/>
          <p:nvPr/>
        </p:nvSpPr>
        <p:spPr>
          <a:xfrm>
            <a:off x="742215" y="588530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舊式</a:t>
            </a:r>
            <a:endParaRPr lang="en-US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A791EC1-0943-F594-3E7A-98AAA7762EE3}"/>
              </a:ext>
            </a:extLst>
          </p:cNvPr>
          <p:cNvSpPr txBox="1"/>
          <p:nvPr/>
        </p:nvSpPr>
        <p:spPr>
          <a:xfrm>
            <a:off x="742216" y="304204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新式</a:t>
            </a:r>
            <a:endParaRPr lang="en-US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3711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362</Words>
  <Application>Microsoft Office PowerPoint</Application>
  <PresentationFormat>寬螢幕</PresentationFormat>
  <Paragraphs>49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9</cp:revision>
  <dcterms:created xsi:type="dcterms:W3CDTF">2025-08-15T06:54:09Z</dcterms:created>
  <dcterms:modified xsi:type="dcterms:W3CDTF">2025-08-20T01:41:37Z</dcterms:modified>
</cp:coreProperties>
</file>