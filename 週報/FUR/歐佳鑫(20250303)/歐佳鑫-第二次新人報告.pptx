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5"/>
  </p:notesMasterIdLst>
  <p:sldIdLst>
    <p:sldId id="257" r:id="rId4"/>
    <p:sldId id="262" r:id="rId5"/>
    <p:sldId id="403" r:id="rId6"/>
    <p:sldId id="408" r:id="rId7"/>
    <p:sldId id="396" r:id="rId8"/>
    <p:sldId id="402" r:id="rId9"/>
    <p:sldId id="404" r:id="rId10"/>
    <p:sldId id="405" r:id="rId11"/>
    <p:sldId id="389" r:id="rId12"/>
    <p:sldId id="401" r:id="rId13"/>
    <p:sldId id="3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08"/>
            <p14:sldId id="396"/>
            <p14:sldId id="402"/>
            <p14:sldId id="404"/>
            <p14:sldId id="405"/>
            <p14:sldId id="389"/>
            <p14:sldId id="401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2025/3/31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2025/3/31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2025.03.17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2025.04.02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機台程式及專業英文簡寫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更換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Parts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項次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 oxide YPM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Parts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66859"/>
              </p:ext>
            </p:extLst>
          </p:nvPr>
        </p:nvGraphicFramePr>
        <p:xfrm>
          <a:off x="828134" y="1283015"/>
          <a:ext cx="10535730" cy="472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RTP-4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25PM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377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WSIX-1D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危害性化學品標示教育訓練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YPM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2025/3/28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YPM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4130CF-F7AC-7AE2-4356-B2F1B8BE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61" y="113126"/>
            <a:ext cx="10363200" cy="1143000"/>
          </a:xfrm>
        </p:spPr>
        <p:txBody>
          <a:bodyPr/>
          <a:lstStyle/>
          <a:p>
            <a:r>
              <a:rPr kumimoji="0" lang="zh-TW" altLang="en-US" dirty="0">
                <a:solidFill>
                  <a:schemeClr val="tx1"/>
                </a:solidFill>
              </a:rPr>
              <a:t>機台</a:t>
            </a:r>
            <a:r>
              <a:rPr kumimoji="0" lang="zh-TW" altLang="en-US" sz="4000" dirty="0">
                <a:solidFill>
                  <a:schemeClr val="tx1"/>
                </a:solidFill>
              </a:rPr>
              <a:t>交接的專業英文縮寫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044E2A-EEC1-B7E2-9EDA-CB8109EA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6E6E09-64E7-3C70-F1BD-72CE28735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8055"/>
              </p:ext>
            </p:extLst>
          </p:nvPr>
        </p:nvGraphicFramePr>
        <p:xfrm>
          <a:off x="564861" y="1358022"/>
          <a:ext cx="10712739" cy="4740857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70913">
                  <a:extLst>
                    <a:ext uri="{9D8B030D-6E8A-4147-A177-3AD203B41FA5}">
                      <a16:colId xmlns:a16="http://schemas.microsoft.com/office/drawing/2014/main" val="2659056593"/>
                    </a:ext>
                  </a:extLst>
                </a:gridCol>
                <a:gridCol w="3570913">
                  <a:extLst>
                    <a:ext uri="{9D8B030D-6E8A-4147-A177-3AD203B41FA5}">
                      <a16:colId xmlns:a16="http://schemas.microsoft.com/office/drawing/2014/main" val="3218099520"/>
                    </a:ext>
                  </a:extLst>
                </a:gridCol>
                <a:gridCol w="3570913">
                  <a:extLst>
                    <a:ext uri="{9D8B030D-6E8A-4147-A177-3AD203B41FA5}">
                      <a16:colId xmlns:a16="http://schemas.microsoft.com/office/drawing/2014/main" val="3106578428"/>
                    </a:ext>
                  </a:extLst>
                </a:gridCol>
              </a:tblGrid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簡寫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完整英文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意思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18385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C/P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Collecting Parameter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資料收集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067835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F/D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Facility Down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設施當機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575621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K/T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K-Time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特單、換酸、加測產品無法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355494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L/T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Loss 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無貨可跑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待投料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468958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M/D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Machine Down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設備當機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6587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O/T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Other 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其他原因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739702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P/D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Process Down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製程當機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338610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PM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Prevented Maintenance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定期保養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87349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S/U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Set up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測機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416462"/>
                  </a:ext>
                </a:extLst>
              </a:tr>
              <a:tr h="430987"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U/T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Up 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TW" altLang="en-US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機台正常跑貨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613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56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6685B-F96B-74CC-E77A-BF4857F83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" y="0"/>
            <a:ext cx="10363200" cy="1143000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+mj-ea"/>
              </a:rPr>
              <a:t>機台使用程式及製程厚度</a:t>
            </a:r>
            <a:endParaRPr lang="en-US" dirty="0">
              <a:solidFill>
                <a:schemeClr val="tx1"/>
              </a:solidFill>
              <a:latin typeface="+mj-ea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F4CDD8E-D9F6-0FEB-9774-9F7F0FB9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89686-D657-4D1C-8F00-13410ADAFB5B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015D959-D017-C33C-0C29-30132FA3A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412645"/>
              </p:ext>
            </p:extLst>
          </p:nvPr>
        </p:nvGraphicFramePr>
        <p:xfrm>
          <a:off x="807720" y="1417638"/>
          <a:ext cx="10576560" cy="44805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762760">
                  <a:extLst>
                    <a:ext uri="{9D8B030D-6E8A-4147-A177-3AD203B41FA5}">
                      <a16:colId xmlns:a16="http://schemas.microsoft.com/office/drawing/2014/main" val="4198773687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583536390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924081096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1995276490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2456790512"/>
                    </a:ext>
                  </a:extLst>
                </a:gridCol>
                <a:gridCol w="1762760">
                  <a:extLst>
                    <a:ext uri="{9D8B030D-6E8A-4147-A177-3AD203B41FA5}">
                      <a16:colId xmlns:a16="http://schemas.microsoft.com/office/drawing/2014/main" val="89889793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程式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厚度</a:t>
                      </a:r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(Å)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/RS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溫度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反應溫度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TW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℃)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反應壓力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(torr)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3537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LP-Nitride(thick)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N01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1500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VR1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780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0.6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99756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LP-Nitride(thin)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N07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150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VR4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700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0.25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956193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N08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141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LP-TEOS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T05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1500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VR1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700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0.8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75106"/>
                  </a:ext>
                </a:extLst>
              </a:tr>
              <a:tr h="6400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LP-POLY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VR1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620+-5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24963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pPr algn="l"/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1480~1500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VR2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84619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9DFA2AE3-948A-6DA6-0EF0-142B35AD76F2}"/>
              </a:ext>
            </a:extLst>
          </p:cNvPr>
          <p:cNvSpPr txBox="1"/>
          <p:nvPr/>
        </p:nvSpPr>
        <p:spPr bwMode="auto">
          <a:xfrm>
            <a:off x="807720" y="6210300"/>
            <a:ext cx="3145536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zh-TW" altLang="en-US" dirty="0">
                <a:solidFill>
                  <a:srgbClr val="FF0000"/>
                </a:solidFill>
              </a:rPr>
              <a:t>備註</a:t>
            </a:r>
            <a:r>
              <a:rPr lang="en-US" altLang="zh-TW" dirty="0"/>
              <a:t>:</a:t>
            </a:r>
            <a:r>
              <a:rPr kumimoji="0" lang="en-US" dirty="0"/>
              <a:t>1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Å=10</a:t>
            </a:r>
            <a:r>
              <a:rPr lang="en-US" altLang="zh-TW" sz="18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-1</a:t>
            </a:r>
            <a:r>
              <a:rPr lang="en-US" altLang="zh-TW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=10</a:t>
            </a:r>
            <a:r>
              <a:rPr lang="en-US" altLang="zh-TW" sz="18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-4</a:t>
            </a:r>
            <a:r>
              <a:rPr lang="el-GR" altLang="zh-TW" sz="1800" baseline="30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l-GR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μ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6863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90B706-8E6E-1F12-F973-CF8BF51C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57" y="291064"/>
            <a:ext cx="10363200" cy="8262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更換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項次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(LP-POLY)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4EE100-F490-FEA5-B77F-517C04F2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89686-D657-4D1C-8F00-13410ADAFB5B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4A1C059-80F7-6B35-A656-EEE34795F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62937"/>
              </p:ext>
            </p:extLst>
          </p:nvPr>
        </p:nvGraphicFramePr>
        <p:xfrm>
          <a:off x="484632" y="1346764"/>
          <a:ext cx="11402568" cy="340176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0214">
                  <a:extLst>
                    <a:ext uri="{9D8B030D-6E8A-4147-A177-3AD203B41FA5}">
                      <a16:colId xmlns:a16="http://schemas.microsoft.com/office/drawing/2014/main" val="1960150346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3805536572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3733795289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1117902102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2181746624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3788934528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2972570935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1499489513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449404517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4171286749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4275532454"/>
                    </a:ext>
                  </a:extLst>
                </a:gridCol>
                <a:gridCol w="950214">
                  <a:extLst>
                    <a:ext uri="{9D8B030D-6E8A-4147-A177-3AD203B41FA5}">
                      <a16:colId xmlns:a16="http://schemas.microsoft.com/office/drawing/2014/main" val="1428598570"/>
                    </a:ext>
                  </a:extLst>
                </a:gridCol>
              </a:tblGrid>
              <a:tr h="948136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     Parts</a:t>
                      </a:r>
                    </a:p>
                    <a:p>
                      <a:pPr algn="l"/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Transfer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Boat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保溫筒</a:t>
                      </a:r>
                      <a:endParaRPr lang="zh-TW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(NW50)pipe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Manifold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賓士盤</a:t>
                      </a:r>
                      <a:b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Cap</a:t>
                      </a:r>
                    </a:p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Shutter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內管</a:t>
                      </a:r>
                      <a:b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外管</a:t>
                      </a:r>
                      <a:endParaRPr lang="zh-TW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Injector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120mm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310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mm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altLang="zh-TW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0mm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MV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APC + </a:t>
                      </a:r>
                      <a:b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Pumping line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QSV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Burn box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13735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77919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BPM(1PM)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4"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6276291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BPM(2PM)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gridSpan="4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941439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BPM(3PM)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gridSpan="4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529405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BPM(4PM)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gridSpan="4" v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191136"/>
                  </a:ext>
                </a:extLst>
              </a:tr>
              <a:tr h="408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BPM(5PM)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791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65FD68-52D8-1F27-611B-196F6C927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942518"/>
              </p:ext>
            </p:extLst>
          </p:nvPr>
        </p:nvGraphicFramePr>
        <p:xfrm>
          <a:off x="9248140" y="5207341"/>
          <a:ext cx="2501900" cy="607790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3434949795"/>
                    </a:ext>
                  </a:extLst>
                </a:gridCol>
              </a:tblGrid>
              <a:tr h="3167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Leak rate </a:t>
                      </a: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175965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SPEC: 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≦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0.00Torr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130sec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14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21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90B706-8E6E-1F12-F973-CF8BF51C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201294"/>
            <a:ext cx="10363200" cy="8262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更換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項次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(NITRIDE)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4EE100-F490-FEA5-B77F-517C04F2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89686-D657-4D1C-8F00-13410ADAFB5B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4A1C059-80F7-6B35-A656-EEE34795F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17562"/>
              </p:ext>
            </p:extLst>
          </p:nvPr>
        </p:nvGraphicFramePr>
        <p:xfrm>
          <a:off x="329184" y="1096244"/>
          <a:ext cx="11786619" cy="473486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06663">
                  <a:extLst>
                    <a:ext uri="{9D8B030D-6E8A-4147-A177-3AD203B41FA5}">
                      <a16:colId xmlns:a16="http://schemas.microsoft.com/office/drawing/2014/main" val="1960150346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3805536572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3733795289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1117902102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2181746624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3788934528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2972570935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1499489513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449404517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4171286749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4275532454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1428598570"/>
                    </a:ext>
                  </a:extLst>
                </a:gridCol>
                <a:gridCol w="906663">
                  <a:extLst>
                    <a:ext uri="{9D8B030D-6E8A-4147-A177-3AD203B41FA5}">
                      <a16:colId xmlns:a16="http://schemas.microsoft.com/office/drawing/2014/main" val="2272409420"/>
                    </a:ext>
                  </a:extLst>
                </a:gridCol>
              </a:tblGrid>
              <a:tr h="732611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      Parts</a:t>
                      </a:r>
                    </a:p>
                    <a:p>
                      <a:pPr algn="l"/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Transfer 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BOAT 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(SIC)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(5+7)Fin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pedestal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保溫筒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pipe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bellow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Cold 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trap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Manifold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賓士盤</a:t>
                      </a:r>
                      <a:b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Spindle</a:t>
                      </a:r>
                    </a:p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Shutter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內管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外管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Pressure 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bellow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Injector</a:t>
                      </a:r>
                    </a:p>
                    <a:p>
                      <a:pPr algn="ctr" fontAlgn="ctr"/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mm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45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mm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500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mm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MV 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APC + </a:t>
                      </a:r>
                      <a:b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pumping line</a:t>
                      </a:r>
                    </a:p>
                  </a:txBody>
                  <a:tcPr marL="5011" marR="5011" marT="5011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13735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6085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BPM(1PM)</a:t>
                      </a:r>
                      <a:endParaRPr kumimoji="0"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196382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BPM(2PM)</a:t>
                      </a:r>
                      <a:endParaRPr kumimoji="0"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081476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BPM(3PM)</a:t>
                      </a:r>
                      <a:endParaRPr kumimoji="0"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81333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BPM(4PM)</a:t>
                      </a:r>
                      <a:endParaRPr kumimoji="0"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8821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65FD68-52D8-1F27-611B-196F6C927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14119"/>
              </p:ext>
            </p:extLst>
          </p:nvPr>
        </p:nvGraphicFramePr>
        <p:xfrm>
          <a:off x="8892286" y="5994273"/>
          <a:ext cx="2501900" cy="607790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3434949795"/>
                    </a:ext>
                  </a:extLst>
                </a:gridCol>
              </a:tblGrid>
              <a:tr h="3167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Leak rate </a:t>
                      </a: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175965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SPEC: 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≦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0.02Torr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130sec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14463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9EBB04B9-86BA-933B-A554-0D5B715E0343}"/>
              </a:ext>
            </a:extLst>
          </p:cNvPr>
          <p:cNvSpPr txBox="1"/>
          <p:nvPr/>
        </p:nvSpPr>
        <p:spPr bwMode="auto">
          <a:xfrm>
            <a:off x="496824" y="5891486"/>
            <a:ext cx="25019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THIN----N2</a:t>
            </a:r>
            <a:r>
              <a:rPr kumimoji="0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0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N6</a:t>
            </a:r>
            <a:endParaRPr kumimoji="0"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1686146-3148-7012-5646-813D2687692A}"/>
              </a:ext>
            </a:extLst>
          </p:cNvPr>
          <p:cNvSpPr txBox="1"/>
          <p:nvPr/>
        </p:nvSpPr>
        <p:spPr bwMode="auto">
          <a:xfrm>
            <a:off x="496824" y="6298168"/>
            <a:ext cx="3636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THICK----N3</a:t>
            </a:r>
            <a:r>
              <a:rPr kumimoji="0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0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N4</a:t>
            </a:r>
            <a:r>
              <a:rPr kumimoji="0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0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N5</a:t>
            </a:r>
            <a:r>
              <a:rPr kumimoji="0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0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N7</a:t>
            </a:r>
            <a:endParaRPr kumimoji="0"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49FBFB-D86A-AB44-29A2-76F37E81DEDF}"/>
              </a:ext>
            </a:extLst>
          </p:cNvPr>
          <p:cNvSpPr txBox="1"/>
          <p:nvPr/>
        </p:nvSpPr>
        <p:spPr bwMode="auto">
          <a:xfrm>
            <a:off x="2336737" y="5910161"/>
            <a:ext cx="60946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fontAlgn="ctr"/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N1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800" b="0" i="0" u="none" strike="noStrike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依產能需求切換厚薄，厚薄切換需要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test run</a:t>
            </a:r>
            <a:endParaRPr lang="en-US" sz="1800" b="0" i="0" u="none" strike="noStrike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27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90B706-8E6E-1F12-F973-CF8BF51C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308253"/>
            <a:ext cx="10363200" cy="82629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更換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項次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(TEOS)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4EE100-F490-FEA5-B77F-517C04F2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89686-D657-4D1C-8F00-13410ADAFB5B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4A1C059-80F7-6B35-A656-EEE34795F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690923"/>
              </p:ext>
            </p:extLst>
          </p:nvPr>
        </p:nvGraphicFramePr>
        <p:xfrm>
          <a:off x="320040" y="1346764"/>
          <a:ext cx="11768325" cy="400327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84555">
                  <a:extLst>
                    <a:ext uri="{9D8B030D-6E8A-4147-A177-3AD203B41FA5}">
                      <a16:colId xmlns:a16="http://schemas.microsoft.com/office/drawing/2014/main" val="1960150346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3805536572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3733795289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1117902102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2181746624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3788934528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2972570935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1499489513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449404517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4171286749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4275532454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1428598570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2272409420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3951049745"/>
                    </a:ext>
                  </a:extLst>
                </a:gridCol>
                <a:gridCol w="784555">
                  <a:extLst>
                    <a:ext uri="{9D8B030D-6E8A-4147-A177-3AD203B41FA5}">
                      <a16:colId xmlns:a16="http://schemas.microsoft.com/office/drawing/2014/main" val="2816785721"/>
                    </a:ext>
                  </a:extLst>
                </a:gridCol>
              </a:tblGrid>
              <a:tr h="7326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Parts</a:t>
                      </a:r>
                    </a:p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Transfer 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check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BOAT 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(SIC)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5 fin 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Pedestal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保溫筒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(NW50)pipe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銜接環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bellow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Cold trap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Manifold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賓士盤</a:t>
                      </a:r>
                      <a:b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Cap</a:t>
                      </a:r>
                    </a:p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Shutter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內管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外管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Injector</a:t>
                      </a:r>
                    </a:p>
                    <a:p>
                      <a:pPr algn="ctr" fontAlgn="ctr"/>
                      <a:r>
                        <a:rPr lang="zh-TW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平口</a:t>
                      </a:r>
                      <a:endParaRPr lang="en-US" altLang="zh-TW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25mm</a:t>
                      </a:r>
                    </a:p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1000mm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Pressure 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bellow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MV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APC + </a:t>
                      </a:r>
                      <a:b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</a:b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pumping line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QSV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Burn box</a:t>
                      </a:r>
                    </a:p>
                  </a:txBody>
                  <a:tcPr marL="6029" marR="6029" marT="602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413735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kumimoji="0" lang="en-US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596085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BPM(1PM)</a:t>
                      </a:r>
                      <a:endParaRPr kumimoji="0"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✖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196382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BPM(2PM)</a:t>
                      </a:r>
                      <a:endParaRPr kumimoji="0"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081476"/>
                  </a:ext>
                </a:extLst>
              </a:tr>
              <a:tr h="73261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BPM(3PM)</a:t>
                      </a:r>
                      <a:endParaRPr kumimoji="0"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64" marR="6364" marT="636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✓</a:t>
                      </a:r>
                      <a:endParaRPr kumimoji="0" 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011" marR="5011" marT="501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8133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065FD68-52D8-1F27-611B-196F6C927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366874"/>
              </p:ext>
            </p:extLst>
          </p:nvPr>
        </p:nvGraphicFramePr>
        <p:xfrm>
          <a:off x="8681212" y="6059710"/>
          <a:ext cx="2501900" cy="607790"/>
        </p:xfrm>
        <a:graphic>
          <a:graphicData uri="http://schemas.openxmlformats.org/drawingml/2006/table">
            <a:tbl>
              <a:tblPr/>
              <a:tblGrid>
                <a:gridCol w="2501900">
                  <a:extLst>
                    <a:ext uri="{9D8B030D-6E8A-4147-A177-3AD203B41FA5}">
                      <a16:colId xmlns:a16="http://schemas.microsoft.com/office/drawing/2014/main" val="3434949795"/>
                    </a:ext>
                  </a:extLst>
                </a:gridCol>
              </a:tblGrid>
              <a:tr h="3167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Leak rate </a:t>
                      </a: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175965"/>
                  </a:ext>
                </a:extLst>
              </a:tr>
              <a:tr h="2910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SPEC: 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≦</a:t>
                      </a:r>
                      <a:r>
                        <a:rPr 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0.02Torr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70sec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144632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681571F-B018-0B90-FC14-0F5592B161B3}"/>
              </a:ext>
            </a:extLst>
          </p:cNvPr>
          <p:cNvSpPr txBox="1"/>
          <p:nvPr/>
        </p:nvSpPr>
        <p:spPr bwMode="auto">
          <a:xfrm>
            <a:off x="463488" y="5767268"/>
            <a:ext cx="60946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fontAlgn="ctr"/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T9 BOAT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QUARTZ, other using to SIC</a:t>
            </a:r>
          </a:p>
        </p:txBody>
      </p:sp>
    </p:spTree>
    <p:extLst>
      <p:ext uri="{BB962C8B-B14F-4D97-AF65-F5344CB8AC3E}">
        <p14:creationId xmlns:p14="http://schemas.microsoft.com/office/powerpoint/2010/main" val="1701712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0CF335A-72F3-11D8-CA43-B6A5A672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BD22BC-F67E-46D2-849E-9F03595A7E7A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28A498-83DA-E257-2955-0950795D317F}"/>
              </a:ext>
            </a:extLst>
          </p:cNvPr>
          <p:cNvSpPr txBox="1"/>
          <p:nvPr/>
        </p:nvSpPr>
        <p:spPr bwMode="auto">
          <a:xfrm>
            <a:off x="335631" y="216379"/>
            <a:ext cx="507914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xide YPM</a:t>
            </a:r>
            <a:endParaRPr kumimoji="0"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9A2DEC8F-D92E-C9FA-6551-00282406E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139" y="1085556"/>
            <a:ext cx="7631113" cy="701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關加熱器電源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(208V)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卸下 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、保溫磚、保溫桶的蓋子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拆下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shutter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exhaust pipe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torch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拆管：將治具放在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B/E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並拆下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tube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，並送至洗管間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manifold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tube lock ring</a:t>
            </a:r>
          </a:p>
          <a:p>
            <a:pPr>
              <a:lnSpc>
                <a:spcPct val="200000"/>
              </a:lnSpc>
              <a:buFontTx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安裝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tube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torch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exhaust pipe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、保溫磚、保溫桶的蓋子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 startAt="7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檢查壓縮狀況：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sensor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燈亮後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+0.5~1(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考量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cap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壓縮狀況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  <a:buFont typeface="+mj-lt"/>
              <a:buAutoNum type="arabicPeriod" startAt="7"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檢查：承接、傳送、氫氧點火時間是否正常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+mj-lt"/>
              <a:buAutoNum type="arabicPeriod" startAt="7"/>
            </a:pPr>
            <a:r>
              <a:rPr kumimoji="0"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</a:t>
            </a:r>
            <a:r>
              <a:rPr kumimoji="0"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SS-5</a:t>
            </a:r>
            <a:r>
              <a:rPr kumimoji="0"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看</a:t>
            </a:r>
            <a:r>
              <a:rPr kumimoji="0"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before &amp; after</a:t>
            </a:r>
            <a:r>
              <a:rPr kumimoji="0"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檢查是否刮到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 startAt="7"/>
            </a:pPr>
            <a:r>
              <a:rPr kumimoji="0"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請 </a:t>
            </a:r>
            <a:r>
              <a:rPr kumimoji="0"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EA run LK</a:t>
            </a:r>
            <a:r>
              <a:rPr kumimoji="0"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後續流程</a:t>
            </a:r>
            <a:endParaRPr kumimoji="0"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 startAt="7"/>
            </a:pPr>
            <a:endParaRPr lang="en-US" altLang="zh-TW" b="1" dirty="0"/>
          </a:p>
          <a:p>
            <a:pPr marL="342900" indent="-342900" algn="l">
              <a:buFont typeface="+mj-lt"/>
              <a:buAutoNum type="arabicPeriod" startAt="7"/>
            </a:pPr>
            <a:endParaRPr kumimoji="0" lang="zh-TW" altLang="en-US" b="1" dirty="0"/>
          </a:p>
          <a:p>
            <a:pPr>
              <a:buFontTx/>
              <a:buAutoNum type="arabicPeriod"/>
            </a:pP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A6AACE7B-C39C-47AC-6634-CD6FAB249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332" y="1283376"/>
            <a:ext cx="2897436" cy="218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A0058B-8D1C-02FD-0122-491AC02AD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332" y="3663396"/>
            <a:ext cx="2923446" cy="2252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66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44E21E1B-275C-7325-2D66-D74922F7722F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C6D6922-2D8D-3D8C-C0B5-59D877F4044F}"/>
              </a:ext>
            </a:extLst>
          </p:cNvPr>
          <p:cNvSpPr txBox="1"/>
          <p:nvPr/>
        </p:nvSpPr>
        <p:spPr bwMode="auto">
          <a:xfrm>
            <a:off x="5711784" y="93920"/>
            <a:ext cx="3849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實際</a:t>
            </a: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</a:t>
            </a:r>
            <a:r>
              <a:rPr kumimoji="0"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獨立作業</a:t>
            </a:r>
            <a:endParaRPr kumimoji="0"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4B79B19-75F0-2197-BD07-8CD163EDA311}"/>
              </a:ext>
            </a:extLst>
          </p:cNvPr>
          <p:cNvGrpSpPr/>
          <p:nvPr/>
        </p:nvGrpSpPr>
        <p:grpSpPr>
          <a:xfrm>
            <a:off x="438571" y="56008"/>
            <a:ext cx="4977189" cy="6603872"/>
            <a:chOff x="968923" y="63628"/>
            <a:chExt cx="4977189" cy="6603872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53B9E16-2254-BD48-A2C1-CA4BE33C5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925" y="63628"/>
              <a:ext cx="4977187" cy="660387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BB3AB8C-F74C-923F-4682-49DF577E7171}"/>
                </a:ext>
              </a:extLst>
            </p:cNvPr>
            <p:cNvSpPr/>
            <p:nvPr/>
          </p:nvSpPr>
          <p:spPr>
            <a:xfrm>
              <a:off x="968925" y="2633472"/>
              <a:ext cx="3127587" cy="448056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C3FCE4C4-E89D-42DE-6E80-0294A7139F28}"/>
                </a:ext>
              </a:extLst>
            </p:cNvPr>
            <p:cNvSpPr/>
            <p:nvPr/>
          </p:nvSpPr>
          <p:spPr>
            <a:xfrm>
              <a:off x="968924" y="1920874"/>
              <a:ext cx="3127587" cy="296352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8918EFE8-787B-17A6-F772-CF17D8276738}"/>
                </a:ext>
              </a:extLst>
            </p:cNvPr>
            <p:cNvSpPr/>
            <p:nvPr/>
          </p:nvSpPr>
          <p:spPr>
            <a:xfrm>
              <a:off x="968924" y="488630"/>
              <a:ext cx="3127587" cy="1303594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DF6E2DA0-1510-4C27-54FB-DF4AEE7A1655}"/>
                </a:ext>
              </a:extLst>
            </p:cNvPr>
            <p:cNvSpPr/>
            <p:nvPr/>
          </p:nvSpPr>
          <p:spPr>
            <a:xfrm>
              <a:off x="968923" y="3344574"/>
              <a:ext cx="3127587" cy="154813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D3189B3A-DC9B-7E0E-3111-37967E2FE0C7}"/>
                </a:ext>
              </a:extLst>
            </p:cNvPr>
            <p:cNvSpPr/>
            <p:nvPr/>
          </p:nvSpPr>
          <p:spPr>
            <a:xfrm>
              <a:off x="968923" y="3642644"/>
              <a:ext cx="3127587" cy="154813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09762F65-7E2F-68B1-6342-5E4B5190F842}"/>
                </a:ext>
              </a:extLst>
            </p:cNvPr>
            <p:cNvSpPr/>
            <p:nvPr/>
          </p:nvSpPr>
          <p:spPr>
            <a:xfrm>
              <a:off x="968923" y="3922776"/>
              <a:ext cx="3127587" cy="154813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F088108-F863-193D-AA66-E96EFCE68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325472"/>
              </p:ext>
            </p:extLst>
          </p:nvPr>
        </p:nvGraphicFramePr>
        <p:xfrm>
          <a:off x="5711784" y="742620"/>
          <a:ext cx="6041643" cy="553017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013881">
                  <a:extLst>
                    <a:ext uri="{9D8B030D-6E8A-4147-A177-3AD203B41FA5}">
                      <a16:colId xmlns:a16="http://schemas.microsoft.com/office/drawing/2014/main" val="735248566"/>
                    </a:ext>
                  </a:extLst>
                </a:gridCol>
                <a:gridCol w="2013881">
                  <a:extLst>
                    <a:ext uri="{9D8B030D-6E8A-4147-A177-3AD203B41FA5}">
                      <a16:colId xmlns:a16="http://schemas.microsoft.com/office/drawing/2014/main" val="784774244"/>
                    </a:ext>
                  </a:extLst>
                </a:gridCol>
                <a:gridCol w="2013881">
                  <a:extLst>
                    <a:ext uri="{9D8B030D-6E8A-4147-A177-3AD203B41FA5}">
                      <a16:colId xmlns:a16="http://schemas.microsoft.com/office/drawing/2014/main" val="1253571973"/>
                    </a:ext>
                  </a:extLst>
                </a:gridCol>
              </a:tblGrid>
              <a:tr h="784535">
                <a:tc>
                  <a:txBody>
                    <a:bodyPr/>
                    <a:lstStyle/>
                    <a:p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PM</a:t>
                      </a:r>
                    </a:p>
                    <a:p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SPM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BPM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516587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720397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NITRIDE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080625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723559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QPM</a:t>
                      </a:r>
                      <a:r>
                        <a:rPr lang="en-US" altLang="zh-TW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YPM</a:t>
                      </a:r>
                      <a:r>
                        <a:rPr lang="en-US" altLang="zh-TW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265295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 oxide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509969"/>
                  </a:ext>
                </a:extLst>
              </a:tr>
              <a:tr h="7845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474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349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17533</TotalTime>
  <Words>781</Words>
  <Application>Microsoft Office PowerPoint</Application>
  <PresentationFormat>寬螢幕</PresentationFormat>
  <Paragraphs>310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標楷體</vt:lpstr>
      <vt:lpstr>Calibri</vt:lpstr>
      <vt:lpstr>Franklin Gothic Book</vt:lpstr>
      <vt:lpstr>Times New Roman</vt:lpstr>
      <vt:lpstr>Wingdings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機台交接的專業英文縮寫</vt:lpstr>
      <vt:lpstr>機台使用程式及製程厚度</vt:lpstr>
      <vt:lpstr>PM更換Parts項次 (LP-POLY)</vt:lpstr>
      <vt:lpstr>PM更換Parts項次 (NITRIDE)</vt:lpstr>
      <vt:lpstr>PM更換Parts項次 (TEOS)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176</cp:revision>
  <dcterms:created xsi:type="dcterms:W3CDTF">2024-08-30T08:59:27Z</dcterms:created>
  <dcterms:modified xsi:type="dcterms:W3CDTF">2025-03-31T10:34:35Z</dcterms:modified>
</cp:coreProperties>
</file>