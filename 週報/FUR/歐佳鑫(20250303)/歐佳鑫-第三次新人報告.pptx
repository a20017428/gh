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8"/>
  </p:notesMasterIdLst>
  <p:sldIdLst>
    <p:sldId id="257" r:id="rId4"/>
    <p:sldId id="262" r:id="rId5"/>
    <p:sldId id="403" r:id="rId6"/>
    <p:sldId id="404" r:id="rId7"/>
    <p:sldId id="405" r:id="rId8"/>
    <p:sldId id="406" r:id="rId9"/>
    <p:sldId id="407" r:id="rId10"/>
    <p:sldId id="408" r:id="rId11"/>
    <p:sldId id="411" r:id="rId12"/>
    <p:sldId id="410" r:id="rId13"/>
    <p:sldId id="412" r:id="rId14"/>
    <p:sldId id="413" r:id="rId15"/>
    <p:sldId id="414" r:id="rId16"/>
    <p:sldId id="3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04"/>
            <p14:sldId id="405"/>
            <p14:sldId id="406"/>
            <p14:sldId id="407"/>
            <p14:sldId id="408"/>
            <p14:sldId id="411"/>
            <p14:sldId id="410"/>
            <p14:sldId id="412"/>
            <p14:sldId id="413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2025/4/14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jpeg"/><Relationship Id="rId9" Type="http://schemas.openxmlformats.org/officeDocument/2006/relationships/image" Target="../media/image4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2025.3.31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2025.04.11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GRD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保養程序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WSIX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保養程序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98722"/>
              </p:ext>
            </p:extLst>
          </p:nvPr>
        </p:nvGraphicFramePr>
        <p:xfrm>
          <a:off x="828134" y="1283015"/>
          <a:ext cx="10535730" cy="472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2025/3/31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YPM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F33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YPM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2025/4/3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清明連假</a:t>
                      </a:r>
                      <a:endParaRPr lang="en-US" altLang="zh-TW" sz="1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2025/4/4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清明連假</a:t>
                      </a:r>
                      <a:endParaRPr kumimoji="0" lang="en-US" altLang="zh-TW" sz="1800" b="0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377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GRD-2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LP-N4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4PM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Check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2025/4/11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LP-T1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1PM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主畫面進入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Warm up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開關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保養時關閉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，回到首頁進入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Machine Maintenance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，在進入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 Operation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Enter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，可將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上升。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首先將小白布鋪在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Chuck table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上，利用菜瓜布、水槍、小白布進行清潔刷洗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Z1/Z2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及前面研磨區域，清除研磨粉塵。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Brush rotate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動作是否正常、真空值紀錄、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576" y="6400800"/>
            <a:ext cx="609600" cy="457200"/>
          </a:xfrm>
        </p:spPr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644F93B-14C8-8EDB-B800-A1D91124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7"/>
          <a:stretch/>
        </p:blipFill>
        <p:spPr>
          <a:xfrm>
            <a:off x="446503" y="2784348"/>
            <a:ext cx="11509197" cy="37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3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主畫面進入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Warm up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開關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保養時關閉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，回到首頁進入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Machine Maintenance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，在進入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 Operation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Enter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，可將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上升。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首先將小白布鋪在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Chuck table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上，利用菜瓜布、水槍、小白布進行清潔刷洗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Z1/Z2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及前面研磨區域，清除研磨粉塵。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Brush rotate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檢查水平、真空值紀錄、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1F1F1F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status</a:t>
            </a:r>
            <a:r>
              <a:rPr lang="zh-TW" altLang="en-US" sz="2400" dirty="0">
                <a:solidFill>
                  <a:srgbClr val="1F1F1F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679F3BF-0299-4857-0572-1D83137C9D29}"/>
              </a:ext>
            </a:extLst>
          </p:cNvPr>
          <p:cNvGrpSpPr/>
          <p:nvPr/>
        </p:nvGrpSpPr>
        <p:grpSpPr>
          <a:xfrm>
            <a:off x="725424" y="896112"/>
            <a:ext cx="11317225" cy="2191056"/>
            <a:chOff x="725424" y="896112"/>
            <a:chExt cx="11317225" cy="219105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3D86013-B5AB-B5C1-7A7E-2DCCCBB77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424" y="896112"/>
              <a:ext cx="3219899" cy="2191056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61B94E7E-7B91-96DA-3D38-1F04D5E94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5324" y="896112"/>
              <a:ext cx="3087802" cy="1781424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A4DBE2FD-7843-611E-46A3-FE792681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3" y="896112"/>
              <a:ext cx="2915058" cy="1781424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033DFF77-4EF5-46A3-75F3-9BA4E6620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470"/>
            <a:stretch/>
          </p:blipFill>
          <p:spPr>
            <a:xfrm>
              <a:off x="9127591" y="896112"/>
              <a:ext cx="2915058" cy="17814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055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6640F-231A-E33E-D80B-BC6C544145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5424" y="1027176"/>
            <a:ext cx="11317224" cy="5402199"/>
          </a:xfrm>
        </p:spPr>
        <p:txBody>
          <a:bodyPr/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狀態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主畫面進入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Warm up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開關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保養時關閉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，回到首頁進入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Machine Maintenance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，在進入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 Operation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Enter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，可將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上升。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首先將小白布鋪在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Chuck table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上，利用菜瓜布、水槍、小白布進行清潔刷洗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Z1/Z2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及前面研磨區域，清除研磨粉塵。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:High Gauge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是否達到規範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(100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±</a:t>
            </a:r>
            <a:r>
              <a:rPr lang="en-US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</a:t>
            </a:r>
            <a:r>
              <a:rPr lang="el-GR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m)</a:t>
            </a:r>
            <a:r>
              <a:rPr lang="zh-TW" altLang="en-US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Brush rotate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動作是否正常、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T-ARM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檢查水平、真空值紀錄、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Wheel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機台狀況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status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inherit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進入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FCC413A-CD22-B52A-7C3E-DC8456869C39}"/>
              </a:ext>
            </a:extLst>
          </p:cNvPr>
          <p:cNvGrpSpPr/>
          <p:nvPr/>
        </p:nvGrpSpPr>
        <p:grpSpPr>
          <a:xfrm>
            <a:off x="412840" y="829012"/>
            <a:ext cx="6031496" cy="3291840"/>
            <a:chOff x="387096" y="896112"/>
            <a:chExt cx="6031496" cy="2375623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8C4C98F-E3F8-ED47-E3FF-26E27D3DA4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81" r="34081" b="23348"/>
            <a:stretch/>
          </p:blipFill>
          <p:spPr bwMode="auto">
            <a:xfrm>
              <a:off x="387096" y="896112"/>
              <a:ext cx="4117856" cy="2375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8FF0735-D1F5-0E3E-1F25-D37D5014D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01" r="3103" b="23348"/>
            <a:stretch/>
          </p:blipFill>
          <p:spPr bwMode="auto">
            <a:xfrm>
              <a:off x="4504952" y="896112"/>
              <a:ext cx="1913640" cy="2375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5E7DB0C1-14D7-C1DE-0712-045FFDCE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901A4C12-78FA-98AB-1778-712CB234A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460" y="952119"/>
            <a:ext cx="4092112" cy="329184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243D9854-8A9C-4A9C-F7C4-A258B991A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260" y="980193"/>
            <a:ext cx="4550671" cy="3394830"/>
          </a:xfrm>
          <a:prstGeom prst="rect">
            <a:avLst/>
          </a:prstGeom>
        </p:spPr>
      </p:pic>
      <p:pic>
        <p:nvPicPr>
          <p:cNvPr id="9" name="圖片 3">
            <a:extLst>
              <a:ext uri="{FF2B5EF4-FFF2-40B4-BE49-F238E27FC236}">
                <a16:creationId xmlns:a16="http://schemas.microsoft.com/office/drawing/2014/main" id="{A9DC3D74-6D31-3829-392A-2A4EE444B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789" y="860975"/>
            <a:ext cx="3930859" cy="347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2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1561B-9D12-B065-AA6F-378E9255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24" y="-246888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GRD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210A2E-1841-3012-C9AB-F806D0A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E7DB0C1-14D7-C1DE-0712-045FFDCE8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5320"/>
            <a:ext cx="65" cy="25135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圖片 4">
            <a:extLst>
              <a:ext uri="{FF2B5EF4-FFF2-40B4-BE49-F238E27FC236}">
                <a16:creationId xmlns:a16="http://schemas.microsoft.com/office/drawing/2014/main" id="{857111EA-FB17-5AC1-EB64-8679FF764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52" y="896112"/>
            <a:ext cx="4488304" cy="336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" descr="Picture 126">
            <a:extLst>
              <a:ext uri="{FF2B5EF4-FFF2-40B4-BE49-F238E27FC236}">
                <a16:creationId xmlns:a16="http://schemas.microsoft.com/office/drawing/2014/main" id="{ECBD7A1D-943B-0FF1-A515-EC30FC128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241" y="1246242"/>
            <a:ext cx="4841989" cy="3830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DE62C1F-EAAA-31CB-1B8E-EFE7D5560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223" y="1370743"/>
            <a:ext cx="3527425" cy="4116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49E79E2-CBDA-E1B2-8C43-44F184556E3C}"/>
              </a:ext>
            </a:extLst>
          </p:cNvPr>
          <p:cNvSpPr txBox="1"/>
          <p:nvPr/>
        </p:nvSpPr>
        <p:spPr>
          <a:xfrm>
            <a:off x="743331" y="5502685"/>
            <a:ext cx="10705338" cy="62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</a:t>
            </a:r>
            <a:r>
              <a:rPr lang="zh-TW" altLang="en-US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啟動試磨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:Warm up 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畫面開啟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Spindle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，試磨檔片確認厚度。</a:t>
            </a:r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3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D8D82-6C8E-2CE1-F16D-C3E0C66E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0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WSIX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541378-69AC-7D4C-F2EA-A5AF8D5B9F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7819" y="1440804"/>
            <a:ext cx="10363200" cy="5520713"/>
          </a:xfrm>
        </p:spPr>
        <p:txBody>
          <a:bodyPr/>
          <a:lstStyle/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將機台由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Automation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模式更改為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Manual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狀態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機台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Control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為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OFFLINE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選擇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RF Clean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程式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Clean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兩次並將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Lamp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溫度及升溫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%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數設定為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通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Argon Purge Chamber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(800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流量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Close Forline valve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通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N2 Vent Chamber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拆下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Heater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接頭、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TC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線、及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TC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溫度顯示器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開啟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並使用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Low Vacuum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吸除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內的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 </a:t>
            </a:r>
            <a:r>
              <a:rPr lang="en-US" altLang="zh-TW" sz="18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Gasing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拆下外蓋、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Lid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Lamp &amp; Lamp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電源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&amp;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水接頭、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Quartz Window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Lid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與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內部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更換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Gas feed tube &amp;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O-ring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裝回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Shower head &amp; Gas feed</a:t>
            </a:r>
          </a:p>
          <a:p>
            <a:pPr marL="114300" lvl="1" indent="-342900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/>
            </a:pPr>
            <a:endParaRPr lang="en-US" altLang="zh-TW" sz="1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1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96CAF7-022C-31C9-CA64-20B683C9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680EF9-AEB9-0F05-9826-E90E005221E3}"/>
              </a:ext>
            </a:extLst>
          </p:cNvPr>
          <p:cNvSpPr txBox="1"/>
          <p:nvPr/>
        </p:nvSpPr>
        <p:spPr>
          <a:xfrm>
            <a:off x="7920487" y="681335"/>
            <a:ext cx="4081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575"/>
              </a:spcBef>
              <a:buClr>
                <a:schemeClr val="accent1"/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時機：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20000±2000 wafer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BA6ECB3-DA30-3013-A0F3-F245E8A6B517}"/>
              </a:ext>
            </a:extLst>
          </p:cNvPr>
          <p:cNvSpPr txBox="1"/>
          <p:nvPr/>
        </p:nvSpPr>
        <p:spPr>
          <a:xfrm>
            <a:off x="8434132" y="6440697"/>
            <a:ext cx="260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-</a:t>
            </a:r>
            <a:r>
              <a:rPr lang="zh-TW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程式控制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5861E5-C5BD-8201-24C8-A79E02F53BD9}"/>
              </a:ext>
            </a:extLst>
          </p:cNvPr>
          <p:cNvSpPr txBox="1"/>
          <p:nvPr/>
        </p:nvSpPr>
        <p:spPr>
          <a:xfrm>
            <a:off x="9736721" y="6429375"/>
            <a:ext cx="260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+mj-ea"/>
                <a:ea typeface="+mj-ea"/>
              </a:rPr>
              <a:t>-</a:t>
            </a:r>
            <a:r>
              <a:rPr lang="zh-TW" altLang="en-US" b="1" dirty="0">
                <a:latin typeface="+mj-ea"/>
                <a:ea typeface="+mj-ea"/>
              </a:rPr>
              <a:t>實際拆裝</a:t>
            </a:r>
          </a:p>
        </p:txBody>
      </p:sp>
      <p:pic>
        <p:nvPicPr>
          <p:cNvPr id="12294" name="圖片 2">
            <a:extLst>
              <a:ext uri="{FF2B5EF4-FFF2-40B4-BE49-F238E27FC236}">
                <a16:creationId xmlns:a16="http://schemas.microsoft.com/office/drawing/2014/main" id="{316664FB-2955-5CE0-E771-038034885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625" y="3922296"/>
            <a:ext cx="2766109" cy="207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651F2EF-609C-1B6C-2483-1631BF4D946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867" y="1405007"/>
            <a:ext cx="2533655" cy="2071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42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8D08E-5EEF-B11D-40A0-FAFE2E6F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1EB489-BCB4-6198-EA8D-24A0D5F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0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WSIX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4DCF57-EC51-FB69-0A50-6AC2D8B0A5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68808" y="1154322"/>
            <a:ext cx="10363200" cy="5520713"/>
          </a:xfrm>
        </p:spPr>
        <p:txBody>
          <a:bodyPr/>
          <a:lstStyle/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Lamp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鎢絲有無損壞，檢查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Quartz Window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表面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裝回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Quartz Window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及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Lamp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插回電源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&amp;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水接頭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Susceptor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的水平及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Filter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的高度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裝回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Lid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及外蓋</a:t>
            </a: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校溫測試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TC Wafer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放在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Susceptor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上，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並通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300 Argon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升溫至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400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度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調整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C0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值至溫度顯示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340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度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TW" sz="1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Msic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進入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Lamp control)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Buffer Chamber Vent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後開啟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Vacuum Sensor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Check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改為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Ignore (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傳送完後改回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開啟該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 Chamber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之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Slit Valve </a:t>
            </a:r>
            <a:r>
              <a:rPr lang="zh-TW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更換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O-ring</a:t>
            </a: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Check </a:t>
            </a:r>
            <a:r>
              <a:rPr lang="en-US" altLang="zh-TW" sz="1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LoadLock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 &amp; </a:t>
            </a:r>
            <a:r>
              <a:rPr lang="en-US" altLang="zh-TW" sz="1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LoadLock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B &amp; Chamber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的傳送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14300" lvl="1" indent="-34290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Font typeface="+mj-lt"/>
              <a:buAutoNum type="arabicPeriod" startAt="11"/>
            </a:pP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關閉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Chamber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後通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800 Argon Purge 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進行 </a:t>
            </a:r>
            <a:r>
              <a:rPr lang="en-US" altLang="zh-TW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Purge</a:t>
            </a:r>
            <a:r>
              <a:rPr lang="zh-TW" alt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測漏</a:t>
            </a:r>
            <a:endParaRPr lang="en-US" altLang="zh-TW" sz="1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None/>
            </a:pPr>
            <a:endParaRPr lang="en-US" altLang="zh-TW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B960AA-ED82-2E24-DE99-B6DC7A26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CB9F61-0AAA-0BE3-AF80-C08432269E55}"/>
              </a:ext>
            </a:extLst>
          </p:cNvPr>
          <p:cNvSpPr txBox="1"/>
          <p:nvPr/>
        </p:nvSpPr>
        <p:spPr>
          <a:xfrm>
            <a:off x="7920487" y="681335"/>
            <a:ext cx="4081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575"/>
              </a:spcBef>
              <a:buClr>
                <a:schemeClr val="accent1"/>
              </a:buClr>
              <a:buNone/>
            </a:pP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時機：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20000±2000 wafer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28F7D03-857A-BDAB-C952-57C695016C38}"/>
              </a:ext>
            </a:extLst>
          </p:cNvPr>
          <p:cNvSpPr txBox="1"/>
          <p:nvPr/>
        </p:nvSpPr>
        <p:spPr>
          <a:xfrm>
            <a:off x="8434132" y="6440697"/>
            <a:ext cx="260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-</a:t>
            </a:r>
            <a:r>
              <a:rPr lang="zh-TW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程式控制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C7DC2C-892E-57FC-B41A-C2501B301A7E}"/>
              </a:ext>
            </a:extLst>
          </p:cNvPr>
          <p:cNvSpPr txBox="1"/>
          <p:nvPr/>
        </p:nvSpPr>
        <p:spPr>
          <a:xfrm>
            <a:off x="9736721" y="6429375"/>
            <a:ext cx="260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+mj-ea"/>
                <a:ea typeface="+mj-ea"/>
              </a:rPr>
              <a:t>-</a:t>
            </a:r>
            <a:r>
              <a:rPr lang="zh-TW" altLang="en-US" b="1" dirty="0">
                <a:latin typeface="+mj-ea"/>
                <a:ea typeface="+mj-ea"/>
              </a:rPr>
              <a:t>實際拆裝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DE6097-268B-BD83-590B-4F292777D1FA}"/>
              </a:ext>
            </a:extLst>
          </p:cNvPr>
          <p:cNvSpPr txBox="1"/>
          <p:nvPr/>
        </p:nvSpPr>
        <p:spPr>
          <a:xfrm>
            <a:off x="8112701" y="5230163"/>
            <a:ext cx="388913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575"/>
              </a:spcBef>
              <a:buClr>
                <a:schemeClr val="accent1"/>
              </a:buClr>
            </a:pP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低溫測漏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漏率規格需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&lt;2m Torr/min)</a:t>
            </a:r>
          </a:p>
          <a:p>
            <a:pPr marL="0" lvl="1">
              <a:spcBef>
                <a:spcPts val="575"/>
              </a:spcBef>
              <a:buClr>
                <a:schemeClr val="accent1"/>
              </a:buClr>
            </a:pP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高溫測漏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漏率規格需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&lt;1m Torr/min)</a:t>
            </a:r>
          </a:p>
        </p:txBody>
      </p:sp>
    </p:spTree>
    <p:extLst>
      <p:ext uri="{BB962C8B-B14F-4D97-AF65-F5344CB8AC3E}">
        <p14:creationId xmlns:p14="http://schemas.microsoft.com/office/powerpoint/2010/main" val="9481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2943-672E-F780-7CE7-70654ED8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03B730-CB42-1BE8-DF77-25084D4A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0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WSIX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(Chamber Lid)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13269D-907F-D211-CFAC-D06EB0B9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pic>
        <p:nvPicPr>
          <p:cNvPr id="12296" name="圖片 4">
            <a:extLst>
              <a:ext uri="{FF2B5EF4-FFF2-40B4-BE49-F238E27FC236}">
                <a16:creationId xmlns:a16="http://schemas.microsoft.com/office/drawing/2014/main" id="{1CAC38D6-3FAD-3DB7-CDAA-5E8184A53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40" y="1311274"/>
            <a:ext cx="21113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圖片 5">
            <a:extLst>
              <a:ext uri="{FF2B5EF4-FFF2-40B4-BE49-F238E27FC236}">
                <a16:creationId xmlns:a16="http://schemas.microsoft.com/office/drawing/2014/main" id="{83D06659-C552-0884-0475-3EE725FC6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063" y="1311274"/>
            <a:ext cx="21113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圖片 2">
            <a:extLst>
              <a:ext uri="{FF2B5EF4-FFF2-40B4-BE49-F238E27FC236}">
                <a16:creationId xmlns:a16="http://schemas.microsoft.com/office/drawing/2014/main" id="{6FBC7839-C086-BD21-181B-95BD36102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431" y="1311275"/>
            <a:ext cx="21113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圖片 1">
            <a:extLst>
              <a:ext uri="{FF2B5EF4-FFF2-40B4-BE49-F238E27FC236}">
                <a16:creationId xmlns:a16="http://schemas.microsoft.com/office/drawing/2014/main" id="{263FF9DC-A137-BE95-FC79-05DAAED61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954" y="1285080"/>
            <a:ext cx="2635198" cy="2001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圖片 2">
            <a:extLst>
              <a:ext uri="{FF2B5EF4-FFF2-40B4-BE49-F238E27FC236}">
                <a16:creationId xmlns:a16="http://schemas.microsoft.com/office/drawing/2014/main" id="{53A50929-4E62-2E3D-0F1D-129DE2E73F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915" y="3860799"/>
            <a:ext cx="26876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圖片 3">
            <a:extLst>
              <a:ext uri="{FF2B5EF4-FFF2-40B4-BE49-F238E27FC236}">
                <a16:creationId xmlns:a16="http://schemas.microsoft.com/office/drawing/2014/main" id="{C04ECE09-F985-19FA-87FB-261DBEB5B7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22" y="3429000"/>
            <a:ext cx="216058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圖片 3">
            <a:extLst>
              <a:ext uri="{FF2B5EF4-FFF2-40B4-BE49-F238E27FC236}">
                <a16:creationId xmlns:a16="http://schemas.microsoft.com/office/drawing/2014/main" id="{A0CDA1E5-23F6-0167-2E7B-EDA137BCFE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202" y="4035260"/>
            <a:ext cx="263519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圖片 7">
            <a:extLst>
              <a:ext uri="{FF2B5EF4-FFF2-40B4-BE49-F238E27FC236}">
                <a16:creationId xmlns:a16="http://schemas.microsoft.com/office/drawing/2014/main" id="{1BD845B2-1E70-7CF6-1C19-AB4211E7A8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012" y="4035259"/>
            <a:ext cx="2711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箭號: 向右 2">
            <a:extLst>
              <a:ext uri="{FF2B5EF4-FFF2-40B4-BE49-F238E27FC236}">
                <a16:creationId xmlns:a16="http://schemas.microsoft.com/office/drawing/2014/main" id="{DC4DF914-4241-ED32-B6E3-D949F35F0F69}"/>
              </a:ext>
            </a:extLst>
          </p:cNvPr>
          <p:cNvSpPr/>
          <p:nvPr/>
        </p:nvSpPr>
        <p:spPr>
          <a:xfrm>
            <a:off x="2850443" y="1891341"/>
            <a:ext cx="552091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F7D95C52-A424-AF02-CA48-0B55228146CE}"/>
              </a:ext>
            </a:extLst>
          </p:cNvPr>
          <p:cNvSpPr/>
          <p:nvPr/>
        </p:nvSpPr>
        <p:spPr>
          <a:xfrm>
            <a:off x="5640889" y="1891341"/>
            <a:ext cx="552091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5CFE25D-9B44-56E0-F473-B00EEEB54539}"/>
              </a:ext>
            </a:extLst>
          </p:cNvPr>
          <p:cNvSpPr/>
          <p:nvPr/>
        </p:nvSpPr>
        <p:spPr>
          <a:xfrm>
            <a:off x="8435412" y="1891341"/>
            <a:ext cx="552091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7384357F-D1D0-0018-20C7-DAC5EC2FCCEC}"/>
              </a:ext>
            </a:extLst>
          </p:cNvPr>
          <p:cNvSpPr/>
          <p:nvPr/>
        </p:nvSpPr>
        <p:spPr>
          <a:xfrm rot="5400000">
            <a:off x="9988756" y="3453087"/>
            <a:ext cx="552091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D57230D4-4526-CB29-A167-BB3119EF429C}"/>
              </a:ext>
            </a:extLst>
          </p:cNvPr>
          <p:cNvSpPr/>
          <p:nvPr/>
        </p:nvSpPr>
        <p:spPr>
          <a:xfrm rot="10800000">
            <a:off x="8521462" y="4896673"/>
            <a:ext cx="379990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8320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055B-4BDD-D93A-DBCA-71E90EA8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39997C-E061-7F23-B6C5-A323AEBF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0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WSIX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(Lamp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及水平校正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7670B3-4613-BB8C-5977-A0D4DF83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CAFE9FC-67C8-DCDA-EEDC-500F6F444901}"/>
              </a:ext>
            </a:extLst>
          </p:cNvPr>
          <p:cNvGrpSpPr/>
          <p:nvPr/>
        </p:nvGrpSpPr>
        <p:grpSpPr>
          <a:xfrm>
            <a:off x="7522342" y="1387453"/>
            <a:ext cx="3070896" cy="2640893"/>
            <a:chOff x="5064268" y="3389671"/>
            <a:chExt cx="3604940" cy="2529920"/>
          </a:xfrm>
        </p:grpSpPr>
        <p:pic>
          <p:nvPicPr>
            <p:cNvPr id="14342" name="圖片 2">
              <a:extLst>
                <a:ext uri="{FF2B5EF4-FFF2-40B4-BE49-F238E27FC236}">
                  <a16:creationId xmlns:a16="http://schemas.microsoft.com/office/drawing/2014/main" id="{77EB3DE8-2817-609B-ED22-2A32DE7E1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4268" y="3389671"/>
              <a:ext cx="3604940" cy="2160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C9E73A0E-A30F-2596-4F72-372D839CC93F}"/>
                </a:ext>
              </a:extLst>
            </p:cNvPr>
            <p:cNvSpPr txBox="1"/>
            <p:nvPr/>
          </p:nvSpPr>
          <p:spPr>
            <a:xfrm>
              <a:off x="5389410" y="5550259"/>
              <a:ext cx="2954655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b="1" dirty="0">
                  <a:solidFill>
                    <a:srgbClr val="FF0000"/>
                  </a:solidFill>
                  <a:latin typeface="+mj-ea"/>
                  <a:ea typeface="+mj-ea"/>
                </a:rPr>
                <a:t>檢查燈泡裡的鎢絲有無斷掉</a:t>
              </a:r>
            </a:p>
          </p:txBody>
        </p:sp>
      </p:grpSp>
      <p:pic>
        <p:nvPicPr>
          <p:cNvPr id="5" name="圖片 1">
            <a:extLst>
              <a:ext uri="{FF2B5EF4-FFF2-40B4-BE49-F238E27FC236}">
                <a16:creationId xmlns:a16="http://schemas.microsoft.com/office/drawing/2014/main" id="{482BF77C-D30D-40A2-B9A6-2F50842C8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00" y="1358565"/>
            <a:ext cx="3377171" cy="243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FB4057D-DC8D-24B6-887F-06915FF5E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011" y="1358565"/>
            <a:ext cx="2527060" cy="2435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圖片 4">
            <a:extLst>
              <a:ext uri="{FF2B5EF4-FFF2-40B4-BE49-F238E27FC236}">
                <a16:creationId xmlns:a16="http://schemas.microsoft.com/office/drawing/2014/main" id="{39EF95DD-561F-FF6A-3853-B6BCA7A595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686" y="4396646"/>
            <a:ext cx="2640013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CDDFAEB4-CB00-CAA9-C452-549D683F4AFB}"/>
              </a:ext>
            </a:extLst>
          </p:cNvPr>
          <p:cNvGrpSpPr/>
          <p:nvPr/>
        </p:nvGrpSpPr>
        <p:grpSpPr>
          <a:xfrm>
            <a:off x="396552" y="4399294"/>
            <a:ext cx="2640013" cy="1979613"/>
            <a:chOff x="7775576" y="2578101"/>
            <a:chExt cx="2640013" cy="1979613"/>
          </a:xfrm>
        </p:grpSpPr>
        <p:pic>
          <p:nvPicPr>
            <p:cNvPr id="15366" name="圖片 5">
              <a:extLst>
                <a:ext uri="{FF2B5EF4-FFF2-40B4-BE49-F238E27FC236}">
                  <a16:creationId xmlns:a16="http://schemas.microsoft.com/office/drawing/2014/main" id="{72440A7B-09A1-4A67-165E-4356CDCFB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5576" y="2578101"/>
              <a:ext cx="2640013" cy="1979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FC49D0E-F6DC-E7D2-4011-779EDD98C009}"/>
                </a:ext>
              </a:extLst>
            </p:cNvPr>
            <p:cNvSpPr/>
            <p:nvPr/>
          </p:nvSpPr>
          <p:spPr>
            <a:xfrm>
              <a:off x="7824788" y="3716339"/>
              <a:ext cx="2519362" cy="73025"/>
            </a:xfrm>
            <a:prstGeom prst="rect">
              <a:avLst/>
            </a:prstGeom>
            <a:noFill/>
            <a:ln w="19050">
              <a:solidFill>
                <a:srgbClr val="FC211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15368" name="圖片 7">
            <a:extLst>
              <a:ext uri="{FF2B5EF4-FFF2-40B4-BE49-F238E27FC236}">
                <a16:creationId xmlns:a16="http://schemas.microsoft.com/office/drawing/2014/main" id="{3AFAB477-D522-FA59-C624-ACD32E8614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7" t="188" r="587" b="43562"/>
          <a:stretch>
            <a:fillRect/>
          </a:stretch>
        </p:blipFill>
        <p:spPr bwMode="auto">
          <a:xfrm>
            <a:off x="3341774" y="4396646"/>
            <a:ext cx="26400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82110021-A349-A263-8E1F-F962757DDB45}"/>
              </a:ext>
            </a:extLst>
          </p:cNvPr>
          <p:cNvSpPr/>
          <p:nvPr/>
        </p:nvSpPr>
        <p:spPr>
          <a:xfrm>
            <a:off x="3883209" y="2342759"/>
            <a:ext cx="552091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B75B3BB-9B76-FDA9-4CB1-4C8154526B84}"/>
              </a:ext>
            </a:extLst>
          </p:cNvPr>
          <p:cNvSpPr/>
          <p:nvPr/>
        </p:nvSpPr>
        <p:spPr>
          <a:xfrm>
            <a:off x="7012071" y="2342759"/>
            <a:ext cx="444780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7F7A4D90-7EB7-31C6-4E1E-C6E2337B50FC}"/>
              </a:ext>
            </a:extLst>
          </p:cNvPr>
          <p:cNvGrpSpPr/>
          <p:nvPr/>
        </p:nvGrpSpPr>
        <p:grpSpPr>
          <a:xfrm>
            <a:off x="9229811" y="4219574"/>
            <a:ext cx="2726853" cy="1981201"/>
            <a:chOff x="951389" y="3283948"/>
            <a:chExt cx="3305022" cy="2159000"/>
          </a:xfrm>
        </p:grpSpPr>
        <p:pic>
          <p:nvPicPr>
            <p:cNvPr id="18" name="圖片 3">
              <a:extLst>
                <a:ext uri="{FF2B5EF4-FFF2-40B4-BE49-F238E27FC236}">
                  <a16:creationId xmlns:a16="http://schemas.microsoft.com/office/drawing/2014/main" id="{6F05BA04-F6F9-CFB3-7776-514D88E22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389" y="3283948"/>
              <a:ext cx="3305022" cy="215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ADD0024-2F08-3B9F-1F96-F2B33E429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812" y="4224042"/>
              <a:ext cx="359224" cy="4936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B81D06A9-5F99-051F-F8C7-6A4D23DF1C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3351" y="4144914"/>
              <a:ext cx="227228" cy="56512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9333DF4C-B52F-9559-B6AA-240B19089809}"/>
                </a:ext>
              </a:extLst>
            </p:cNvPr>
            <p:cNvSpPr txBox="1"/>
            <p:nvPr/>
          </p:nvSpPr>
          <p:spPr>
            <a:xfrm>
              <a:off x="1653606" y="4710036"/>
              <a:ext cx="2399850" cy="3353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TW" altLang="en-US" sz="1400" b="1" dirty="0">
                  <a:solidFill>
                    <a:srgbClr val="FF0000"/>
                  </a:solidFill>
                  <a:latin typeface="+mj-ea"/>
                  <a:ea typeface="+mj-ea"/>
                </a:rPr>
                <a:t>大約旋轉半圈至</a:t>
              </a:r>
              <a:r>
                <a:rPr lang="en-US" altLang="zh-TW" sz="1400" b="1" dirty="0">
                  <a:solidFill>
                    <a:srgbClr val="FF0000"/>
                  </a:solidFill>
                  <a:latin typeface="+mj-ea"/>
                  <a:ea typeface="+mj-ea"/>
                </a:rPr>
                <a:t>20</a:t>
              </a:r>
              <a:r>
                <a:rPr lang="zh-TW" altLang="en-US" sz="1400" b="1" dirty="0">
                  <a:solidFill>
                    <a:srgbClr val="FF0000"/>
                  </a:solidFill>
                  <a:latin typeface="+mj-ea"/>
                  <a:ea typeface="+mj-ea"/>
                </a:rPr>
                <a:t>位置</a:t>
              </a:r>
            </a:p>
          </p:txBody>
        </p:sp>
      </p:grp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D6E93B3C-D412-B5B7-9151-F27AA4D49E30}"/>
              </a:ext>
            </a:extLst>
          </p:cNvPr>
          <p:cNvSpPr/>
          <p:nvPr/>
        </p:nvSpPr>
        <p:spPr>
          <a:xfrm rot="10800000">
            <a:off x="5980584" y="5234922"/>
            <a:ext cx="292380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E55CBF9B-4462-DF8D-AD02-233FC7FBE460}"/>
              </a:ext>
            </a:extLst>
          </p:cNvPr>
          <p:cNvSpPr/>
          <p:nvPr/>
        </p:nvSpPr>
        <p:spPr>
          <a:xfrm rot="10800000">
            <a:off x="3039033" y="5206137"/>
            <a:ext cx="292380" cy="29329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0507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05DCB2-CECF-ECAA-7FEF-606A63F0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" y="0"/>
            <a:ext cx="10363200" cy="1143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WSIX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保養程序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(Check Transfer)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pic>
        <p:nvPicPr>
          <p:cNvPr id="16390" name="圖片 5">
            <a:extLst>
              <a:ext uri="{FF2B5EF4-FFF2-40B4-BE49-F238E27FC236}">
                <a16:creationId xmlns:a16="http://schemas.microsoft.com/office/drawing/2014/main" id="{62672261-889A-F849-C571-B9547B26F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53" y="1275014"/>
            <a:ext cx="1699429" cy="2265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圖片 7">
            <a:extLst>
              <a:ext uri="{FF2B5EF4-FFF2-40B4-BE49-F238E27FC236}">
                <a16:creationId xmlns:a16="http://schemas.microsoft.com/office/drawing/2014/main" id="{0808A909-1335-B757-201E-44AC82B42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810" y="4219575"/>
            <a:ext cx="14843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圖片 8">
            <a:extLst>
              <a:ext uri="{FF2B5EF4-FFF2-40B4-BE49-F238E27FC236}">
                <a16:creationId xmlns:a16="http://schemas.microsoft.com/office/drawing/2014/main" id="{855194D9-340C-195B-1A00-864EF1D34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859" y="4166274"/>
            <a:ext cx="2640012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5" name="Picture 3">
            <a:extLst>
              <a:ext uri="{FF2B5EF4-FFF2-40B4-BE49-F238E27FC236}">
                <a16:creationId xmlns:a16="http://schemas.microsoft.com/office/drawing/2014/main" id="{51DB27BF-4299-C864-2491-3F2B2213A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56" y="4166275"/>
            <a:ext cx="2665413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A414D8EA-E867-2B46-C30D-7D40C06687D4}"/>
              </a:ext>
            </a:extLst>
          </p:cNvPr>
          <p:cNvGrpSpPr/>
          <p:nvPr/>
        </p:nvGrpSpPr>
        <p:grpSpPr>
          <a:xfrm>
            <a:off x="8708859" y="1596485"/>
            <a:ext cx="2640012" cy="1981200"/>
            <a:chOff x="4674828" y="2711661"/>
            <a:chExt cx="2640012" cy="1981200"/>
          </a:xfrm>
        </p:grpSpPr>
        <p:pic>
          <p:nvPicPr>
            <p:cNvPr id="16391" name="圖片 6">
              <a:extLst>
                <a:ext uri="{FF2B5EF4-FFF2-40B4-BE49-F238E27FC236}">
                  <a16:creationId xmlns:a16="http://schemas.microsoft.com/office/drawing/2014/main" id="{109BF9FD-ADC6-5A44-ADE9-2372DCD62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4828" y="2711661"/>
              <a:ext cx="2640012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B2387399-A728-E69C-A3E5-9B11D62ECA2F}"/>
                </a:ext>
              </a:extLst>
            </p:cNvPr>
            <p:cNvCxnSpPr/>
            <p:nvPr/>
          </p:nvCxnSpPr>
          <p:spPr>
            <a:xfrm flipH="1" flipV="1">
              <a:off x="6471879" y="3697499"/>
              <a:ext cx="219075" cy="3159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B76540C0-F6E4-963A-05BA-2535992FD1C4}"/>
                </a:ext>
              </a:extLst>
            </p:cNvPr>
            <p:cNvSpPr txBox="1"/>
            <p:nvPr/>
          </p:nvSpPr>
          <p:spPr>
            <a:xfrm>
              <a:off x="6422666" y="3983248"/>
              <a:ext cx="646331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b="1" dirty="0">
                  <a:solidFill>
                    <a:srgbClr val="FF0000"/>
                  </a:solidFill>
                  <a:latin typeface="+mj-ea"/>
                  <a:ea typeface="+mj-ea"/>
                </a:rPr>
                <a:t>Fork</a:t>
              </a:r>
              <a:endParaRPr lang="zh-TW" altLang="en-US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7" name="圖片 8">
            <a:extLst>
              <a:ext uri="{FF2B5EF4-FFF2-40B4-BE49-F238E27FC236}">
                <a16:creationId xmlns:a16="http://schemas.microsoft.com/office/drawing/2014/main" id="{EF0686C7-8E86-8151-556B-323174636F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58" y="1275014"/>
            <a:ext cx="2640012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9">
            <a:extLst>
              <a:ext uri="{FF2B5EF4-FFF2-40B4-BE49-F238E27FC236}">
                <a16:creationId xmlns:a16="http://schemas.microsoft.com/office/drawing/2014/main" id="{1FDC3976-2320-5C15-D726-CF0097CF2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755" y="1277395"/>
            <a:ext cx="2638425" cy="227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9">
            <a:extLst>
              <a:ext uri="{FF2B5EF4-FFF2-40B4-BE49-F238E27FC236}">
                <a16:creationId xmlns:a16="http://schemas.microsoft.com/office/drawing/2014/main" id="{2F752D94-DC90-CA73-AF84-0474A5592D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459" y="4166274"/>
            <a:ext cx="2640012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527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13</a:t>
            </a:fld>
            <a:endParaRPr lang="zh-TW" alt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90F36BF-3895-51A9-CF37-91CC96431E51}"/>
              </a:ext>
            </a:extLst>
          </p:cNvPr>
          <p:cNvGrpSpPr/>
          <p:nvPr/>
        </p:nvGrpSpPr>
        <p:grpSpPr>
          <a:xfrm>
            <a:off x="426377" y="56008"/>
            <a:ext cx="4989383" cy="6603872"/>
            <a:chOff x="426377" y="56008"/>
            <a:chExt cx="4989383" cy="6603872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24B79B19-75F0-2197-BD07-8CD163EDA311}"/>
                </a:ext>
              </a:extLst>
            </p:cNvPr>
            <p:cNvGrpSpPr/>
            <p:nvPr/>
          </p:nvGrpSpPr>
          <p:grpSpPr>
            <a:xfrm>
              <a:off x="438571" y="56008"/>
              <a:ext cx="4977189" cy="6603872"/>
              <a:chOff x="968923" y="63628"/>
              <a:chExt cx="4977189" cy="6603872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B53B9E16-2254-BD48-A2C1-CA4BE33C5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8925" y="63628"/>
                <a:ext cx="4977187" cy="6603872"/>
              </a:xfrm>
              <a:prstGeom prst="rect">
                <a:avLst/>
              </a:prstGeom>
              <a:ln w="38100" cap="sq">
                <a:solidFill>
                  <a:srgbClr val="000000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p:spPr>
          </p:pic>
          <p:sp>
            <p:nvSpPr>
              <p:cNvPr id="8" name="矩形: 圓角 7">
                <a:extLst>
                  <a:ext uri="{FF2B5EF4-FFF2-40B4-BE49-F238E27FC236}">
                    <a16:creationId xmlns:a16="http://schemas.microsoft.com/office/drawing/2014/main" id="{4BB3AB8C-F74C-923F-4682-49DF577E7171}"/>
                  </a:ext>
                </a:extLst>
              </p:cNvPr>
              <p:cNvSpPr/>
              <p:nvPr/>
            </p:nvSpPr>
            <p:spPr>
              <a:xfrm>
                <a:off x="968925" y="2633472"/>
                <a:ext cx="3593931" cy="44805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矩形: 圓角 9">
                <a:extLst>
                  <a:ext uri="{FF2B5EF4-FFF2-40B4-BE49-F238E27FC236}">
                    <a16:creationId xmlns:a16="http://schemas.microsoft.com/office/drawing/2014/main" id="{C3FCE4C4-E89D-42DE-6E80-0294A7139F28}"/>
                  </a:ext>
                </a:extLst>
              </p:cNvPr>
              <p:cNvSpPr/>
              <p:nvPr/>
            </p:nvSpPr>
            <p:spPr>
              <a:xfrm>
                <a:off x="968924" y="1920874"/>
                <a:ext cx="3593932" cy="44805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8918EFE8-787B-17A6-F772-CF17D8276738}"/>
                  </a:ext>
                </a:extLst>
              </p:cNvPr>
              <p:cNvSpPr/>
              <p:nvPr/>
            </p:nvSpPr>
            <p:spPr>
              <a:xfrm>
                <a:off x="968924" y="488630"/>
                <a:ext cx="3593932" cy="1303594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矩形: 圓角 8">
                <a:extLst>
                  <a:ext uri="{FF2B5EF4-FFF2-40B4-BE49-F238E27FC236}">
                    <a16:creationId xmlns:a16="http://schemas.microsoft.com/office/drawing/2014/main" id="{DF6E2DA0-1510-4C27-54FB-DF4AEE7A1655}"/>
                  </a:ext>
                </a:extLst>
              </p:cNvPr>
              <p:cNvSpPr/>
              <p:nvPr/>
            </p:nvSpPr>
            <p:spPr>
              <a:xfrm>
                <a:off x="968923" y="3344574"/>
                <a:ext cx="3593931" cy="154813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D3189B3A-DC9B-7E0E-3111-37967E2FE0C7}"/>
                  </a:ext>
                </a:extLst>
              </p:cNvPr>
              <p:cNvSpPr/>
              <p:nvPr/>
            </p:nvSpPr>
            <p:spPr>
              <a:xfrm>
                <a:off x="968923" y="3642644"/>
                <a:ext cx="3593931" cy="154813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09762F65-7E2F-68B1-6342-5E4B5190F842}"/>
                  </a:ext>
                </a:extLst>
              </p:cNvPr>
              <p:cNvSpPr/>
              <p:nvPr/>
            </p:nvSpPr>
            <p:spPr>
              <a:xfrm>
                <a:off x="968923" y="3922776"/>
                <a:ext cx="3593931" cy="446532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矩形: 圓角 19">
              <a:extLst>
                <a:ext uri="{FF2B5EF4-FFF2-40B4-BE49-F238E27FC236}">
                  <a16:creationId xmlns:a16="http://schemas.microsoft.com/office/drawing/2014/main" id="{86CE0958-00DA-CD1C-CD87-C3DB544BE279}"/>
                </a:ext>
              </a:extLst>
            </p:cNvPr>
            <p:cNvSpPr/>
            <p:nvPr/>
          </p:nvSpPr>
          <p:spPr>
            <a:xfrm>
              <a:off x="426377" y="5065550"/>
              <a:ext cx="3593931" cy="154813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259887"/>
              </p:ext>
            </p:extLst>
          </p:nvPr>
        </p:nvGraphicFramePr>
        <p:xfrm>
          <a:off x="6096000" y="678858"/>
          <a:ext cx="5000018" cy="547100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100%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50%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80%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25076</TotalTime>
  <Words>910</Words>
  <Application>Microsoft Office PowerPoint</Application>
  <PresentationFormat>寬螢幕</PresentationFormat>
  <Paragraphs>151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Arial</vt:lpstr>
      <vt:lpstr>Calibri</vt:lpstr>
      <vt:lpstr>Franklin Gothic Book</vt:lpstr>
      <vt:lpstr>Times New Roman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GRD保養程序</vt:lpstr>
      <vt:lpstr>GRD保養程序</vt:lpstr>
      <vt:lpstr>GRD保養程序</vt:lpstr>
      <vt:lpstr>GRD保養程序</vt:lpstr>
      <vt:lpstr>WSIX保養程序</vt:lpstr>
      <vt:lpstr>WSIX保養程序</vt:lpstr>
      <vt:lpstr>WSIX保養程序 (Chamber Lid)</vt:lpstr>
      <vt:lpstr>WSIX保養程序 (Lamp及水平校正)</vt:lpstr>
      <vt:lpstr>WSIX保養程序 (Check Transfer)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266</cp:revision>
  <dcterms:created xsi:type="dcterms:W3CDTF">2024-08-30T08:59:27Z</dcterms:created>
  <dcterms:modified xsi:type="dcterms:W3CDTF">2025-04-15T04:01:16Z</dcterms:modified>
</cp:coreProperties>
</file>